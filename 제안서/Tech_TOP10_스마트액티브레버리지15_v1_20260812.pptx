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14" r:id="rId19"/>
    <p:sldId id="404" r:id="rId20"/>
    <p:sldId id="405" r:id="rId21"/>
    <p:sldId id="402" r:id="rId18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Tech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2.png"/><Relationship Id="rId10" Type="http://schemas.openxmlformats.org/officeDocument/2006/relationships/image" Target="../media/image29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1. 스마트 레버리지란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2. 레버리지 ETF의 2가지 특징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3. 운용 전략과 시장 상황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4. 백테스트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5. FAQ · 투자 위험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별첨. QPMS 스마트 레버리지 설명</a:t>
            </a: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'매일'이 아니라 '평균'으로 1.5배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'평균 1.5배' 노출을 유지하면서, 오르면 팔고 내리면 사는 운용으로 기존 레버리지의 변동성 잠식을 없애는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평균 1.5배 노출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7568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레버리지는 1.5배이며, 편입비는 최소 100% ~ 최대 200% 범위에서 유지합니다. 노출이 범위 안에 있으면 매매하지 않아 레버리지의 기대수익은 그대로 가져갑니다.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오르면 매도, 내리면 매수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815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기존 레버리지 ETF는 오르면 사고 내리면 파는 일일 재조정으로 왕복 구간마다 손실이 쌓입니다. 스마트 레버리지는 반대로 상승 시 매도(이익 실현), 하락 시 매수(저가 매수)를 하여 변동성 잠식 효과를 없앱니다.</a:t>
            </a:r>
          </a:p>
        </p:txBody>
      </p:sp>
      <p:pic>
        <p:nvPicPr>
          <p:cNvPr id="8" name="Picture 7" descr="lev15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77639"/>
            <a:ext cx="8732520" cy="24827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개념 예시이며, 시뮬레이션·운용은 가정과 시장 상황에 따라 달라질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국면별 — 기존 레버리지와 무엇이 다른가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강하게 지속되는 추세장에서는 매일 배수를 유지하는 기존 레버리지가 유리합니다. 반면 변동성이 크고 출렁이며 오르는 장에서는 고가 매도·저가 매수가 작동하는 스마트 레버리지가 유리합니다 — KOSPI 실측으로 비교했습니다.</a:t>
            </a:r>
          </a:p>
        </p:txBody>
      </p:sp>
      <p:pic>
        <p:nvPicPr>
          <p:cNvPr id="4" name="Picture 3" descr="lev15_reg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2578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어느 한쪽이 항상 이기는 방식은 없습니다 — 최근처럼 변동성이 큰 시장일수록 스마트 방식의 강점이 커집니다.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KOSPI 종가지수 실측(DataGuide, ~2026.08.26) 기반 개념 시뮬레이션 · 기존 = 일간 1.5배 매일 재조정 · 스마트 = 편입비 100~200% 범위 내 운용 가정 · 거래비용 미반영 · 상기 자료는 이해를 돕기 위한 예시이며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왕복 구간 — 방향이 없어도 원금이 깎인다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매수), 내린 날 팝니다(저가 매도). 시장이 2배 갔다 제자리로 오면 순자산은 0 — 하루 +10% 후 제자리만 와도 -1.8%이며, 이 손실은 등락마다 복리로 쌓입니다.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방향이 아니라 '경로'가 성과를 결정합니다 — 왕복 구간에서는 지수가 제자리여도 손실이 쌓입니다.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수정주가 실측 (제자리 사례 2026.02.26~04.16) · '시장 2배 후 제자리 = 0'과 '하루 +10% 후 제자리 = -1.8%'는 2배 레버리지 산술 · 데이터: ETF데이터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828800"/>
            <a:ext cx="3566160" cy="3244773"/>
          </a:xfrm>
          <a:prstGeom prst="rect">
            <a:avLst/>
          </a:prstGeom>
        </p:spPr>
      </p:pic>
      <p:pic>
        <p:nvPicPr>
          <p:cNvPr id="9" name="Picture 8" descr="lev15_k200fla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1828800"/>
            <a:ext cx="3566160" cy="324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기간이 길수록 잠식은 커진다 (실측)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KOSPI200이 4년 5개월 걸려 제자리로 왔을 때 레버리지는 -27.1%  ② ***** 하이닉스 레버리지는 출시 6주 뒤 주가 보합(-1.9%)인데 -20.3%  ③ 주가 제자리(+0.3%) 왕복 5주 만에 -15.2%.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***** 200/***** 레버리지·***** SK하이닉스단일종목레버리지(2026.05.27 상장): ETF데이터 · SK하이닉스 주가: DataGuide (2026.08.14 기준) · 상기 자료는 이해를 돕기 위한 예시입니다.</a:t>
            </a:r>
          </a:p>
        </p:txBody>
      </p:sp>
      <p:pic>
        <p:nvPicPr>
          <p:cNvPr id="9" name="Picture 8" descr="lev15_long_k20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10" name="Picture 9" descr="lev15_hynix_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11" name="Picture 10" descr="lev15_hynix_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② : 추세 구간 — 복리가 단순 배수보다 유리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꾸준한 추세에서는 일별 복리가 유리하게 작동합니다 — 2026.03.31~05.29 KOSPI200 +79.5% 구간에서 단순 2배(+159%)보다 실제 레버리지는 +207%였습니다.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1737360"/>
            <a:ext cx="3931920" cy="35775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추세 구간에서는 복리가 단순 배수보다 유리합니다 — 왕복의 잠식과 추세의 복리, 두 특징 모두 '경로'의 결과입니다.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200·KODEX 레버리지 수정주가 실측 (2026.03.31~05.29) · 단순 2배 = 기초 누적수익률×2 (가상) · 참고: 2020.03~2021.01 추세 구간에서도 실제 레버리지 +344% vs 단순 2배 +234%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두 특징과 개인의 매매 습성 : 정반대로 움직인다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KODEX 레버리지 상장주식수(순증) 실증 — 오르면 팔고, 빠지면 사서 버팁니다. 지수와 주식수 증감의 월간 상관 -0.56 (지수 +2%↑ 월 주식수 평균 -13.3%, -2%↓ 월 +18.8%).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8900160" cy="36156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잠식이 쌓이는 하락·왕복장엔 끝까지 남고, 복리가 쌓이는 추세 상승장(+342%)에선 주식수 -72% — 일찍 떠났습니다.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레버리지 상장주식수·KODEX 200 수정주가 (2019.01~2026.08) · 상관은 월말 기준 월간 지수수익률 vs 상장주식수 증감률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8595360" cy="37392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" y="1737360"/>
            <a:ext cx="7406640" cy="44168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890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5.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5. 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8442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31280"/>
              </a:tblGrid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펀드명 (가칭)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 Tech TOP10 스마트 액티브 레버리지 1.5 증권투자신탁 (주식-파생형)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투자대상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관련 ETF(TIGER 반도체TOP10 등) 및 장내 파생상품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목표 노출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평균 1.5배 (일간 배수를 고정하지 않는 스마트 액티브 방식)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운용방식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규칙 기반 리밸런싱 + 운용역 판단 병행 (액티브) · QPMS Vol Trading 시스템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비교지수 (BM)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일간수익률 ×1.5 (매일 재조정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위험등급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1등급 (매우 높은 위험) — 레버리지형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미래에셋자산운용 AI금융공학운용부문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보수·판매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추후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06440"/>
            <a:ext cx="844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상기 내용은 제안 단계의 초안이며, 신탁계약·투자설명서 확정 과정에서 변경될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원금 손실 위험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이 펀드는 예금자보호법에 따라 보호되지 않으며, 투자원금 전액 손실이 발생할 수 있습니다. 투자 결과는 전부 투자자에게 귀속됩니다.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레버리지 위험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1.5배 노출로 기초지수 하락 시 손실이 지수보다 확대됩니다. 백테스트 기간 최대낙폭은 약 -69%로 매우 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08376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경로 의존(변동성 잠식) 위험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19272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배수 유지 방식은 일일 재조정 비용을 줄일 뿐, 왕복 구간에서 발생하는 레버리지 고유의 손실 구조 자체를 없애지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9624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집중투자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반도체 10종목에 집중 투자하며 삼성전자·SK하이닉스 비중이 높아, 개별기업·산업 사이클 위험에 크게 노출됩니다.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90872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파생상품·추적편차 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01768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장내 파생상품 활용에 따른 베이시스·롤오버 비용이 발생할 수 있고, 평균 1.5배 추종 특성상 단기 성과는 일간 1.5배와 다를 수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유동성·시장 위험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4301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시장 급변동 시 재조정 매매의 체결 가격이 불리할 수 있으며, 거래 부진 시 환매 대응이 지연될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08192"/>
            <a:ext cx="835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자세한 위험은 투자설명서를 반드시 확인하시기 바랍니다.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별첨 : QPMS 스마트 레버리지 설명</a:t>
            </a:r>
            <a:r>
              <a:rPr lang="ko-KR" altLang="en-US" dirty="0"/>
              <a:t/>
            </a:r>
            <a:r>
              <a:rPr lang="ko-KR" altLang="en-US" dirty="0" err="1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10276</TotalTime>
  <Words>2520</Words>
  <Application>Microsoft Office PowerPoint</Application>
  <PresentationFormat>A4 용지(210x297mm)</PresentationFormat>
  <Paragraphs>275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172</cp:revision>
  <cp:lastPrinted>2026-08-12T04:55:03Z</cp:lastPrinted>
  <dcterms:created xsi:type="dcterms:W3CDTF">2020-05-26T08:18:33Z</dcterms:created>
  <dcterms:modified xsi:type="dcterms:W3CDTF">2026-08-14T07:49:05Z</dcterms:modified>
</cp:coreProperties>
</file>