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6"/>
  </p:notesMasterIdLst>
  <p:handoutMasterIdLst>
    <p:handoutMasterId r:id="rId27"/>
  </p:handoutMasterIdLst>
  <p:sldIdLst>
    <p:sldId id="369" r:id="rId2"/>
    <p:sldId id="1073" r:id="rId3"/>
    <p:sldId id="392" r:id="rId4"/>
    <p:sldId id="1076" r:id="rId5"/>
    <p:sldId id="1090" r:id="rId6"/>
    <p:sldId id="1091" r:id="rId7"/>
    <p:sldId id="1092" r:id="rId8"/>
    <p:sldId id="1093" r:id="rId9"/>
    <p:sldId id="396" r:id="rId10"/>
    <p:sldId id="397" r:id="rId11"/>
    <p:sldId id="398" r:id="rId12"/>
    <p:sldId id="1094" r:id="rId13"/>
    <p:sldId id="412" r:id="rId14"/>
    <p:sldId id="411" r:id="rId15"/>
    <p:sldId id="399" r:id="rId16"/>
    <p:sldId id="413" r:id="rId17"/>
    <p:sldId id="414" r:id="rId19"/>
    <p:sldId id="404" r:id="rId20"/>
    <p:sldId id="405" r:id="rId21"/>
    <p:sldId id="402" r:id="rId18"/>
    <p:sldId id="390" r:id="rId22"/>
    <p:sldId id="391" r:id="rId23"/>
    <p:sldId id="368" r:id="rId24"/>
    <p:sldId id="272" r:id="rId25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308" userDrawn="1">
          <p15:clr>
            <a:srgbClr val="A4A3A4"/>
          </p15:clr>
        </p15:guide>
        <p15:guide id="7" pos="5932" userDrawn="1">
          <p15:clr>
            <a:srgbClr val="A4A3A4"/>
          </p15:clr>
        </p15:guide>
        <p15:guide id="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976" y="96"/>
      </p:cViewPr>
      <p:guideLst>
        <p:guide pos="308"/>
        <p:guide pos="5932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10" d="100"/>
          <a:sy n="110" d="100"/>
        </p:scale>
        <p:origin x="1728" y="84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0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53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E73C7-FF93-42E3-9DA7-136DBA8B1534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53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5F639-59E9-4B64-B87F-8C8C943E3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36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53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0FC40-E8E8-4274-A32B-67D049C7787A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1233488"/>
            <a:ext cx="481012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42" y="4751884"/>
            <a:ext cx="5438792" cy="3887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53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02222-9480-454D-AA47-108B6685E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84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50976" latinLnBrk="1">
              <a:defRPr/>
            </a:pPr>
            <a:fld id="{3D023879-44A4-41D3-A74B-48C3E51180A7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50976" latinLnBrk="1">
                <a:defRPr/>
              </a:pPr>
              <a:t>2</a:t>
            </a:fld>
            <a:endParaRPr lang="ko-KR" altLang="en-US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6046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23D3-04C6-567E-D5B9-79362D3D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3B067ACB-D183-C188-249F-2C4A127815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E7E5680B-84A8-7C87-2767-33A24B10EA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7F2D5E17-8554-5549-0F19-14486892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7622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779E-AC33-60A0-4B7E-7D424281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DF62C4B9-3E90-D571-0B72-DE2D8D14F0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C32E5165-B303-7B3C-02F4-5F51635491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CFF8EC97-8239-E8A4-22F3-412231BB0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09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A272-5B7D-4E7D-3BA0-BA7424CB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F6FA8FBE-539F-7771-E61A-38EBFEFA60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1E9217C-DEEE-32AE-0706-A3D4172CCE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4D9DCA3B-4710-090F-E334-2FAE9B93A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512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BDDA-6D15-6423-EDE5-54236139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8DF98D32-7595-AEFA-9FDA-FD4A3C70E4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9EB638F-664B-350B-DAE8-B9E239D225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FAEF88D3-BB36-F06A-65E8-0D1E8B058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5176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97975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8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722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2572790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8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92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794" y="1"/>
            <a:ext cx="9904413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34" name="직사각형 33"/>
          <p:cNvSpPr/>
          <p:nvPr userDrawn="1"/>
        </p:nvSpPr>
        <p:spPr>
          <a:xfrm flipV="1">
            <a:off x="794" y="946937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8605838" cy="11080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16" name="직선 연결선[R] 11"/>
          <p:cNvCxnSpPr/>
          <p:nvPr userDrawn="1"/>
        </p:nvCxnSpPr>
        <p:spPr>
          <a:xfrm>
            <a:off x="631942" y="4553991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848064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5108218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2014554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1825" y="5923846"/>
            <a:ext cx="6768000" cy="46564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9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631825" y="5610971"/>
            <a:ext cx="6768000" cy="181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※ 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본 자료는 </a:t>
            </a:r>
            <a:r>
              <a:rPr lang="ko-KR" altLang="en-US" sz="1180" b="1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판매사</a:t>
            </a:r>
            <a:r>
              <a:rPr lang="ko-KR" altLang="en-US" sz="118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180" b="1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사내한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자료로 작성되었으며 투자자에게 배포될 수 없습니다</a:t>
            </a: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 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외부 유출에 유의해 주십시오</a:t>
            </a: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lang="ko-KR" altLang="en-US" sz="1180" b="1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16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36" y="5834062"/>
            <a:ext cx="1746821" cy="475298"/>
          </a:xfrm>
          <a:prstGeom prst="rect">
            <a:avLst/>
          </a:prstGeom>
        </p:spPr>
      </p:pic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4" y="5913437"/>
            <a:ext cx="4561693" cy="63145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9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454358" y="5414729"/>
            <a:ext cx="4820011" cy="3750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05000"/>
              </a:lnSpc>
              <a:defRPr/>
            </a:pPr>
            <a:r>
              <a:rPr lang="en-US" altLang="ko-KR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※ 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본 자료는 </a:t>
            </a:r>
            <a:r>
              <a:rPr lang="ko-KR" altLang="en-US" sz="1180" b="0" spc="0" baseline="0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판매사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180" b="0" spc="0" baseline="0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사내한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자료로 작성되었으며 투자자에게 배포될 수 없습니다</a:t>
            </a:r>
            <a:r>
              <a:rPr lang="en-US" altLang="ko-KR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endParaRPr lang="en-US" altLang="ko-KR" sz="1180" b="0" spc="0" baseline="0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ko-KR" altLang="en-US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   외부 유출에 유의해 주십시오</a:t>
            </a:r>
            <a:r>
              <a:rPr lang="en-US" altLang="ko-KR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lang="ko-KR" altLang="en-US" sz="1180" b="0" spc="0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7364307" y="5945982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00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438" y="1725714"/>
            <a:ext cx="8461375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 flipV="1">
            <a:off x="0" y="1312414"/>
            <a:ext cx="9907587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939093" y="757517"/>
            <a:ext cx="13089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/>
            <a:r>
              <a:rPr lang="ko-KR" altLang="en-US" sz="3000" dirty="0">
                <a:solidFill>
                  <a:schemeClr val="accent2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목차</a:t>
            </a:r>
            <a:endParaRPr lang="ko-KR" altLang="en-US" sz="3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258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77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970" y="3143390"/>
            <a:ext cx="84600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60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493790" y="6494330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 Tech TOP10 스마트 액티브 레버리지 1.5 제안서</a:t>
            </a:r>
            <a:endParaRPr lang="en-US" altLang="ko-KR" sz="800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 defTabSz="829544" latinLnBrk="1"/>
            <a:r>
              <a:rPr lang="ko-KR" altLang="en-US" sz="1000" kern="100" dirty="0" err="1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lang="ko-KR" altLang="en-US" sz="1000" kern="100" dirty="0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lang="ko-KR" altLang="en-US" sz="1000" kern="100" dirty="0" err="1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lang="en-US" altLang="ko-KR" sz="1000" kern="100" dirty="0">
              <a:solidFill>
                <a:srgbClr val="FF000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4549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고객사 로고 추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493790" y="6494330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OOOOO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증권투자신탁 제안서 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| 00/00/0000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511901" y="426188"/>
            <a:ext cx="1058570" cy="422724"/>
          </a:xfrm>
          <a:prstGeom prst="rect">
            <a:avLst/>
          </a:prstGeom>
        </p:spPr>
      </p:pic>
      <p:pic>
        <p:nvPicPr>
          <p:cNvPr id="10" name="Picture 2" descr="C:\Users\swpae\Desktop\ScreenHunter_528 Aug. 06 09.48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065" y="446681"/>
            <a:ext cx="1149810" cy="3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0"/>
          <p:cNvCxnSpPr/>
          <p:nvPr userDrawn="1"/>
        </p:nvCxnSpPr>
        <p:spPr>
          <a:xfrm>
            <a:off x="8399201" y="506669"/>
            <a:ext cx="0" cy="301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212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8"/>
            <a:ext cx="1709186" cy="682537"/>
          </a:xfrm>
          <a:prstGeom prst="rect">
            <a:avLst/>
          </a:prstGeom>
        </p:spPr>
      </p:pic>
      <p:sp>
        <p:nvSpPr>
          <p:cNvPr id="7" name="텍스트 개체 틀 2"/>
          <p:cNvSpPr txBox="1">
            <a:spLocks/>
          </p:cNvSpPr>
          <p:nvPr userDrawn="1"/>
        </p:nvSpPr>
        <p:spPr>
          <a:xfrm>
            <a:off x="0" y="570972"/>
            <a:ext cx="9906000" cy="22217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Permanent Innovator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742950" y="2888993"/>
            <a:ext cx="84201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3000" b="0" spc="20" baseline="0" dirty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감사합니다</a:t>
            </a:r>
            <a:endParaRPr lang="en-US" sz="3000" b="0" spc="20" baseline="0" dirty="0">
              <a:solidFill>
                <a:schemeClr val="accent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130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오렌지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992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화이트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5207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32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1" r:id="rId2"/>
    <p:sldLayoutId id="2147483707" r:id="rId3"/>
    <p:sldLayoutId id="2147483712" r:id="rId4"/>
    <p:sldLayoutId id="2147483709" r:id="rId5"/>
    <p:sldLayoutId id="2147483710" r:id="rId6"/>
    <p:sldLayoutId id="2147483708" r:id="rId7"/>
    <p:sldLayoutId id="2147483691" r:id="rId8"/>
    <p:sldLayoutId id="2147483692" r:id="rId9"/>
    <p:sldLayoutId id="2147483693" r:id="rId10"/>
    <p:sldLayoutId id="2147483704" r:id="rId11"/>
    <p:sldLayoutId id="2147483695" r:id="rId12"/>
    <p:sldLayoutId id="2147483700" r:id="rId13"/>
    <p:sldLayoutId id="214748370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23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1969770"/>
          </a:xfrm>
        </p:spPr>
        <p:txBody>
          <a:bodyPr/>
          <a:lstStyle/>
          <a:p>
            <a:r>
              <a:rPr lang="ko-KR" altLang="en-US" dirty="0" err="1"/>
              <a:t>미래에셋</a:t>
            </a:r>
            <a:br>
              <a:rPr lang="en-US" altLang="ko-KR" dirty="0"/>
            </a:br>
            <a:r>
              <a:rPr lang="en-US" altLang="ko-KR" dirty="0"/>
              <a:t>Tech</a:t>
            </a:r>
            <a:r>
              <a:rPr lang="ko-KR" altLang="en-US" dirty="0"/>
              <a:t> TOP10 스마트 액티브 레버리지 1.5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>
          <a:xfrm>
            <a:off x="631825" y="2874353"/>
            <a:ext cx="5220000" cy="190821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레버리지, 비용을 알고 똑똑하게 탄다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2026.08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654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1. 스마트 레버리지란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2. 레버리지 ETF의 2가지 특징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3. 운용 전략과 시장 상황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4. 백테스트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5. FAQ · 투자 위험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별첨. QPMS 스마트 레버리지 설명</a:t>
            </a:r>
          </a:p>
        </p:txBody>
      </p:sp>
    </p:spTree>
    <p:extLst>
      <p:ext uri="{BB962C8B-B14F-4D97-AF65-F5344CB8AC3E}">
        <p14:creationId xmlns:p14="http://schemas.microsoft.com/office/powerpoint/2010/main" val="266668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1. 스마트 레버리지란 : '매일'이 아니라 '평균'으로 1.5배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'일별 수익률의 1.5배'를 매일 다시 맞추는 것이 아니라, '평균 1.5배' 노출을 유지하며 큰 변동에만 재조정하는 레버리지 운용 방식입니다.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① 평균 1.5배 노출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기준 레버리지는 1.5배. 노출이 목표 범위 안에 있으면 매매하지 않습니다 — 레버리지의 기대수익은 그대로 가져갑니다.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② 오르면 줄고, 내리면 늘어난다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노출을 그대로 두면 상승 시 레버리지율이 자연히 낮아지고(이익 확정 효과), 하락 시 높아집니다(저가 노출 확대). 이 성질을 억지로 되돌리지 않고 활용합니다.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③ 재조정 최소화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기준에서 크게 벗어날 때만 재조정합니다. 백테스트에서 일일 재조정 1,221회가 17회로 줄었습니다 (2021.08~2026.08).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레버리지의 기대수익은 지키고, 일일 재조정의 비용과 시장 영향은 덜어냅니다.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86418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35C5-898B-A1C6-B2EA-B5A52080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1. 스마트 레버리지란 : 일일 재조정의 반대편에 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일반 레버리지 ETF는 매일 장 마감에 배수를 다시 맞춥니다 — 오르면 사고 내리면 파는 추세 순응 매매입니다. 스마트 레버리지는 그 반대편에 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일일 재조정 레버리지 (일반 ETF)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시장 +10% → 노출 부족 → 고가 매수 / 시장 -10% → 노출 초과 → 저가 매도. 왕복하면 반드시 잃습니다. 변동성이 큰 날은 수천억 원이 장 마감에 같은 방향으로 나가며 시장을 흔들고, 그 비용은 투자자가 부담합니다.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스마트 레버리지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상승하면 레버리지율이 자연히 낮아지고(이익 확정 효과), 하락하면 높아집니다(저가 노출 확대). 억지로 되돌리지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큰 변동에만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평균 1.5배에서 크게 벗어날 때만 재조정합니다. 잔변동에는 반응하지 않아 비용과 시장 영향이 최소화됩니다.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오르면 줄이고, 내리면 늘린다 — 재조정의 방향을 뒤집습니다.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41039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28FD-6F1C-268E-A32D-2016F8C0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2. 레버리지 ETF의 특징 ① : 왕복 구간 — 방향이 없어도 원금이 깎인다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레버리지는 '일별 수익률의 2배(1.5배)'를 맞추려 매일 오른 날 더 사고(고가 매수), 내린 날 팝니다(저가 매도). 시장이 2배 갔다 제자리로 오면 순자산은 0 — 하루 +10% 후 제자리만 와도 -1.8%이며, 이 손실은 등락마다 복리로 쌓입니다.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28800"/>
            <a:ext cx="3566160" cy="32447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1828800"/>
            <a:ext cx="3566160" cy="3244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방향이 아니라 '경로'가 성과를 결정합니다 — 왕복 구간에서는 지수가 제자리여도 손실이 쌓입니다.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KODEX 200·KODEX 레버리지 수정주가 실측 (제자리 사례 2026.02.26~04.16) · '시장 2배 후 제자리 = 0'과 '하루 +10% 후 제자리 = -1.8%'는 2배 레버리지 산술 · 데이터: ETF데이터</a:t>
            </a:r>
          </a:p>
        </p:txBody>
      </p:sp>
    </p:spTree>
    <p:extLst>
      <p:ext uri="{BB962C8B-B14F-4D97-AF65-F5344CB8AC3E}">
        <p14:creationId xmlns:p14="http://schemas.microsoft.com/office/powerpoint/2010/main" val="400497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6DB-BD00-2D13-A567-FC70C47E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2. 레버리지 ETF의 특징 ① : 기간이 길수록 잠식은 커진다 (실측)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① KOSPI200이 4년 5개월 걸려 제자리로 왔을 때 레버리지는 -27.1%  ② KODEX 하이닉스 레버리지는 출시 6주 뒤 주가 보합(-1.9%)인데 -20.3%  ③ 주가 제자리(+0.3%) 왕복 5주 만에 -15.2%.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1783080"/>
            <a:ext cx="2942336" cy="267716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1832" y="1783080"/>
            <a:ext cx="2942336" cy="26771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2184" y="1783080"/>
            <a:ext cx="2942336" cy="2677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잠식은 '왕복'에 청구되는 요금입니다 — 기간이 길수록, 변동이 클수록 요금은 커집니다.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전 구간 실제값 (수정주가 기준) · KODEX 200/KODEX 레버리지·KODEX SK하이닉스단일종목레버리지(2026.05.27 상장): ETF데이터 · SK하이닉스 주가: DataGuide (2026.08.14 기준) · 상기 자료는 이해를 돕기 위한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07399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80EC-65FA-7881-58D8-1FF48889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2. 레버리지 ETF의 특징 ② : 추세 구간 — 복리가 단순 배수보다 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한 방향으로 꾸준한 추세에서는 일별 복리가 유리하게 작동합니다 — 2026.03.31~05.29 KOSPI200 +79.5% 구간에서 단순 2배(+159%)보다 실제 레버리지는 +207%였습니다.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040" y="1737360"/>
            <a:ext cx="3931920" cy="35775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추세 구간에서는 복리가 단순 배수보다 유리합니다 — 왕복의 잠식과 추세의 복리, 두 특징 모두 '경로'의 결과입니다.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KODEX 200·KODEX 레버리지 수정주가 실측 (2026.03.31~05.29) · 단순 2배 = 기초 누적수익률×2 (가상) · 참고: 2020.03~2021.01 추세 구간에서도 실제 레버리지 +344% vs 단순 2배 +234% · 데이터: ETF데이터</a:t>
            </a:r>
          </a:p>
        </p:txBody>
      </p:sp>
    </p:spTree>
    <p:extLst>
      <p:ext uri="{BB962C8B-B14F-4D97-AF65-F5344CB8AC3E}">
        <p14:creationId xmlns:p14="http://schemas.microsoft.com/office/powerpoint/2010/main" val="93777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76C0-F1F2-664B-C27D-A6478945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2. 두 특징과 개인의 매매 습성 : 정반대로 움직인다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KODEX 레버리지 상장주식수(순증) 실증 — 오르면 팔고, 빠지면 사서 버팁니다. 지수와 주식수 증감의 월간 상관 -0.56 (지수 +2%↑ 월 주식수 평균 -13.3%, -2%↓ 월 +18.8%).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8900160" cy="36156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잠식이 쌓이는 하락·왕복장엔 끝까지 남고, 복리가 쌓이는 추세 상승장(+342%)에선 주식수 -72% — 일찍 떠났습니다.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KODEX 레버리지 상장주식수·KODEX 200 수정주가 (2019.01~2026.08) · 상관은 월말 기준 월간 지수수익률 vs 상장주식수 증감률 · 데이터: ETF데이터 · 상기 자료는 이해를 돕기 위한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3623575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B906-8088-40A7-C6D7-1005F09D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3. 운용 전략 : 평균 1.5배 스마트 액티브 — 3원칙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일간 1.5배가 아니라 '평균적으로 1.5배'를 추종합니다. 재조정의 시점과 폭은 규칙과 운용역 판단을 병행하는 액티브 방식입니다.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원칙 1 — 평균 1.5배 추종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기준 레버리지 1.5배. 노출이 목표 범위 안에 있으면 매매하지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원칙 2 — 상승 시 축소, 하락 시 확대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시장이 오르면 레버리지율을 낮게(이익 확정), 내리면 높게(저가 노출) 가져갑니다. 시장 전망 베팅은 하지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원칙 3 — 큰 변동에만 재조정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기준에서 크게 벗어난 경우에만 되돌립니다. 백테스트 기준 재조정은 연 3~4회 수준으로, 매일 재조정 대비 비용·시장영향이 크게 줄어듭니다.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액티브 운용: 재조정의 시점·폭·극단 국면 대응은 운용역이 판단합니다.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222140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424D7-8718-3D4B-EE96-83157F61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3. 운용 전략 : 레버리지율은 이렇게 움직입니다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오르면 자연히 낮아지고, 내리면 높아지며, 범위를 벗어날 때만 기준으로 되돌립니다 (시뮬레이션).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8229600" cy="2454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07548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C155-747A-4C0C-2B29-F98D91C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3. 시장 상황 : 역대급 반도체 변동성 — 재조정 비용이 가장 비싼 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변동성이 클수록 일일 재조정 매매의 규모와 왕복 손실이 커집니다. 지금이 스마트 방식의 가치가 가장 큰 국면입니다.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8595360" cy="37392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186417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C155-747A-4C0C-2B29-F98D91C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3. 시장 상황 : 왜 반도체 TOP10인가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국내 IT의 핵심 — 삼성전자·SK하이닉스를 포함한 반도체 대표 10종목으로 구성된 지수입니다.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대표성과 유동성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기초 ETF(TIGER 반도체TOP10)의 순자산은 약 8.9조 원으로 국내 최대급 — 추적과 매매가 용이합니다.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AI 사이클의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HBM·파운드리 중심의 실적 사이클로 높은 성장성과 높은 변동성이 공존합니다.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레버리지 수요가 가장 큰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반도체는 레버리지 상품 수요가 가장 큰 섹터 — 그만큼 일일 재조정 비용 문제도 가장 큽니다. 스마트 방식의 효용이 가장 큰 자리입니다.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1864171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9BCE-15B9-D3A1-0A56-0BBBBC9C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4. 백테스트 : BM 수준의 수익, 1/70의 재조정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2021.08~2026.08 실측 — 매일 재조정 BM과 대등한 성과(+329% vs +327%)를 재조정 17회(BM 1,221회)로 달성했습니다.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737360"/>
            <a:ext cx="7406640" cy="4416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기초=TIGER 반도체TOP10 NAV · BM=기초 일간수익률×1.5(매일 재조정 가정) · 매수 5bp/매도 30bp·차입 연 2.5% 반영 · 시뮬레이션이며 실제 성과와 다를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665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9BCE-15B9-D3A1-0A56-0BBBBC9C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4. 백테스트 : 국면별 — 모든 국면에서 BM과 대등하거나 앞선다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하락·왕복·급등·급락 각 국면을 시작일 신규 설정으로 시뮬레이션한 결과입니다.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2212848" cy="17048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783080"/>
            <a:ext cx="2212848" cy="17048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1783080"/>
            <a:ext cx="2212848" cy="170489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3" y="1783080"/>
            <a:ext cx="2212848" cy="17048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2665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3E7B-3148-3FF1-5723-56D45539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4. 백테스트 :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레버리지의 기대수익은 지키고, 일일 재조정의 비용과 시장 영향은 덜어냈습니다.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8229600" cy="3160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같은 노출, 같은 수익 — 재조정 매매는 1,221회에서 17회로.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702062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DA39-49D6-9479-6D0B-422E29FA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457200"/>
            <a:ext cx="890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222222"/>
                </a:solidFill>
                <a:latin typeface="KoPub돋움체_Pro Bold"/>
              </a:rPr>
              <a:t>5.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62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레버리지인데 왜 매일 1.5배를 맞추지 않나요?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222222"/>
                </a:solidFill>
              </a:rPr>
              <a:t>A. 매일 배수를 다시 맞추는 일일 재조정이 변동성 잠식과 비용의 원인이기 때문입니다. 평균적으로 1.5배 노출을 유지하면 기대수익은 같으면서, 왕복장에서 잃는 재조정 매매를 피할 수 있습니다. 백테스트에서 매일 재조정 BM과 대등한 수익(+329% vs +327%)을 재조정 17회로 달성했습니다.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12264"/>
            <a:ext cx="862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상승장에서 덜 벌지 않나요?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222222"/>
                </a:solidFill>
              </a:rPr>
              <a:t>A. 급등 구간 시뮬레이션(2025.6~2026.6)에서 +944% vs BM +976%로 대등했습니다. 상승 시 레버리지율이 소폭 낮아지지만, 재조정 비용 절감이 이를 상당 부분 상쇄합니다.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81528"/>
            <a:ext cx="862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하락하면 더 위험한 것 아닌가요?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222222"/>
                </a:solidFill>
              </a:rPr>
              <a:t>A. 레버리지 상품의 본질적 낙폭(백테스트 MDD 약 -69%)은 존재합니다. 다만 하락 시 저가에 파는 재조정 매도를 하지 않아 반등 탄력이 크고, 백테스트 낙폭은 BM보다 소폭 얕았습니다. 원금 손실 위험이 큰 상품입니다.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50791"/>
            <a:ext cx="862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액티브는 무엇을 판단하나요?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222222"/>
                </a:solidFill>
              </a:rPr>
              <a:t>A. 재조정의 시점·폭, 허용 범위의 운영, 극단적 국면의 대응을 운용역이 판단합니다. 시장 방향에 대한 베팅은 하지 않으며, '상승 시 축소·하락 시 확대'라는 원칙은 유지됩니다.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0056"/>
            <a:ext cx="862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왜 지금인가요?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222222"/>
                </a:solidFill>
              </a:rPr>
              <a:t>A. 반도체 TOP10 실현변동성이 117%로 역대 최고 수준입니다. 변동성이 클수록 일일 재조정의 비용과 시장 영향이 커지므로, 그 비용을 아끼는 스마트 방식의 가치가 가장 큰 시기입니다.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시뮬레이션·백테스트는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230802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FEF7-5F24-6FAB-31FA-F718D167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5. 투자 위험 : 레버리지 상품의 본질적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스마트 방식은 '비용'을 줄일 뿐, 레버리지의 방향 위험 자체를 없애지 않습니다.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높은 변동성과 깊은 낙폭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백테스트 기간 최대낙폭 -69%, 연환산 변동성 65% 수준 — 기초(1배) 대비 크게 확대됩니다. 감내 가능한 투자자에게 적합합니다.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하락 확대의 양면성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하락 시 레버리지율이 높아져 반등 탄력이 커지지만, 하락이 지속되면 손실 폭도 커집니다.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추적 편차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평균 1.5배 추종 특성상 단기적으로는 일간 1.5배와 성과가 다를 수 있습니다 — 이는 의도된 설계입니다.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4239422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EFF8-B96D-0D12-6AA0-11FD3E3A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363253B-471B-FBC1-1874-3747DAC1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펀드 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8442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31280"/>
              </a:tblGrid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펀드명 (가칭)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미래에셋 Tech TOP10 스마트 액티브 레버리지 1.5 증권투자신탁 (주식-파생형)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투자대상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반도체 TOP10 지수 관련 ETF(TIGER 반도체TOP10 등) 및 장내 파생상품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목표 노출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평균 1.5배 (일간 배수를 고정하지 않는 스마트 액티브 방식)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운용방식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규칙 기반 리밸런싱 + 운용역 판단 병행 (액티브) · QPMS Vol Trading 시스템 활용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비교지수 (BM)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반도체 TOP10 지수 일간수익률 ×1.5 (매일 재조정 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위험등급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1등급 (매우 높은 위험) — 레버리지형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운용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미래에셋자산운용 AI금융공학운용부문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KoPub돋움체_Pro Bold"/>
                        </a:rPr>
                        <a:t>보수·판매</a:t>
                      </a:r>
                    </a:p>
                  </a:txBody>
                  <a:tcPr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KoPub돋움체_Pro Medium"/>
                        </a:rPr>
                        <a:t>추후 확정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06440"/>
            <a:ext cx="844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00" b="0">
                <a:solidFill>
                  <a:srgbClr val="84888B"/>
                </a:solidFill>
                <a:latin typeface="KoPub돋움체_Pro Medium"/>
              </a:rPr>
              <a:t>※ 상기 내용은 제안 단계의 초안이며, 신탁계약·투자설명서 확정 과정에서 변경될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27095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00C5-570E-99B4-33E3-1B39CB62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8281EFB-27A1-CEC7-70DF-46BC4959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투자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835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43B72"/>
                </a:solidFill>
                <a:latin typeface="KoPub돋움체_Pro Bold"/>
              </a:rPr>
              <a:t>원금 손실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36776"/>
            <a:ext cx="835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222222"/>
                </a:solidFill>
              </a:rPr>
              <a:t>이 펀드는 예금자보호법에 따라 보호되지 않으며, 투자원금 전액 손실이 발생할 수 있습니다. 투자 결과는 전부 투자자에게 귀속됩니다.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835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43B72"/>
                </a:solidFill>
                <a:latin typeface="KoPub돋움체_Pro Bold"/>
              </a:rPr>
              <a:t>레버리지 위험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835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222222"/>
                </a:solidFill>
              </a:rPr>
              <a:t>평균 1.5배 노출로 기초지수 하락 시 손실이 지수보다 확대됩니다. 백테스트 기간 최대낙폭은 약 -69%로 매우 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08376"/>
            <a:ext cx="835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43B72"/>
                </a:solidFill>
                <a:latin typeface="KoPub돋움체_Pro Bold"/>
              </a:rPr>
              <a:t>경로 의존(변동성 잠식) 위험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9272"/>
            <a:ext cx="835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222222"/>
                </a:solidFill>
              </a:rPr>
              <a:t>평균 배수 유지 방식은 일일 재조정 비용을 줄일 뿐, 왕복 구간에서 발생하는 레버리지 고유의 손실 구조 자체를 없애지 못합니다.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9624"/>
            <a:ext cx="835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43B72"/>
                </a:solidFill>
                <a:latin typeface="KoPub돋움체_Pro Bold"/>
              </a:rPr>
              <a:t>집중투자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835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222222"/>
                </a:solidFill>
              </a:rPr>
              <a:t>반도체 10종목에 집중 투자하며 삼성전자·SK하이닉스 비중이 높아, 개별기업·산업 사이클 위험에 크게 노출됩니다.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90872"/>
            <a:ext cx="835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43B72"/>
                </a:solidFill>
                <a:latin typeface="KoPub돋움체_Pro Bold"/>
              </a:rPr>
              <a:t>파생상품·추적편차 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01768"/>
            <a:ext cx="835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222222"/>
                </a:solidFill>
              </a:rPr>
              <a:t>장내 파생상품 활용에 따른 베이시스·롤오버 비용이 발생할 수 있고, 평균 1.5배 추종 특성상 단기 성과는 일간 1.5배와 다를 수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835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43B72"/>
                </a:solidFill>
                <a:latin typeface="KoPub돋움체_Pro Bold"/>
              </a:rPr>
              <a:t>유동성·시장 위험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43016"/>
            <a:ext cx="835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222222"/>
                </a:solidFill>
              </a:rPr>
              <a:t>시장 급변동 시 재조정 매매의 체결 가격이 불리할 수 있으며, 거래 부진 시 환매 대응이 지연될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08192"/>
            <a:ext cx="835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00" b="0">
                <a:solidFill>
                  <a:srgbClr val="84888B"/>
                </a:solidFill>
                <a:latin typeface="KoPub돋움체_Pro Medium"/>
              </a:rPr>
              <a:t>※ 자세한 위험은 투자설명서를 반드시 확인하시기 바랍니다.</a:t>
            </a:r>
          </a:p>
        </p:txBody>
      </p:sp>
    </p:spTree>
    <p:extLst>
      <p:ext uri="{BB962C8B-B14F-4D97-AF65-F5344CB8AC3E}">
        <p14:creationId xmlns:p14="http://schemas.microsoft.com/office/powerpoint/2010/main" val="3511596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5A83-30EB-57C6-31C3-80842B98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6070FC6-C774-CBCE-A319-282682D3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96" y="1585298"/>
            <a:ext cx="4359104" cy="36874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5B0075E-6583-64A4-8DD3-433C49A6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별첨 : QPMS 스마트 레버리지 설명</a:t>
            </a:r>
            <a:r>
              <a:rPr lang="ko-KR" altLang="en-US" dirty="0"/>
              <a:t/>
            </a:r>
            <a:r>
              <a:rPr lang="ko-KR" altLang="en-US" dirty="0" err="1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endParaRPr lang="ko-KR" altLang="en-US"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EF40496F-426C-7D1E-9982-858815FDEAE2}"/>
              </a:ext>
            </a:extLst>
          </p:cNvPr>
          <p:cNvSpPr/>
          <p:nvPr/>
        </p:nvSpPr>
        <p:spPr>
          <a:xfrm>
            <a:off x="6244683" y="2105028"/>
            <a:ext cx="3402238" cy="3472812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dirty="0">
              <a:solidFill>
                <a:srgbClr val="F58220"/>
              </a:solidFill>
              <a:latin typeface="KoPub돋움체_Pro Bold"/>
              <a:ea typeface="KoPub돋움체_Pro Bold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일별 </a:t>
            </a: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리밸런싱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실시간으로 목표 편입비를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재산출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자의적 판단 배제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규칙대로 집행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일별 종가기준 목표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매칭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저가매수·고가매도 규칙  하락 시 레버리지율 확대, 상승 시 축소를 허용합니다.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 </a:t>
            </a:r>
            <a:endParaRPr lang="en-US"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재조정 최소화 규칙  기준 범위를 벗어난 큰 변동에만 재조정해 비용과 시장 영향을 최소화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F2337-45A9-8980-CA45-0D6F09C9C012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규칙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기반의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리밸런싱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로직을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1350" b="1" i="0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시스템에서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연산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23679FB-5598-84D4-B602-8DFBC9D01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86" y="2150232"/>
            <a:ext cx="4694664" cy="34728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249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1.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투자철학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및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운용전략</a:t>
            </a:r>
            <a:endParaRPr lang="en-US" altLang="ko-KR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marL="216000"/>
            <a:r>
              <a:rPr lang="en-US" altLang="ko-KR" dirty="0"/>
              <a:t>1) </a:t>
            </a:r>
            <a:r>
              <a:rPr lang="ko-KR" altLang="en-US" dirty="0" err="1"/>
              <a:t>투자철학</a:t>
            </a:r>
            <a:r>
              <a:rPr lang="ko-KR" altLang="en-US" dirty="0"/>
              <a:t> 및 목적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운용프로세스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916659" y="1890853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FEF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5015055" y="3830682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F7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916659" y="3830682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E5EB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5015055" y="1890853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E5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 38"/>
          <p:cNvSpPr/>
          <p:nvPr/>
        </p:nvSpPr>
        <p:spPr>
          <a:xfrm>
            <a:off x="4877998" y="3696430"/>
            <a:ext cx="138741" cy="138741"/>
          </a:xfrm>
          <a:custGeom>
            <a:avLst/>
            <a:gdLst>
              <a:gd name="connsiteX0" fmla="*/ 0 w 138741"/>
              <a:gd name="connsiteY0" fmla="*/ 0 h 138741"/>
              <a:gd name="connsiteX1" fmla="*/ 138741 w 138741"/>
              <a:gd name="connsiteY1" fmla="*/ 0 h 138741"/>
              <a:gd name="connsiteX2" fmla="*/ 138741 w 138741"/>
              <a:gd name="connsiteY2" fmla="*/ 138741 h 138741"/>
              <a:gd name="connsiteX3" fmla="*/ 0 w 138741"/>
              <a:gd name="connsiteY3" fmla="*/ 138741 h 138741"/>
              <a:gd name="connsiteX4" fmla="*/ 0 w 138741"/>
              <a:gd name="connsiteY4" fmla="*/ 0 h 138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741" h="138741">
                <a:moveTo>
                  <a:pt x="0" y="0"/>
                </a:moveTo>
                <a:lnTo>
                  <a:pt x="138741" y="0"/>
                </a:lnTo>
                <a:lnTo>
                  <a:pt x="138741" y="138741"/>
                </a:lnTo>
                <a:lnTo>
                  <a:pt x="0" y="1387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812239" y="2628401"/>
            <a:ext cx="2268000" cy="2268000"/>
            <a:chOff x="3808497" y="2588829"/>
            <a:chExt cx="2277741" cy="2277741"/>
          </a:xfrm>
        </p:grpSpPr>
        <p:sp>
          <p:nvSpPr>
            <p:cNvPr id="46" name="자유형 45"/>
            <p:cNvSpPr/>
            <p:nvPr/>
          </p:nvSpPr>
          <p:spPr>
            <a:xfrm>
              <a:off x="3808497" y="2588829"/>
              <a:ext cx="1069501" cy="1069501"/>
            </a:xfrm>
            <a:custGeom>
              <a:avLst/>
              <a:gdLst>
                <a:gd name="connsiteX0" fmla="*/ 1069501 w 1069501"/>
                <a:gd name="connsiteY0" fmla="*/ 0 h 1069501"/>
                <a:gd name="connsiteX1" fmla="*/ 1069501 w 1069501"/>
                <a:gd name="connsiteY1" fmla="*/ 1069501 h 1069501"/>
                <a:gd name="connsiteX2" fmla="*/ 0 w 1069501"/>
                <a:gd name="connsiteY2" fmla="*/ 1069501 h 1069501"/>
                <a:gd name="connsiteX3" fmla="*/ 2395 w 1069501"/>
                <a:gd name="connsiteY3" fmla="*/ 1022070 h 1069501"/>
                <a:gd name="connsiteX4" fmla="*/ 1022070 w 1069501"/>
                <a:gd name="connsiteY4" fmla="*/ 2395 h 1069501"/>
                <a:gd name="connsiteX5" fmla="*/ 1069501 w 1069501"/>
                <a:gd name="connsiteY5" fmla="*/ 0 h 106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1" h="1069501">
                  <a:moveTo>
                    <a:pt x="1069501" y="0"/>
                  </a:moveTo>
                  <a:lnTo>
                    <a:pt x="1069501" y="1069501"/>
                  </a:lnTo>
                  <a:lnTo>
                    <a:pt x="0" y="1069501"/>
                  </a:lnTo>
                  <a:lnTo>
                    <a:pt x="2395" y="1022070"/>
                  </a:lnTo>
                  <a:cubicBezTo>
                    <a:pt x="56996" y="484424"/>
                    <a:pt x="484424" y="56996"/>
                    <a:pt x="1022070" y="2395"/>
                  </a:cubicBezTo>
                  <a:lnTo>
                    <a:pt x="10695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44" name="자유형 43"/>
            <p:cNvSpPr/>
            <p:nvPr/>
          </p:nvSpPr>
          <p:spPr>
            <a:xfrm>
              <a:off x="5016738" y="2588829"/>
              <a:ext cx="1069500" cy="1069501"/>
            </a:xfrm>
            <a:custGeom>
              <a:avLst/>
              <a:gdLst>
                <a:gd name="connsiteX0" fmla="*/ 0 w 1069500"/>
                <a:gd name="connsiteY0" fmla="*/ 0 h 1069501"/>
                <a:gd name="connsiteX1" fmla="*/ 47430 w 1069500"/>
                <a:gd name="connsiteY1" fmla="*/ 2395 h 1069501"/>
                <a:gd name="connsiteX2" fmla="*/ 1067105 w 1069500"/>
                <a:gd name="connsiteY2" fmla="*/ 1022070 h 1069501"/>
                <a:gd name="connsiteX3" fmla="*/ 1069500 w 1069500"/>
                <a:gd name="connsiteY3" fmla="*/ 1069501 h 1069501"/>
                <a:gd name="connsiteX4" fmla="*/ 0 w 1069500"/>
                <a:gd name="connsiteY4" fmla="*/ 1069501 h 1069501"/>
                <a:gd name="connsiteX5" fmla="*/ 0 w 1069500"/>
                <a:gd name="connsiteY5" fmla="*/ 0 h 106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0" h="1069501">
                  <a:moveTo>
                    <a:pt x="0" y="0"/>
                  </a:moveTo>
                  <a:lnTo>
                    <a:pt x="47430" y="2395"/>
                  </a:lnTo>
                  <a:cubicBezTo>
                    <a:pt x="585076" y="56996"/>
                    <a:pt x="1012504" y="484424"/>
                    <a:pt x="1067105" y="1022070"/>
                  </a:cubicBezTo>
                  <a:lnTo>
                    <a:pt x="1069500" y="1069501"/>
                  </a:lnTo>
                  <a:lnTo>
                    <a:pt x="0" y="1069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36" name="자유형 35"/>
            <p:cNvSpPr/>
            <p:nvPr/>
          </p:nvSpPr>
          <p:spPr>
            <a:xfrm>
              <a:off x="3808497" y="3797070"/>
              <a:ext cx="1069501" cy="1069500"/>
            </a:xfrm>
            <a:custGeom>
              <a:avLst/>
              <a:gdLst>
                <a:gd name="connsiteX0" fmla="*/ 0 w 1069501"/>
                <a:gd name="connsiteY0" fmla="*/ 0 h 1069500"/>
                <a:gd name="connsiteX1" fmla="*/ 1069501 w 1069501"/>
                <a:gd name="connsiteY1" fmla="*/ 0 h 1069500"/>
                <a:gd name="connsiteX2" fmla="*/ 1069501 w 1069501"/>
                <a:gd name="connsiteY2" fmla="*/ 1069500 h 1069500"/>
                <a:gd name="connsiteX3" fmla="*/ 1022070 w 1069501"/>
                <a:gd name="connsiteY3" fmla="*/ 1067105 h 1069500"/>
                <a:gd name="connsiteX4" fmla="*/ 2395 w 1069501"/>
                <a:gd name="connsiteY4" fmla="*/ 47430 h 1069500"/>
                <a:gd name="connsiteX5" fmla="*/ 0 w 1069501"/>
                <a:gd name="connsiteY5" fmla="*/ 0 h 106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1" h="1069500">
                  <a:moveTo>
                    <a:pt x="0" y="0"/>
                  </a:moveTo>
                  <a:lnTo>
                    <a:pt x="1069501" y="0"/>
                  </a:lnTo>
                  <a:lnTo>
                    <a:pt x="1069501" y="1069500"/>
                  </a:lnTo>
                  <a:lnTo>
                    <a:pt x="1022070" y="1067105"/>
                  </a:lnTo>
                  <a:cubicBezTo>
                    <a:pt x="484424" y="1012504"/>
                    <a:pt x="56996" y="585076"/>
                    <a:pt x="2395" y="474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35" name="자유형 34"/>
            <p:cNvSpPr/>
            <p:nvPr/>
          </p:nvSpPr>
          <p:spPr>
            <a:xfrm>
              <a:off x="5016738" y="3797070"/>
              <a:ext cx="1069500" cy="1069500"/>
            </a:xfrm>
            <a:custGeom>
              <a:avLst/>
              <a:gdLst>
                <a:gd name="connsiteX0" fmla="*/ 0 w 1069500"/>
                <a:gd name="connsiteY0" fmla="*/ 0 h 1069500"/>
                <a:gd name="connsiteX1" fmla="*/ 1069500 w 1069500"/>
                <a:gd name="connsiteY1" fmla="*/ 0 h 1069500"/>
                <a:gd name="connsiteX2" fmla="*/ 1067105 w 1069500"/>
                <a:gd name="connsiteY2" fmla="*/ 47430 h 1069500"/>
                <a:gd name="connsiteX3" fmla="*/ 47430 w 1069500"/>
                <a:gd name="connsiteY3" fmla="*/ 1067105 h 1069500"/>
                <a:gd name="connsiteX4" fmla="*/ 0 w 1069500"/>
                <a:gd name="connsiteY4" fmla="*/ 1069500 h 1069500"/>
                <a:gd name="connsiteX5" fmla="*/ 0 w 1069500"/>
                <a:gd name="connsiteY5" fmla="*/ 0 h 106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0" h="1069500">
                  <a:moveTo>
                    <a:pt x="0" y="0"/>
                  </a:moveTo>
                  <a:lnTo>
                    <a:pt x="1069500" y="0"/>
                  </a:lnTo>
                  <a:lnTo>
                    <a:pt x="1067105" y="47430"/>
                  </a:lnTo>
                  <a:cubicBezTo>
                    <a:pt x="1012504" y="585076"/>
                    <a:pt x="585076" y="1012504"/>
                    <a:pt x="47430" y="1067105"/>
                  </a:cubicBezTo>
                  <a:lnTo>
                    <a:pt x="0" y="1069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2189868" y="2838963"/>
            <a:ext cx="1413849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경쟁력의</a:t>
            </a:r>
            <a:r>
              <a:rPr lang="en-US" altLang="ko-KR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관점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에서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투자기업을</a:t>
            </a:r>
            <a:r>
              <a:rPr lang="en-US" altLang="ko-KR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봅니다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189868" y="3978737"/>
            <a:ext cx="1413849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장기적인</a:t>
            </a:r>
            <a:r>
              <a:rPr lang="en-US" altLang="ko-KR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관점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에서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투자합니다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280133" y="2838963"/>
            <a:ext cx="1673535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기대수익</a:t>
            </a: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과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함께</a:t>
            </a:r>
            <a:r>
              <a:rPr lang="en-US" altLang="ko-KR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위험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을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살핍니다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280133" y="3978737"/>
            <a:ext cx="2426946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팀 어프로치</a:t>
            </a:r>
            <a:r>
              <a:rPr lang="en-US" altLang="ko-KR" sz="11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(team-approach)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 의해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신중하게 </a:t>
            </a: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의사결정합니다</a:t>
            </a:r>
            <a:endParaRPr lang="ko-KR" altLang="en-US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830097" y="5743395"/>
            <a:ext cx="2245807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이상의 원칙을 일관성 있게 지킵니다</a:t>
            </a:r>
            <a:r>
              <a:rPr lang="en-US" altLang="ko-KR" sz="1200" dirty="0">
                <a:solidFill>
                  <a:schemeClr val="accent2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.</a:t>
            </a:r>
            <a:endParaRPr lang="ko-KR" altLang="en-US" sz="1200" dirty="0">
              <a:solidFill>
                <a:schemeClr val="accent2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100239" y="2916401"/>
            <a:ext cx="1692000" cy="1692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sx="110000" sy="110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66" y="3428156"/>
            <a:ext cx="1413782" cy="565287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5328392" y="4917860"/>
            <a:ext cx="3480120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미래에셋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글로벌 및 자산간 리서치를 활용한 운용 프로세스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당사 글로벌 네트워크 기반의 차별화된 리서치로 신중한 투자 의사결정 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 </a:t>
            </a: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리서치가 차별화된 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MP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를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제시하고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, </a:t>
            </a:r>
            <a:r>
              <a:rPr lang="ko-KR" altLang="en-US" sz="900" spc="-2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운용역이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일정수준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복제하는 프로세스</a:t>
            </a:r>
            <a:endParaRPr lang="en-US" altLang="ko-KR" sz="900" spc="-2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225492" y="4917860"/>
            <a:ext cx="2689839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경쟁력 있는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우량자산에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장기투자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높은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우량자산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선정확률을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기반으로 장기투자를 지향 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5328392" y="2066952"/>
            <a:ext cx="3004027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체계적인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리스크관리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프로세스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운용전략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및 운용프로세스 점검을 통해 적정성 및 개선방안 검토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투자자산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개별기업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하위펀드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등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의 체계적인 점검 프로세스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1225492" y="2066952"/>
            <a:ext cx="3097002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미래에셋의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투자철학</a:t>
            </a:r>
            <a:r>
              <a:rPr lang="en-US" altLang="ko-KR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차별화된 경쟁력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리서치 기반의 경쟁력 있는 투자자산 발굴 및 제안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투자자산의 경쟁력을 정량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정성 평가하여 투자 의사결정에 반영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983184" y="1589039"/>
            <a:ext cx="1939635" cy="200055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accent2"/>
                </a:solidFill>
                <a:latin typeface="+mj-ea"/>
                <a:ea typeface="+mj-ea"/>
              </a:rPr>
              <a:t>&lt;</a:t>
            </a:r>
            <a:r>
              <a:rPr lang="ko-KR" altLang="en-US" sz="1300" dirty="0" err="1">
                <a:solidFill>
                  <a:schemeClr val="accent2"/>
                </a:solidFill>
                <a:latin typeface="+mj-ea"/>
                <a:ea typeface="+mj-ea"/>
              </a:rPr>
              <a:t>미래에셋자산운용</a:t>
            </a:r>
            <a:r>
              <a:rPr lang="ko-KR" altLang="en-US" sz="1300" dirty="0">
                <a:solidFill>
                  <a:schemeClr val="accent2"/>
                </a:solidFill>
                <a:latin typeface="+mj-ea"/>
                <a:ea typeface="+mj-ea"/>
              </a:rPr>
              <a:t> 투자원칙</a:t>
            </a:r>
            <a:r>
              <a:rPr lang="en-US" altLang="ko-KR" sz="1300" dirty="0">
                <a:solidFill>
                  <a:schemeClr val="accent2"/>
                </a:solidFill>
                <a:latin typeface="+mj-ea"/>
                <a:ea typeface="+mj-ea"/>
              </a:rPr>
              <a:t>&gt;</a:t>
            </a:r>
            <a:endParaRPr lang="ko-KR" altLang="en-US" sz="13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167219" y="2986144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endParaRPr lang="ko-KR" altLang="en-US" sz="1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626795" y="2986144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165631" y="4328470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610127" y="4328470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78056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직선 연결선 98"/>
          <p:cNvCxnSpPr/>
          <p:nvPr/>
        </p:nvCxnSpPr>
        <p:spPr>
          <a:xfrm flipH="1">
            <a:off x="2729225" y="3153359"/>
            <a:ext cx="6021" cy="23966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 flipH="1">
            <a:off x="4188031" y="3153359"/>
            <a:ext cx="1" cy="13951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H="1">
            <a:off x="5663268" y="3153359"/>
            <a:ext cx="1" cy="1896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 flipH="1">
            <a:off x="8577098" y="3153359"/>
            <a:ext cx="1" cy="13951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H="1">
            <a:off x="7119454" y="3153359"/>
            <a:ext cx="1" cy="1896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H="1">
            <a:off x="1256098" y="3153359"/>
            <a:ext cx="6021" cy="23966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1. 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전체 조직도</a:t>
            </a:r>
            <a:endParaRPr lang="en-US" altLang="ko-KR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err="1"/>
              <a:t>운용조직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 txBox="1">
            <a:spLocks/>
          </p:cNvSpPr>
          <p:nvPr/>
        </p:nvSpPr>
        <p:spPr>
          <a:xfrm>
            <a:off x="369416" y="1475788"/>
            <a:ext cx="8915400" cy="51668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dirty="0"/>
              <a:t>    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729BBA9-AB58-EA41-8107-328105F7951E}"/>
              </a:ext>
            </a:extLst>
          </p:cNvPr>
          <p:cNvSpPr txBox="1">
            <a:spLocks/>
          </p:cNvSpPr>
          <p:nvPr/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kern="1200">
                <a:solidFill>
                  <a:srgbClr val="3C3C3B"/>
                </a:solidFill>
                <a:latin typeface="+mn-ea"/>
                <a:ea typeface="+mn-ea"/>
                <a:cs typeface="KoPub돋움체_Pro Medium"/>
              </a:defRPr>
            </a:lvl1pPr>
            <a:lvl2pPr marL="457200" indent="0" algn="l" defTabSz="4572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457200" rtl="0" eaLnBrk="1" latinLnBrk="1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457200" rtl="0" eaLnBrk="1" latinLnBrk="1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457200" rtl="0" eaLnBrk="1" latinLnBrk="1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20"/>
              </a:lnSpc>
              <a:spcBef>
                <a:spcPts val="660"/>
              </a:spcBef>
            </a:pPr>
            <a:endParaRPr kumimoji="1" lang="en-US" altLang="ko-KR" dirty="0"/>
          </a:p>
          <a:p>
            <a:pPr>
              <a:lnSpc>
                <a:spcPts val="1320"/>
              </a:lnSpc>
              <a:spcBef>
                <a:spcPts val="660"/>
              </a:spcBef>
            </a:pPr>
            <a:endParaRPr kumimoji="1" lang="en-US" altLang="ko-KR" dirty="0"/>
          </a:p>
          <a:p>
            <a:pPr>
              <a:lnSpc>
                <a:spcPts val="1320"/>
              </a:lnSpc>
              <a:spcBef>
                <a:spcPts val="660"/>
              </a:spcBef>
            </a:pPr>
            <a:r>
              <a:rPr kumimoji="1" lang="en-US" altLang="ko-KR" dirty="0">
                <a:solidFill>
                  <a:schemeClr val="tx1"/>
                </a:solidFill>
              </a:rPr>
              <a:t>   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 txBox="1">
            <a:spLocks/>
          </p:cNvSpPr>
          <p:nvPr/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dirty="0"/>
              <a:t>    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</p:txBody>
      </p:sp>
      <p:cxnSp>
        <p:nvCxnSpPr>
          <p:cNvPr id="20" name="직선 연결선 19"/>
          <p:cNvCxnSpPr/>
          <p:nvPr/>
        </p:nvCxnSpPr>
        <p:spPr>
          <a:xfrm flipH="1">
            <a:off x="1268798" y="2314528"/>
            <a:ext cx="1771" cy="398574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924719" y="1906466"/>
            <a:ext cx="0" cy="1065794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1" idx="3"/>
            <a:endCxn id="29" idx="1"/>
          </p:cNvCxnSpPr>
          <p:nvPr/>
        </p:nvCxnSpPr>
        <p:spPr>
          <a:xfrm>
            <a:off x="5552948" y="1771870"/>
            <a:ext cx="2394150" cy="0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84" idx="3"/>
            <a:endCxn id="30" idx="1"/>
          </p:cNvCxnSpPr>
          <p:nvPr/>
        </p:nvCxnSpPr>
        <p:spPr>
          <a:xfrm>
            <a:off x="1898798" y="2218032"/>
            <a:ext cx="6048300" cy="0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2732229" y="2972260"/>
            <a:ext cx="4389010" cy="134060"/>
            <a:chOff x="2760510" y="2859638"/>
            <a:chExt cx="4389010" cy="137346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276051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>
              <a:off x="422043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>
              <a:off x="568960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/>
            <p:cNvCxnSpPr/>
            <p:nvPr/>
          </p:nvCxnSpPr>
          <p:spPr>
            <a:xfrm>
              <a:off x="714952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모서리가 둥근 직사각형 28"/>
          <p:cNvSpPr/>
          <p:nvPr/>
        </p:nvSpPr>
        <p:spPr>
          <a:xfrm>
            <a:off x="7947098" y="1591870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금융소비자보호책임자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7947098" y="2038032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리스크관리위원회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cxnSp>
        <p:nvCxnSpPr>
          <p:cNvPr id="31" name="꺾인 연결선 30"/>
          <p:cNvCxnSpPr/>
          <p:nvPr/>
        </p:nvCxnSpPr>
        <p:spPr>
          <a:xfrm rot="5400000" flipH="1" flipV="1">
            <a:off x="4916012" y="-557941"/>
            <a:ext cx="13873" cy="7308300"/>
          </a:xfrm>
          <a:prstGeom prst="bentConnector3">
            <a:avLst>
              <a:gd name="adj1" fmla="val 944937"/>
            </a:avLst>
          </a:prstGeom>
          <a:ln w="6350" cap="sq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644819" y="442672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부동산부문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2106247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금융공학운용부문</a:t>
            </a:r>
            <a:endParaRPr lang="en-US" altLang="ko-KR" sz="900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3567675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027521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6492546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디지털혁신부문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638798" y="2038032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투자전략위원회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638798" y="2484194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스튜어드십본부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106247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567675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WM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5027521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주택도시기금운용부문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6492546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경영혁신부문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7951959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상품전략본부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</a:p>
        </p:txBody>
      </p:sp>
      <p:sp>
        <p:nvSpPr>
          <p:cNvPr id="65" name="모서리가 둥근 직사각형 64"/>
          <p:cNvSpPr/>
          <p:nvPr/>
        </p:nvSpPr>
        <p:spPr>
          <a:xfrm>
            <a:off x="644819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주식운용부문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644819" y="353971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리서치부문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2106247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멀티전략투자부문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3567675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연금마케팅부문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5027521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기금솔루션부문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6492546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644819" y="398321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채권운용부문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2106247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3567675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기업솔루션부문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027521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투자플랫폼사업부문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6492546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리스크관리부문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644819" y="531372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인프라투자부문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644819" y="487022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PEF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2106247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자산배분부문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5027521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투자와연금센터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7951959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법무실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7951959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감사실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7951959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홍보실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68858" y="5538428"/>
            <a:ext cx="10371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/>
              <a:t>(2000.00</a:t>
            </a:r>
            <a:r>
              <a:rPr lang="ko-KR" altLang="en-US" sz="1000" dirty="0"/>
              <a:t>월말 기준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2" name="모서리가 둥근 직사각형 91"/>
          <p:cNvSpPr/>
          <p:nvPr/>
        </p:nvSpPr>
        <p:spPr>
          <a:xfrm>
            <a:off x="6492546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준법감시인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2106247" y="531282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</a:t>
            </a:r>
            <a:r>
              <a:rPr lang="en-US" altLang="ko-KR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상품전략부문</a:t>
            </a:r>
            <a:endParaRPr lang="en-US" altLang="ko-KR" sz="900" spc="-5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4292948" y="1591870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대표이사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782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3790" y="1040633"/>
            <a:ext cx="8928000" cy="5166864"/>
          </a:xfrm>
        </p:spPr>
        <p:txBody>
          <a:bodyPr wrap="square" lIns="0" rIns="0" numCol="1">
            <a:spAutoFit/>
          </a:bodyPr>
          <a:lstStyle/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자료는 집합투자상품의 청약을 권유하기 위한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판촉물이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아니며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청약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권유시에는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반드시 투자설명서를 사용하여야 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수록된 내용은 신뢰할 만한 자료 및 정보로부터 얻어진 것이나 당사는 그 정확성이나 안전성을 보장할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b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</a:b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따라서 어떠한 경우에도 본 자료는 투자자의 투자 결과에 대한 법적 책임소재에 대한 증빙자료로 사용될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자료는 판매회사 임직원의 이해를 돕기 위한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안내자료이며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임의로 일반투자자에게 제공했을 경우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당사는 일체의 법적 책임을 지지 않습니다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관련법령은 수익증권 투자에 대해서는 원리금을 보장하거나 보호하지 않습니다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따라서 투자원본의 전부 또는 일부에 대한 손실의 위험이 존재하며 투자금액의 손실 내지 감소의 위험은 전적으로 투자자가 부담하며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집합투자업자나 판매회사 등 어떤 당사자도 투자손실에 대하여 책임을 지지 아니합니다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집합투자상품은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운용결과에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따른 이익 또는 손실이 투자자에게 귀속되는 실적배당 상품이며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예금자 보호법의 보호 대상이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과거의 실적이 미래의 수익을 보장하는 것은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신탁재산을 주식 및 채권 등에 투자함으로써 투자신탁은 증권의 가격변동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이자율 등 기타 거시경제지표의 변화에 따른 위험에 노출됩니다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또한 신탁재산의 가치는 투자대상 종목의 영업환경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재무상황 및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신용상태의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악화에 따라 급격히 변동될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주식투자에 따른 비체계적 위험은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시장위험과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달리 분산투자로도 회피할 수 없는 위험이므로 투자종목에 대한 정기적 분석 및 점검을 통해 포트폴리오에 미치는 영향의 최소화를 추구하지만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개별주식에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대한 위험이 실제 발생할 경우 손실이 발생할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파생상품은 작은 증거금으로 거액의 결제가 가능한 지렛대효과로 인하여 기초자산에 직접 투자하는 경우에 비하여 높은 위험에 노출될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증권시장 규모 등을 감안할 때 신탁재산에서 거래량이 풍부하지 못한 종목에 투자하는 경우 투자대상 종목의 유동성 부족에 따른 환금성에 제약이 발생할 수 있으며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b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</a:b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이는 신탁재산의 가치하락을 초래할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법령 또는 법령에 의한 사유 발생시 및 투자신탁재산의 매각 불능과 투자자의 이익 또는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투자자간의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형평성을 해할 우려가 있는 경우 및 기타 금융감독위원회가 인정하는 경우 수익증권의 환매가 연기 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기재된 내용 중 투자참고 및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예측자료는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신뢰할 수 있다고 판단되는 각종 자료와 통계자료를 이용하여 작성한 것으로 향후 결과를 보증하는 것이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신탁재산은 “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자본시장법”에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의하여 신탁업자가 안전하게 보관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관리하고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포함된 모든 정보는 당사의 승인 없이 복제되어 유통될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Compliance Notice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754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512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10276</TotalTime>
  <Words>2520</Words>
  <Application>Microsoft Office PowerPoint</Application>
  <PresentationFormat>A4 용지(210x297mm)</PresentationFormat>
  <Paragraphs>275</Paragraphs>
  <Slides>24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KoPub돋움체_Pro Bold</vt:lpstr>
      <vt:lpstr>KoPub돋움체_Pro Light</vt:lpstr>
      <vt:lpstr>KoPub돋움체_Pro Medium</vt:lpstr>
      <vt:lpstr>맑은 고딕</vt:lpstr>
      <vt:lpstr>Arial</vt:lpstr>
      <vt:lpstr>Noto Sans</vt:lpstr>
      <vt:lpstr>Office 테마</vt:lpstr>
      <vt:lpstr>미래에셋 Tech TOP10 스마트 액티브 레버리지 1.5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AI금융공학운용부문 퀀트 시스템 (QPMS Vol Trading)</vt:lpstr>
      <vt:lpstr>PowerPoint 프레젠테이션</vt:lpstr>
      <vt:lpstr>펀드 정보</vt:lpstr>
      <vt:lpstr>투자 위험</vt:lpstr>
      <vt:lpstr>Ⅰ. 운용프로세스 </vt:lpstr>
      <vt:lpstr>Ⅱ. 운용조직</vt:lpstr>
      <vt:lpstr>Compliance Notice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미래에셋자산운용 WM 및 연금마케팅 제안서 PPT 디자인 가이드라인</dc:title>
  <dc:creator>Joonho Shin(신준호)</dc:creator>
  <cp:lastModifiedBy>Lee, Hyun Kyung (이현경)</cp:lastModifiedBy>
  <cp:revision>172</cp:revision>
  <cp:lastPrinted>2026-08-12T04:55:03Z</cp:lastPrinted>
  <dcterms:created xsi:type="dcterms:W3CDTF">2020-05-26T08:18:33Z</dcterms:created>
  <dcterms:modified xsi:type="dcterms:W3CDTF">2026-08-14T07:49:05Z</dcterms:modified>
</cp:coreProperties>
</file>