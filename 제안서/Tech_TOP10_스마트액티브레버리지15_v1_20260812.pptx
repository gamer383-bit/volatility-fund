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14" r:id="rId19"/>
    <p:sldId id="404" r:id="rId20"/>
    <p:sldId id="405" r:id="rId21"/>
    <p:sldId id="402" r:id="rId18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28.png"/><Relationship Id="rId9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Relationship Id="rId13" Type="http://schemas.openxmlformats.org/officeDocument/2006/relationships/image" Target="../media/image35.png"/><Relationship Id="rId14" Type="http://schemas.openxmlformats.org/officeDocument/2006/relationships/image" Target="../media/image36.png"/><Relationship Id="rId15" Type="http://schemas.openxmlformats.org/officeDocument/2006/relationships/image" Target="../media/image3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33.png"/><Relationship Id="rId5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1.5배이며, 편입비는 최소 100% ~ 최대 200% 범위에서 유지합니다. 노출이 범위 안에 있으면 매매하지 않아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국면별 — 기존 레버리지와 무엇이 다른가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강하게 지속되는 추세장에서는 매일 배수를 유지하는 기존 레버리지가 유리합니다. 반면 변동성이 크고 출렁이며 오르는 장에서는 고가 매도·저가 매수가 작동하는 스마트 레버리지가 유리합니다 — KOSPI 실측으로 비교했습니다.</a:t>
            </a:r>
          </a:p>
        </p:txBody>
      </p:sp>
      <p:pic>
        <p:nvPicPr>
          <p:cNvPr id="4" name="Picture 3" descr="lev15_reg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2578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어느 한쪽이 항상 이기는 방식은 없습니다 — 최근처럼 변동성이 큰 시장일수록 스마트 방식의 강점이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KOSPI 종가지수 실측(DataGuide, ~2026.08.26) 기반 개념 시뮬레이션 · 기존 = 일간 1.5배 매일 재조정 · 스마트 = 편입비 100~200% 범위 내 운용 가정 · 거래비용 미반영 · 상기 자료는 이해를 돕기 위한 예시이며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ETF 수정주가 실측 (제자리 사례 2026.02.26~04.16) · '시장 2배 후 제자리 = 0'과 '하루 +10% 후 제자리 = -1.8%'는 2배 레버리지 산술 · 데이터: ETF데이터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9" name="Picture 8" descr="lev15_k200fl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***** 하이닉스 레버리지 ETF는 출시 6주 뒤 주가 보합(-1.9%)인데 -20.3%  ③ 주가 제자리(+0.3%) 왕복 5주 만에 -15.2%.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***** 200/***** 레버리지 ETF·***** SK하이닉스단일종목레버리지(2026.05.27 상장): ETF데이터 · SK하이닉스 주가: DataGuide (2026.08.14 기준) · 상기 자료는 이해를 돕기 위한 예시입니다.</a:t>
            </a:r>
          </a:p>
        </p:txBody>
      </p:sp>
      <p:pic>
        <p:nvPicPr>
          <p:cNvPr id="9" name="Picture 8" descr="lev15_long_k20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10" name="Picture 9" descr="lev15_hynix_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11" name="Picture 10" descr="lev15_hynix_b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추세장에서는 오히려 유리하다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레버리지가 항상 불리한 것은 아닙니다. 한 방향 추세에서는 일별 복리가 유리하게 작동합니다 — 상승 추세에서는 단순 2배보다 더 벌고, 하락 추세에서는 단순 2배보다 덜 잃습니다 (KOSPI200 실측).</a:t>
            </a:r>
          </a:p>
        </p:txBody>
      </p:sp>
      <p:pic>
        <p:nvPicPr>
          <p:cNvPr id="4" name="Picture 3" descr="lev15_tren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4924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왕복 구간에는 불리하고, 추세 구간에는 유리합니다 — 방향이 아니라 '경로'가 성과를 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ETF 수정주가 실측 (상승 사례 2026.03.31~05.29, 하락 사례 2022.01.04~10.04) · 단순 2배 = 기초 누적수익률×2 (가상)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그러나 레버리지의 장점은 개인의 매매 패턴과 맞지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상승하면 수익을 확정해 버려(매도) 추세장의 복리 효과를 누리지 못하고, ② 하락하면 지수가 원상복귀될 때까지 버팁니다. 결국 복리는 놓치고 변동성 잠식만 얻습니다 — 레버리지 ETF의 실제 설정(상장주식수)으로 확인됩니다.</a:t>
            </a:r>
          </a:p>
        </p:txBody>
      </p:sp>
      <p:pic>
        <p:nvPicPr>
          <p:cNvPr id="4" name="Picture 3" descr="lev15_flow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737360"/>
            <a:ext cx="9098280" cy="271198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4590288"/>
          <a:ext cx="416051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1997049"/>
              </a:tblGrid>
              <a:tr h="283464"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FFFFFF"/>
                          </a:solidFill>
                          <a:latin typeface="KoPub돋움체_Pro Bold"/>
                        </a:rPr>
                        <a:t>KOSPI200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00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+342%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단순 2배 (가상)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00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+685%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FFFFFF"/>
                          </a:solidFill>
                          <a:latin typeface="KoPub돋움체_Pro Bold"/>
                        </a:rPr>
                        <a:t>***** 레버리지 ETF (실제)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00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+1,437%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상장주식수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C0392B"/>
                          </a:solidFill>
                          <a:latin typeface="KoPub돋움체_Pro Bold"/>
                        </a:rPr>
                        <a:t>173 → 48백만주 (-72%)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74920" y="4590288"/>
          <a:ext cx="416051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1997049"/>
              </a:tblGrid>
              <a:tr h="283464"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FFFFFF"/>
                          </a:solidFill>
                          <a:latin typeface="KoPub돋움체_Pro Bold"/>
                        </a:rPr>
                        <a:t>KOSPI200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00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+6.5% (복귀·상회)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단순 2배 (가상)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00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+12.9%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FFFFFF"/>
                          </a:solidFill>
                          <a:latin typeface="KoPub돋움체_Pro Bold"/>
                        </a:rPr>
                        <a:t>***** 레버리지 ETF (실제)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C0392B"/>
                          </a:solidFill>
                          <a:latin typeface="KoPub돋움체_Pro Bold"/>
                        </a:rPr>
                        <a:t>+3.0% (잠식 -9.9%p)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/>
                      <a:r>
                        <a:rPr sz="100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상장주식수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00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155 → 427 → 156백만주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5216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8720C"/>
                </a:solidFill>
                <a:latin typeface="KoPub돋움체_Pro Bold"/>
              </a:rPr>
              <a:t>상승 때는 +1,437%를 두고 일찍 떠났고, 하락 때는 버텨서 잠식만 얻었습니다 — 장점과 정반대로 움직이는 것입니다.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레버리지 ETF 상장주식수·수정주가, ***** 200 ETF 수정주가 실측 (좌 2025.04.30~2026.06.22, 우 2020.01.02~2020.08.31) · 단순 2배 = 지수 누적수익률×2 (가상) · 참고: 월간 지수수익률 vs 주식수 증감률 상관 -0.56 (2019~2026)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1737360"/>
            <a:ext cx="7406640" cy="441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890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5.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5. 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8442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31280"/>
              </a:tblGrid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펀드명 (가칭)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 Tech TOP10 스마트 액티브 레버리지 1.5 증권투자신탁 (주식-파생형)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투자대상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관련 ETF(TIGER 반도체TOP10 등) 및 장내 파생상품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목표 노출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평균 1.5배 (일간 배수를 고정하지 않는 스마트 액티브 방식)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운용방식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규칙 기반 리밸런싱 + 운용역 판단 병행 (액티브) · QPMS Vol Trading 시스템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비교지수 (BM)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일간수익률 ×1.5 (매일 재조정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위험등급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1등급 (매우 높은 위험) — 레버리지형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미래에셋자산운용 AI금융공학운용부문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보수·판매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추후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844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상기 내용은 제안 단계의 초안이며, 신탁계약·투자설명서 확정 과정에서 변경될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원금 손실 위험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이 펀드는 예금자보호법에 따라 보호되지 않으며, 투자원금 전액 손실이 발생할 수 있습니다. 투자 결과는 전부 투자자에게 귀속됩니다.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레버리지 위험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1.5배 노출로 기초지수 하락 시 손실이 지수보다 확대됩니다. 백테스트 기간 최대낙폭은 약 -69%로 매우 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08376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경로 의존(변동성 잠식)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9272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배수 유지 방식은 일일 재조정 비용을 줄일 뿐, 왕복 구간에서 발생하는 레버리지 고유의 손실 구조 자체를 없애지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집중투자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반도체 10종목에 집중 투자하며 삼성전자·SK하이닉스 비중이 높아, 개별기업·산업 사이클 위험에 크게 노출됩니다.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90872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파생상품·추적편차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01768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장내 파생상품 활용에 따른 베이시스·롤오버 비용이 발생할 수 있고, 평균 1.5배 추종 특성상 단기 성과는 일간 1.5배와 다를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유동성·시장 위험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4301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시장 급변동 시 재조정 매매의 체결 가격이 불리할 수 있으며, 거래 부진 시 환매 대응이 지연될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08192"/>
            <a:ext cx="835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자세한 위험은 투자설명서를 반드시 확인하시기 바랍니다.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별첨 : QPMS 스마트 레버리지 설명</a:t>
            </a:r>
            <a:r>
              <a:rPr lang="ko-KR" altLang="en-US" dirty="0"/>
              <a:t/>
            </a:r>
            <a:r>
              <a:rPr lang="ko-KR" altLang="en-US" dirty="0" err="1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