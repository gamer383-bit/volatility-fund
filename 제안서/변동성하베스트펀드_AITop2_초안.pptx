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875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987552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미래에셋자산운용  AI금융공학운용부문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8778240" cy="12801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변동성 하베스트 펀드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F0B26B"/>
                </a:solidFill>
                <a:latin typeface="맑은 고딕"/>
              </a:rPr>
              <a:t>AI Top2 (삼성전자·SK하이닉스)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9D6E5"/>
                </a:solidFill>
                <a:latin typeface="맑은 고딕"/>
              </a:rPr>
              <a:t>역대급으로 높아진 변동성을 수익으로 수확(Harvest)하는 변동성 매매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4888B"/>
                </a:solidFill>
                <a:latin typeface="맑은 고딕"/>
              </a:rPr>
              <a:t>2026.07  |  내부 검토용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미래에셋자산운용 컴플라이언스 검토 전 초안 — 대외 배포 금지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694944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기초자산 편입비를 시장 상황에 따라 조절하는 변동성 매매를 통해, 역대급으로 높아진 변동성을 수익으로 전환하는 전략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변동성 매매(저가매수·고가매도)로 수익 추구 + 상승 방향 참여 · 최대 편입비 180% 제한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국내 주식형 파생 (사모 · 일임)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1등급 (매우 높은 위험) · 적극투자형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3천만원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① — 역대급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최근 한국시장 변동성이 5년 내 최고 수준(99.7%ile). 변동성이 클수록 변동성 매매의 수익 기회가 커집니다.</a:t>
            </a:r>
          </a:p>
        </p:txBody>
      </p:sp>
      <p:pic>
        <p:nvPicPr>
          <p:cNvPr id="7" name="Picture 6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8869680" cy="400810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 — 당분간 제한적 방향성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상방엔 매물벽, 하방엔 저평가 — 한쪽으로 크게 쏠린 방향성이 나오기 어려운 국면입니다.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초과·국내주식 축소 기조로, 지수가 오를수록 대기 매도 물량이 상단에서 출회.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지수 편입비 조정·차익 실현으로 상승 국면에서 매도 우위가 반복.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단기 급등에 올라탄 과도한 매수 포지션이 반등 시마다 차익실현(상승 시 매도 대응)으로 전환.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2628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8138160" cy="71323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9E6E"/>
                </a:solidFill>
                <a:latin typeface="맑은 고딕"/>
              </a:rPr>
              <a:t>② 하방을 받치는 밸류에이션: </a:t>
            </a:r>
            <a:r>
              <a:rPr sz="1250" b="1">
                <a:solidFill>
                  <a:srgbClr val="3A3A3A"/>
                </a:solidFill>
                <a:latin typeface="맑은 고딕"/>
              </a:rPr>
              <a:t>삼성전자·SK하이닉스 저평가 — 실적 대비 낮은 밸류에이션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   ※ 세부 밸류에이션 수치는 별도 보고서 반영 예정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504688"/>
            <a:ext cx="8503920" cy="64008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8"/>
            <a:ext cx="813816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상방 제한 + 하방 지지 = 좁은 등락 반복 → 방향성 베팅보다 변동성 매매가 유리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③ — 레버리지가 키운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단일종목 레버리지 ETF 급증이 삼성전자·SK하이닉스와 지수 변동성을 구조적으로 키우고 있습니다.</a:t>
            </a:r>
          </a:p>
        </p:txBody>
      </p:sp>
      <p:pic>
        <p:nvPicPr>
          <p:cNvPr id="7" name="Picture 6" descr="lev_a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160520" cy="2558699"/>
          </a:xfrm>
          <a:prstGeom prst="rect">
            <a:avLst/>
          </a:prstGeom>
        </p:spPr>
      </p:pic>
      <p:pic>
        <p:nvPicPr>
          <p:cNvPr id="8" name="Picture 7" descr="idx_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4160520" cy="25586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변동성이 변동성을 부르는 되먹임 — 두 종목이 KOSPI200의 </a:t>
            </a:r>
            <a:r>
              <a:rPr sz="1300" b="1">
                <a:solidFill>
                  <a:srgbClr val="F58220"/>
                </a:solidFill>
                <a:latin typeface="맑은 고딕"/>
              </a:rPr>
              <a:t>51.5%</a:t>
            </a:r>
            <a:r>
              <a:rPr sz="1200" b="0">
                <a:solidFill>
                  <a:srgbClr val="3A3A3A"/>
                </a:solidFill>
                <a:latin typeface="맑은 고딕"/>
              </a:rPr>
              <a:t> (연초 38.7%→5월)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978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③ 레버리지 종가
순응매매(±10%→2.6조)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레버리지의 '잠식'을 우리는 '수확'으로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같은 변동성, 정반대 매매 — 레버리지 ETF가 '잃는' 그 변동성을 본 펀드는 '수익'으로 전환합니다.</a:t>
            </a:r>
          </a:p>
        </p:txBody>
      </p:sp>
      <p:pic>
        <p:nvPicPr>
          <p:cNvPr id="7" name="Picture 6" descr="deca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389120" cy="26992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매일 고가매수·저가매도(추세 순응 리밸런싱)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변동성이 클수록 자산이 녹는다 (기초 제자리인데 −20%)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43B72"/>
                </a:solidFill>
                <a:latin typeface="맑은 고딕"/>
              </a:rPr>
              <a:t>주가↓ 비중↑(저가매수)·주가↑ 비중↓(고가매도)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확대된 변동성을 매매 수익으로 전환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결론 — 변동성↑ × 방향성↓ 국면의 최적해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24128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변동성은 높고 방향성은 제한적인 지금, 변동성 하베스트 펀드가 가장 잘 맞는 국면입니다.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45920"/>
            <a:ext cx="3154680" cy="18745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38528" y="1755648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변동성 하베스트 펀드 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맑은 고딕"/>
              </a:rPr>
              <a:t>← 현재 국면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8344" y="1645920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755648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레버리지·추세추종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확신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38528" y="3685032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현금성·채권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관망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072" y="3685032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인덱스·방향투자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베팅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645920"/>
            <a:ext cx="10515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29783"/>
            <a:ext cx="10515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22975"/>
            <a:ext cx="6364224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← 방향성 약함           방향성 강함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806440"/>
            <a:ext cx="8503920" cy="6035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06440"/>
            <a:ext cx="813816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변동성은 '수확'하고 방향성 부재 리스크는 '회피' = 변동성 하베스트 펀드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급락 시 편입비 축소로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어떻게 운용하는가 — 저가매수·고가매도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시장이 빠지면 편입을 늘리고(저가매수), 오르면 줄인다(고가매도). 등락(변동성)을 매매로 수취합니다.</a:t>
            </a:r>
          </a:p>
        </p:txBody>
      </p:sp>
      <p:pic>
        <p:nvPicPr>
          <p:cNvPr id="7" name="Picture 6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742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성장변동성펀드 (변동성 매매 + 상승 참여)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pic>
        <p:nvPicPr>
          <p:cNvPr id="7" name="Picture 6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4526280" cy="3655842"/>
          </a:xfrm>
          <a:prstGeom prst="rect">
            <a:avLst/>
          </a:prstGeom>
        </p:spPr>
      </p:pic>
      <p:pic>
        <p:nvPicPr>
          <p:cNvPr id="8" name="Picture 7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0"/>
            <a:ext cx="4526280" cy="36558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안정변동성펀드 (안정 변동성 매매)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보합·상승 구간에서 변동성 매매 수익을 안정적으로 확보(상단 고정), 급락 시 손실이 누적됩니다.</a:t>
            </a:r>
          </a:p>
        </p:txBody>
      </p:sp>
      <p:pic>
        <p:nvPicPr>
          <p:cNvPr id="7" name="Picture 6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546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3A3A3A"/>
                </a:solidFill>
                <a:latin typeface="맑은 고딕"/>
              </a:rPr>
              <a:t>■ 단일종목 집중 위험(AI Top2)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9476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4888B"/>
                </a:solidFill>
                <a:latin typeface="맑은 고딕"/>
              </a:rPr>
              <a:t>삼성전자·SK하이닉스 2종목에 집중되어 개별기업·반도체 사이클 리스크에 크게 노출됩니다.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