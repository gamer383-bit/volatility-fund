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6"/>
  </p:notesMasterIdLst>
  <p:sldIdLst>
    <p:sldId id="1031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8758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1712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C96074-D04F-447E-AF78-722CE40E7048}" type="datetimeFigureOut">
              <a:rPr lang="ko-KR" altLang="en-US" smtClean="0"/>
              <a:t>2026-07-15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6500" y="1143000"/>
            <a:ext cx="44450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A194F9-C48C-4F24-92AB-7E74D2B077C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426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DF11654-0CFB-44F3-B93D-CBFACCFEA8D0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5201" y="5654675"/>
            <a:ext cx="1970736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0003" y="5926138"/>
            <a:ext cx="6747988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388665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66229" y="4799014"/>
            <a:ext cx="3409610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0003" y="3937000"/>
            <a:ext cx="731309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29902" y="194071"/>
            <a:ext cx="5024655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798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29902" y="1264983"/>
            <a:ext cx="5204106" cy="49090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29902" y="2874353"/>
            <a:ext cx="5204106" cy="565283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097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29902" y="4214169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29902" y="4474323"/>
            <a:ext cx="4486298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5693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97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70977" y="838201"/>
            <a:ext cx="3414359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3052639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4"/>
            <a:ext cx="987742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795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5507" y="757238"/>
            <a:ext cx="1305908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0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0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57515" y="1725716"/>
            <a:ext cx="8435611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219" marR="0" indent="-251219" algn="l" defTabSz="455783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595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4498" indent="136102">
              <a:buFont typeface="+mj-lt"/>
              <a:buAutoNum type="arabicPeriod"/>
              <a:defRPr sz="1197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197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997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34928171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3821" y="3143392"/>
            <a:ext cx="8434241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393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616363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2289" y="6494464"/>
            <a:ext cx="4530317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 sz="798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7540" y="896938"/>
            <a:ext cx="89007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32987" y="6494464"/>
            <a:ext cx="2955312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8042" y="6359525"/>
            <a:ext cx="891975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7511" y="1031108"/>
            <a:ext cx="8900816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5783" rtl="0" eaLnBrk="1" fontAlgn="auto" latinLnBrk="0" hangingPunct="1">
              <a:lnSpc>
                <a:spcPct val="110000"/>
              </a:lnSpc>
              <a:spcBef>
                <a:spcPts val="2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396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5783" indent="0">
              <a:buFontTx/>
              <a:buNone/>
              <a:defRPr sz="1994">
                <a:latin typeface="Noto Sans"/>
                <a:cs typeface="Noto Sans"/>
              </a:defRPr>
            </a:lvl2pPr>
            <a:lvl3pPr marL="911566" indent="0">
              <a:buFontTx/>
              <a:buNone/>
              <a:defRPr sz="1795">
                <a:latin typeface="Noto Sans"/>
                <a:cs typeface="Noto Sans"/>
              </a:defRPr>
            </a:lvl3pPr>
            <a:lvl4pPr marL="1367349" indent="0">
              <a:buFontTx/>
              <a:buNone/>
              <a:defRPr sz="1595">
                <a:latin typeface="Noto Sans"/>
                <a:cs typeface="Noto Sans"/>
              </a:defRPr>
            </a:lvl4pPr>
            <a:lvl5pPr marL="1823132" indent="0">
              <a:buFontTx/>
              <a:buNone/>
              <a:defRPr sz="1595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2286" y="567303"/>
            <a:ext cx="646027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1994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612792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8406" y="5648326"/>
            <a:ext cx="1703222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0688" y="2935288"/>
            <a:ext cx="8394462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8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5693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2pPr>
            <a:lvl3pPr marL="911383" indent="0">
              <a:buNone/>
              <a:defRPr sz="1595">
                <a:solidFill>
                  <a:schemeClr val="tx1">
                    <a:tint val="75000"/>
                  </a:schemeClr>
                </a:solidFill>
              </a:defRPr>
            </a:lvl3pPr>
            <a:lvl4pPr marL="1367076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4pPr>
            <a:lvl5pPr marL="1822767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5pPr>
            <a:lvl6pPr marL="2278459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6pPr>
            <a:lvl7pPr marL="2734150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7pPr>
            <a:lvl8pPr marL="3189843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8pPr>
            <a:lvl9pPr marL="3645534" indent="0">
              <a:buNone/>
              <a:defRPr sz="13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1886160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2019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7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0360420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2106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7"/>
            <a:ext cx="9875838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795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83479" y="269938"/>
            <a:ext cx="1615326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1007769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78615" y="6358688"/>
            <a:ext cx="892019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8189" y="6492829"/>
            <a:ext cx="453104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5783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5783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49898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89392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41634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78615" y="983055"/>
            <a:ext cx="8911266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598"/>
              </a:spcAft>
              <a:buFont typeface="Arial" panose="020B0604020202020204" pitchFamily="34" charset="0"/>
              <a:buNone/>
              <a:defRPr sz="1296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6303" y="425184"/>
            <a:ext cx="6820266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795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6303" y="164678"/>
            <a:ext cx="6820266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406" indent="-179406" latinLnBrk="0">
              <a:spcBef>
                <a:spcPts val="0"/>
              </a:spcBef>
              <a:buFont typeface="+mj-lt"/>
              <a:buAutoNum type="romanUcPeriod"/>
              <a:defRPr sz="1296">
                <a:latin typeface="+mj-ea"/>
                <a:ea typeface="+mj-ea"/>
              </a:defRPr>
            </a:lvl1pPr>
            <a:lvl2pPr marL="477280" indent="0">
              <a:buNone/>
              <a:defRPr sz="997"/>
            </a:lvl2pPr>
            <a:lvl3pPr marL="954557" indent="0">
              <a:buNone/>
              <a:defRPr sz="997"/>
            </a:lvl3pPr>
            <a:lvl4pPr marL="1431837" indent="0">
              <a:buNone/>
              <a:defRPr sz="997"/>
            </a:lvl4pPr>
            <a:lvl5pPr marL="1909115" indent="0">
              <a:buNone/>
              <a:defRPr sz="997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34097" y="6492827"/>
            <a:ext cx="2955785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798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798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8189" y="6497276"/>
            <a:ext cx="453104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798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798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798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798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798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071" y="859732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071" y="6363137"/>
            <a:ext cx="9885910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77882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35593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0166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5874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1748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67622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3496" algn="l" defTabSz="910166" rtl="0" fontAlgn="base" latinLnBrk="1">
        <a:lnSpc>
          <a:spcPct val="90000"/>
        </a:lnSpc>
        <a:spcBef>
          <a:spcPct val="0"/>
        </a:spcBef>
        <a:spcAft>
          <a:spcPct val="0"/>
        </a:spcAft>
        <a:defRPr sz="4288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6355" indent="-226355" algn="l" defTabSz="910166" rtl="0" eaLnBrk="0" fontAlgn="base" latinLnBrk="1" hangingPunct="0">
        <a:lnSpc>
          <a:spcPct val="90000"/>
        </a:lnSpc>
        <a:spcBef>
          <a:spcPts val="997"/>
        </a:spcBef>
        <a:spcAft>
          <a:spcPct val="0"/>
        </a:spcAft>
        <a:buFont typeface="Arial" panose="020B0604020202020204" pitchFamily="34" charset="0"/>
        <a:buChar char="•"/>
        <a:defRPr sz="2692" kern="1200">
          <a:solidFill>
            <a:schemeClr val="tx1"/>
          </a:solidFill>
          <a:latin typeface="+mn-lt"/>
          <a:ea typeface="+mn-ea"/>
          <a:cs typeface="+mn-cs"/>
        </a:defRPr>
      </a:lvl1pPr>
      <a:lvl2pPr marL="682229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2393" kern="1200">
          <a:solidFill>
            <a:schemeClr val="tx1"/>
          </a:solidFill>
          <a:latin typeface="+mn-lt"/>
          <a:ea typeface="+mn-ea"/>
          <a:cs typeface="+mn-cs"/>
        </a:defRPr>
      </a:lvl2pPr>
      <a:lvl3pPr marL="1138103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sz="1994" kern="1200">
          <a:solidFill>
            <a:schemeClr val="tx1"/>
          </a:solidFill>
          <a:latin typeface="+mn-lt"/>
          <a:ea typeface="+mn-ea"/>
          <a:cs typeface="+mn-cs"/>
        </a:defRPr>
      </a:lvl3pPr>
      <a:lvl4pPr marL="1593977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49851" indent="-226355" algn="l" defTabSz="910166" rtl="0" eaLnBrk="0" fontAlgn="base" latinLnBrk="1" hangingPunct="0">
        <a:lnSpc>
          <a:spcPct val="90000"/>
        </a:lnSpc>
        <a:spcBef>
          <a:spcPts val="499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06806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2590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18372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4155" indent="-227891" algn="l" defTabSz="911566" rtl="0" eaLnBrk="1" latinLnBrk="1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578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1566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7349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3132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78915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4697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0481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6263" algn="l" defTabSz="911566" rtl="0" eaLnBrk="1" latinLnBrk="1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0003" y="1453516"/>
            <a:ext cx="5456720" cy="429644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792" dirty="0"/>
              <a:t>AI Top2 변동성 하베스트 펀드 제안서</a:t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0003" y="4212546"/>
            <a:ext cx="4485995" cy="183619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ko-KR" altLang="en-US" dirty="0" err="1"/>
              <a:t>미래에셋자산운용 AI금융공학운용부문</a:t>
            </a:r>
            <a:r>
              <a:rPr lang="ko-KR" altLang="en-US" dirty="0"/>
              <a:t/>
            </a:r>
            <a:r>
              <a:rPr lang="en-US" altLang="ko-KR" dirty="0"/>
              <a:t/>
            </a:r>
            <a:r>
              <a:rPr lang="ko-KR" altLang="en-US" dirty="0"/>
              <a:t/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0003" y="4470561"/>
            <a:ext cx="4485995" cy="185202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4292" fontAlgn="base">
              <a:spcAft>
                <a:spcPct val="0"/>
              </a:spcAft>
            </a:pPr>
            <a:r>
              <a:rPr lang="en-US" altLang="ko-KR" dirty="0"/>
              <a:t>2026.07</a:t>
            </a:r>
            <a:endParaRPr lang="ko-KR" altLang="en-US" dirty="0"/>
          </a:p>
        </p:txBody>
      </p:sp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D4752A20-2DB7-3BAE-D5CD-0070F3FD43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하베스트 펀드 — AI Top2 (삼성전자·SK하이닉스)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기초자산 편입비를 조절하는 변동성 매매를 통해, 역대급으로 높아진 변동성을 수익으로 전환하는 전략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AI Top2 — 삼성전자·SK하이닉스 (동일가중)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60%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변동성 매매(저가매수·고가매도)로 수익 추구 + 상승 방향 참여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안정변동성펀드(안정 변동성 매매) / 성장변동성펀드(변동성 매매 + 상승 참여)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국내 주식형 파생 (공모 / 사모 · 일임)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① — 역대급 변동성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최근 한국시장 변동성이 5년 내 최고 수준(99.7%ile). 변동성이 클수록 변동성 매매의 수익 기회가 커집니다.</a:t>
            </a:r>
          </a:p>
        </p:txBody>
      </p:sp>
      <p:pic>
        <p:nvPicPr>
          <p:cNvPr id="7" name="Picture 6" descr="vol_se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8869680" cy="400810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486400"/>
            <a:ext cx="8503920" cy="658368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486400"/>
            <a:ext cx="8138160" cy="65836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지금은 변동성을 '피할' 때가 아니라 '수확'하기 가장 유리한 국면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② — 당분간 제한적 방향성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0700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상방엔 매물벽, 하방엔 저평가 — 한쪽으로 크게 쏠린 방향성이 나오기 어려운 국면입니다.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64208"/>
            <a:ext cx="86868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① 상방을 누르는 수급 요인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8580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2633472"/>
            <a:ext cx="2377440" cy="1600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초과·국내주식 축소 기조로, 지수가 오를수록 대기 매도 물량이 상단에서 출회.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6616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70332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633472"/>
            <a:ext cx="2377440" cy="1600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반도체 쏠림에 따른 지수 편입비 조정·차익 실현으로 상승 국면에서 매도 우위가 반복.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029968"/>
            <a:ext cx="269748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46520" y="2029968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0" y="2075688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11112" y="2633472"/>
            <a:ext cx="2377440" cy="1600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단기 급등에 올라탄 과도한 매수 포지션이 반등 시마다 차익실현(상승 시 매도 대응)으로 전환.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26280"/>
            <a:ext cx="8503920" cy="822960"/>
          </a:xfrm>
          <a:prstGeom prst="rect">
            <a:avLst/>
          </a:prstGeom>
          <a:solidFill>
            <a:srgbClr val="EC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4590288"/>
            <a:ext cx="8138160" cy="71323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9E6E"/>
                </a:solidFill>
                <a:latin typeface="맑은 고딕"/>
              </a:rPr>
              <a:t>② 하방을 받치는 밸류에이션: </a:t>
            </a:r>
            <a:r>
              <a:rPr sz="1250" b="1">
                <a:solidFill>
                  <a:srgbClr val="3A3A3A"/>
                </a:solidFill>
                <a:latin typeface="맑은 고딕"/>
              </a:rPr>
              <a:t>삼성전자·SK하이닉스 저평가 — 실적 대비 낮은 밸류에이션</a:t>
            </a:r>
          </a:p>
          <a:p>
            <a:pPr algn="l">
              <a:lnSpc>
                <a:spcPct val="115000"/>
              </a:lnSpc>
            </a:pPr>
            <a:r>
              <a:rPr sz="950" b="0">
                <a:solidFill>
                  <a:srgbClr val="84888B"/>
                </a:solidFill>
                <a:latin typeface="맑은 고딕"/>
              </a:rPr>
              <a:t>   ※ 세부 밸류에이션 수치는 별도 보고서 반영 예정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504688"/>
            <a:ext cx="8503920" cy="64008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504688"/>
            <a:ext cx="8138160" cy="6400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상방 제한 + 하방 지지 = 좁은 등락 반복 → 방향성 베팅보다 변동성 매매가 유리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펀드인가 ③ — 레버리지가 키운 변동성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단일종목 레버리지 ETF 급증이 삼성전자·SK하이닉스와 지수 변동성을 구조적으로 키우고 있습니다.</a:t>
            </a:r>
          </a:p>
        </p:txBody>
      </p:sp>
      <p:pic>
        <p:nvPicPr>
          <p:cNvPr id="7" name="Picture 6" descr="lev_a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4160520" cy="2558699"/>
          </a:xfrm>
          <a:prstGeom prst="rect">
            <a:avLst/>
          </a:prstGeom>
        </p:spPr>
      </p:pic>
      <p:pic>
        <p:nvPicPr>
          <p:cNvPr id="8" name="Picture 7" descr="idx_we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71600"/>
            <a:ext cx="4160520" cy="25586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85800" y="4224528"/>
            <a:ext cx="8503920" cy="190195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4315968"/>
            <a:ext cx="81381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43B72"/>
                </a:solidFill>
                <a:latin typeface="맑은 고딕"/>
              </a:rPr>
              <a:t>변동성이 변동성을 부르는 되먹임 — 두 종목이 KOSPI200의 </a:t>
            </a:r>
            <a:r>
              <a:rPr sz="1300" b="1">
                <a:solidFill>
                  <a:srgbClr val="F58220"/>
                </a:solidFill>
                <a:latin typeface="맑은 고딕"/>
              </a:rPr>
              <a:t>51.5%</a:t>
            </a:r>
            <a:r>
              <a:rPr sz="1200" b="0">
                <a:solidFill>
                  <a:srgbClr val="3A3A3A"/>
                </a:solidFill>
                <a:latin typeface="맑은 고딕"/>
              </a:rPr>
              <a:t> (연초 38.7%→5월)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① 지수·종목 흔들림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2666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② 지수의 절반인
두 종목 급등락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7492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2978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③ 레버리지 종가
순응매매(±10%→2.6조)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2008" y="5074920"/>
            <a:ext cx="256032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58220"/>
                </a:solidFill>
                <a:latin typeface="맑은 고딕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4892040"/>
            <a:ext cx="1847088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043B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2904" y="4892040"/>
            <a:ext cx="17373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43B72"/>
                </a:solidFill>
                <a:latin typeface="맑은 고딕"/>
              </a:rPr>
              <a:t>④ 지수 변동성
재확대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05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레버리지의 '잠식'을 우리는 '수확'으로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같은 변동성, 정반대 매매 — 레버리지 ETF가 '잃는' 그 변동성을 본 펀드는 '수익'으로 전환합니다.</a:t>
            </a:r>
          </a:p>
        </p:txBody>
      </p:sp>
      <p:pic>
        <p:nvPicPr>
          <p:cNvPr id="7" name="Picture 6" descr="decay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4389120" cy="269928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120640" y="1417320"/>
            <a:ext cx="4069080" cy="1280160"/>
          </a:xfrm>
          <a:prstGeom prst="rect">
            <a:avLst/>
          </a:prstGeom>
          <a:solidFill>
            <a:srgbClr val="FC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120640" y="1417320"/>
            <a:ext cx="4069080" cy="457200"/>
          </a:xfrm>
          <a:prstGeom prst="rect">
            <a:avLst/>
          </a:prstGeom>
          <a:solidFill>
            <a:srgbClr val="D02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257800" y="144475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레버리지 ETF — 변동성에 '잠식'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5232" y="1965960"/>
            <a:ext cx="3749039" cy="685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3A3A3A"/>
                </a:solidFill>
                <a:latin typeface="맑은 고딕"/>
              </a:rPr>
              <a:t>매일 고가매수·저가매도(추세 순응 리밸런싱)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3A3A"/>
                </a:solidFill>
                <a:latin typeface="맑은 고딕"/>
              </a:rPr>
              <a:t>→ 변동성이 클수록 자산이 녹는다 (기초 제자리인데 −20%)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761488"/>
            <a:ext cx="4069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▼ 정반대 매매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0" y="3108960"/>
            <a:ext cx="4069080" cy="12801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120640" y="3108960"/>
            <a:ext cx="40690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57800" y="3136392"/>
            <a:ext cx="384048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</a:rPr>
              <a:t>변동성 하베스트 펀드 — 변동성을 '수확'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5232" y="3657600"/>
            <a:ext cx="3749039" cy="685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43B72"/>
                </a:solidFill>
                <a:latin typeface="맑은 고딕"/>
              </a:rPr>
              <a:t>주가↓ 비중↑(저가매수)·주가↑ 비중↓(고가매도)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A3A3A"/>
                </a:solidFill>
                <a:latin typeface="맑은 고딕"/>
              </a:rPr>
              <a:t>→ 확대된 변동성을 매매 수익으로 전환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5074920"/>
            <a:ext cx="8138160" cy="9601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핵심: 레버리지가 '잃는' 바로 그 변동성을, 본 펀드는 '수확'한다.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3A3A3A"/>
                </a:solidFill>
                <a:latin typeface="맑은 고딕"/>
              </a:rPr>
              <a:t>변동성이 클수록(=잠식이 클수록) 본 펀드의 수익 기회는 오히려 커진다.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06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결론 — 변동성↑ × 방향성↓ 국면의 최적해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24128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변동성은 높고 방향성은 제한적인 지금, 변동성 하베스트 펀드가 가장 잘 맞는 국면입니다.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1645920"/>
            <a:ext cx="3154680" cy="18745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938528" y="1755648"/>
            <a:ext cx="2935224" cy="165506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맑은 고딕"/>
              </a:rPr>
              <a:t>변동성 하베스트 펀드 ★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FFFFFF"/>
                </a:solidFill>
                <a:latin typeface="맑은 고딕"/>
              </a:rPr>
              <a:t>← 현재 국면</a:t>
            </a:r>
          </a:p>
        </p:txBody>
      </p:sp>
      <p:sp>
        <p:nvSpPr>
          <p:cNvPr id="9" name="Rectangle 8"/>
          <p:cNvSpPr/>
          <p:nvPr/>
        </p:nvSpPr>
        <p:spPr>
          <a:xfrm>
            <a:off x="5038344" y="1645920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48072" y="1755648"/>
            <a:ext cx="2935224" cy="165506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레버리지·추세추종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방향 확신 필요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800" y="3575304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938528" y="3685032"/>
            <a:ext cx="2935224" cy="165506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현금성·채권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관망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38344" y="3575304"/>
            <a:ext cx="3154680" cy="1874519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48072" y="3685032"/>
            <a:ext cx="2935224" cy="1655063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인덱스·방향투자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방향 베팅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645920"/>
            <a:ext cx="10515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변동성 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5129783"/>
            <a:ext cx="10515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변동성 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522975"/>
            <a:ext cx="6364224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← 방향성 약함           방향성 강함 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5806440"/>
            <a:ext cx="8503920" cy="603504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806440"/>
            <a:ext cx="8138160" cy="60350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변동성은 '수확'하고 방향성 부재 리스크는 '회피' = 변동성 하베스트 펀드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07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매매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매매 기회는 많고,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매매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저가매수·고가매도를 반복하여 높아진 변동성을 수익으로 전환.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리스크 관리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최대 편입비 180% 제한 · 급락 시 편입비 축소로 하방 완충.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08 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어떻게 운용하는가 — 저가매수·고가매도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시장이 빠지면 편입을 늘리고(저가매수), 오르면 줄인다(고가매도). 등락(변동성)을 매매로 수취합니다.</a:t>
            </a:r>
          </a:p>
        </p:txBody>
      </p:sp>
      <p:pic>
        <p:nvPicPr>
          <p:cNvPr id="7" name="Picture 6" descr="op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503920" cy="427425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5623560"/>
            <a:ext cx="8503920" cy="54864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5623560"/>
            <a:ext cx="813816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→ 레버리지 ETF의 '고가매수·저가매도'와 정반대 — 변동성을 잃지 않고 '수취'하는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09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수익 구조 — 성장변동성펀드 (변동성 매매 + 상승 참여)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012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3A3A3A"/>
                </a:solidFill>
                <a:latin typeface="맑은 고딕"/>
              </a:rPr>
              <a:t>운용 중 -40% 미도달 시 상승에 참여, -40% 도달 시 하방에 노출됩니다. 시뮬레이션 결과(각 점=1회).</a:t>
            </a:r>
          </a:p>
        </p:txBody>
      </p:sp>
      <p:pic>
        <p:nvPicPr>
          <p:cNvPr id="7" name="Picture 6" descr="scat_top2_growth_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4526280" cy="3655842"/>
          </a:xfrm>
          <a:prstGeom prst="rect">
            <a:avLst/>
          </a:prstGeom>
        </p:spPr>
      </p:pic>
      <p:pic>
        <p:nvPicPr>
          <p:cNvPr id="8" name="Picture 7" descr="scat_top2_growth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417320"/>
            <a:ext cx="4526280" cy="36558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598932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σ 60%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10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수익 구조 — 안정변동성펀드 (안정 변동성 매매)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8686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보합·상승 구간에서 변동성 매매 수익을 안정적으로 확보(상단 고정), 급락 시 손실이 누적됩니다.</a:t>
            </a:r>
          </a:p>
        </p:txBody>
      </p:sp>
      <p:pic>
        <p:nvPicPr>
          <p:cNvPr id="7" name="Picture 6" descr="scat_top2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463040"/>
            <a:ext cx="7040880" cy="40546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5989320"/>
            <a:ext cx="85953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84888B"/>
                </a:solidFill>
                <a:latin typeface="맑은 고딕"/>
              </a:rPr>
              <a:t>σ 60% 가정 · 점=시뮬 1회 · </a:t>
            </a:r>
            <a:r>
              <a:rPr sz="900" b="1">
                <a:solidFill>
                  <a:srgbClr val="F58220"/>
                </a:solidFill>
                <a:latin typeface="맑은 고딕"/>
              </a:rPr>
              <a:t>노란선=구간 평균</a:t>
            </a:r>
            <a:r>
              <a:rPr sz="900" b="0">
                <a:solidFill>
                  <a:srgbClr val="84888B"/>
                </a:solidFill>
                <a:latin typeface="맑은 고딕"/>
              </a:rPr>
              <a:t> · 데이터: 자체 시뮬레이션(거래비용·운용오차 포함)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11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전략 특성상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운용오차: 이산 리밸런싱·급변동·갭 하락 시 이론 수익과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급변동 구간에서 편입비 조절이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급락 국면 위험: 급격한 하락 시 하방 완충이 제한되어 손실에 노출될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3A3A3A"/>
                </a:solidFill>
                <a:latin typeface="맑은 고딕"/>
              </a:rPr>
              <a:t>■ 단일종목 집중 위험(AI Top2)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변동성 매매 수익 기회가 줄어 기대수익에 미달할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794760"/>
            <a:ext cx="82296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84888B"/>
                </a:solidFill>
                <a:latin typeface="맑은 고딕"/>
              </a:rPr>
              <a:t>삼성전자·SK하이닉스 2종목에 집중되어 개별기업·반도체 사이클 리스크에 크게 노출됩니다.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1280160"/>
            <a:ext cx="128016" cy="5029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51560" y="1280160"/>
            <a:ext cx="8229600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운용부서 및 유의사항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377440"/>
            <a:ext cx="8229600" cy="18288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00A9CE"/>
                </a:solidFill>
                <a:latin typeface="맑은 고딕"/>
              </a:rPr>
              <a:t>AI금융공학운용부문 전략운용본부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Mission: 투자자 입장에서 장기 플러스 수익 달성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6E5"/>
                </a:solidFill>
                <a:latin typeface="맑은 고딕"/>
              </a:rPr>
              <a:t>정량적 분석과 정성적 리서치의 균형 · One Team Approach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6E5"/>
                </a:solidFill>
                <a:latin typeface="맑은 고딕"/>
              </a:rPr>
              <a:t>커버드콜·국내인덱스+·절대수익·구조화·Custom Mandate 등 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846320"/>
            <a:ext cx="8138160" cy="1463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0B26B"/>
                </a:solidFill>
                <a:latin typeface="맑은 고딕"/>
              </a:rPr>
              <a:t>· 본 자료는 컴플라이언스 검토 전 내부 검토용 초안이며 대외 배포를 금합니다.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9D6E5"/>
                </a:solidFill>
                <a:latin typeface="맑은 고딕"/>
              </a:rPr>
              <a:t>· 랩/펀드 계약은 예금자보호법에 따라 보호되지 않으며, 자산가격·환율·신용 변동에 따라 원금손실(0~100%)이 발생할 수 있습니다.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9D6E5"/>
                </a:solidFill>
                <a:latin typeface="맑은 고딕"/>
              </a:rPr>
              <a:t>· 상기 시뮬레이션은 가정에 의거한 예시로 수익을 보장하지 않으며 실제 결과와 다를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00000"/>
              </a:lnSpc>
            </a:pP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1397</Words>
  <Application>Microsoft Office PowerPoint</Application>
  <PresentationFormat>사용자 지정</PresentationFormat>
  <Paragraphs>151</Paragraphs>
  <Slides>13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13</vt:i4>
      </vt:variant>
    </vt:vector>
  </HeadingPairs>
  <TitlesOfParts>
    <vt:vector size="21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Theme</vt:lpstr>
      <vt:lpstr>1_Office 테마</vt:lpstr>
      <vt:lpstr>변동성매매 자문상품 제안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Lee, Hyun Kyung (이현경)</cp:lastModifiedBy>
  <cp:revision>2</cp:revision>
  <dcterms:created xsi:type="dcterms:W3CDTF">2013-01-27T09:14:16Z</dcterms:created>
  <dcterms:modified xsi:type="dcterms:W3CDTF">2026-07-15T05:28:38Z</dcterms:modified>
  <cp:category/>
</cp:coreProperties>
</file>