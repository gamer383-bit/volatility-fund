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103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875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1712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96074-D04F-447E-AF78-722CE40E7048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0" y="1143000"/>
            <a:ext cx="4445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194F9-C48C-4F24-92AB-7E74D2B0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0194" latinLnBrk="0">
              <a:defRPr/>
            </a:pPr>
            <a:r>
              <a:rPr lang="ko-KR" altLang="ko-KR" dirty="0">
                <a:latin typeface="Arial" pitchFamily="34" charset="0"/>
                <a:ea typeface="MS PGothic" pitchFamily="34" charset="-128"/>
              </a:rPr>
              <a:t>안녕하십니까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미래에셋자산운용 입니다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 err="1">
                <a:latin typeface="Arial" pitchFamily="34" charset="0"/>
                <a:ea typeface="MS PGothic" pitchFamily="34" charset="-128"/>
              </a:rPr>
              <a:t>미래에셋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밸런스알파플러스 증권자투자신탁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(</a:t>
            </a:r>
            <a:r>
              <a:rPr lang="ko-KR" altLang="en-US" dirty="0" err="1">
                <a:latin typeface="Arial" pitchFamily="34" charset="0"/>
                <a:ea typeface="MS PGothic" pitchFamily="34" charset="-128"/>
              </a:rPr>
              <a:t>채권혼합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)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에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대해서 설명 드리겠습니다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본 교육에는 상품에 대한 모든 내용을 포함하고 있지 않으며 향후 변경 가능한 내용도 있으므로 상품 판매 전 해당 상품의 투자설명서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제안서 등 정식 자료를 꼭 숙지하시기 바랍니다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11654-0CFB-44F3-B93D-CBFACCFEA8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0956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201" y="5654675"/>
            <a:ext cx="1970736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30003" y="5926138"/>
            <a:ext cx="6747988" cy="4429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838200"/>
            <a:ext cx="6388665" cy="4140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6466229" y="4799014"/>
            <a:ext cx="3409610" cy="17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630003" y="3937000"/>
            <a:ext cx="7313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텍스트 개체 틀 30"/>
          <p:cNvSpPr>
            <a:spLocks noGrp="1"/>
          </p:cNvSpPr>
          <p:nvPr>
            <p:ph type="body" sz="quarter" idx="10"/>
          </p:nvPr>
        </p:nvSpPr>
        <p:spPr>
          <a:xfrm>
            <a:off x="629902" y="194071"/>
            <a:ext cx="5024655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798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29902" y="1264983"/>
            <a:ext cx="5204106" cy="4909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19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9902" y="2874353"/>
            <a:ext cx="5204106" cy="565283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97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29902" y="4214169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29902" y="4474323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pic>
        <p:nvPicPr>
          <p:cNvPr id="3" name="그림 1">
            <a:extLst>
              <a:ext uri="{FF2B5EF4-FFF2-40B4-BE49-F238E27FC236}">
                <a16:creationId xmlns:a16="http://schemas.microsoft.com/office/drawing/2014/main" id="{169E5202-1F58-4B87-DB16-DE7344CC33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7" b="23427"/>
          <a:stretch>
            <a:fillRect/>
          </a:stretch>
        </p:blipFill>
        <p:spPr bwMode="auto">
          <a:xfrm>
            <a:off x="6470977" y="838201"/>
            <a:ext cx="3414359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526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 flipV="1">
            <a:off x="0" y="1312864"/>
            <a:ext cx="9877420" cy="46037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935507" y="757238"/>
            <a:ext cx="1305908" cy="461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>
              <a:defRPr/>
            </a:pPr>
            <a:r>
              <a:rPr lang="ko-KR" altLang="en-US" sz="2990" dirty="0">
                <a:solidFill>
                  <a:schemeClr val="accent2"/>
                </a:solidFill>
                <a:latin typeface="KoPub돋움체_Pro Bold" panose="02020603020101020101" pitchFamily="18" charset="-127"/>
              </a:rPr>
              <a:t>목차</a:t>
            </a:r>
            <a:endParaRPr lang="ko-KR" altLang="en-US" sz="2990" dirty="0">
              <a:solidFill>
                <a:schemeClr val="accent2"/>
              </a:solidFill>
            </a:endParaRP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57515" y="1725716"/>
            <a:ext cx="8435611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219" marR="0" indent="-251219" algn="l" defTabSz="455783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595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4498" indent="136102">
              <a:buFont typeface="+mj-lt"/>
              <a:buAutoNum type="arabicPeriod"/>
              <a:defRPr sz="1197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197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997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3492817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3821" y="3143392"/>
            <a:ext cx="8434241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393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63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92289" y="6494464"/>
            <a:ext cx="4530317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D845EB2A-307E-48F7-AC0E-842A20A97BCE}" type="slidenum">
              <a:rPr lang="en-US" sz="798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7540" y="896938"/>
            <a:ext cx="8900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32987" y="6494464"/>
            <a:ext cx="2955312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spc="2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spc="2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78042" y="6359525"/>
            <a:ext cx="8919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87511" y="1031108"/>
            <a:ext cx="8900816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5783" rtl="0" eaLnBrk="1" fontAlgn="auto" latinLnBrk="0" hangingPunct="1">
              <a:lnSpc>
                <a:spcPct val="110000"/>
              </a:lnSpc>
              <a:spcBef>
                <a:spcPts val="2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96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5783" indent="0">
              <a:buFontTx/>
              <a:buNone/>
              <a:defRPr sz="1994">
                <a:latin typeface="Noto Sans"/>
                <a:cs typeface="Noto Sans"/>
              </a:defRPr>
            </a:lvl2pPr>
            <a:lvl3pPr marL="911566" indent="0">
              <a:buFontTx/>
              <a:buNone/>
              <a:defRPr sz="1795">
                <a:latin typeface="Noto Sans"/>
                <a:cs typeface="Noto Sans"/>
              </a:defRPr>
            </a:lvl3pPr>
            <a:lvl4pPr marL="1367349" indent="0">
              <a:buFontTx/>
              <a:buNone/>
              <a:defRPr sz="1595">
                <a:latin typeface="Noto Sans"/>
                <a:cs typeface="Noto Sans"/>
              </a:defRPr>
            </a:lvl4pPr>
            <a:lvl5pPr marL="1823132" indent="0">
              <a:buFontTx/>
              <a:buNone/>
              <a:defRPr sz="1595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2286" y="567303"/>
            <a:ext cx="646027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1994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27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406" y="5648326"/>
            <a:ext cx="170322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88" y="2935288"/>
            <a:ext cx="8394462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8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5693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911383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36707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822767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227845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73415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3189843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64553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88616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 판매사 사내한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7" name="직사각형 16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8" name="그림 17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9" name="직선 연결선 18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20190" cy="11401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효과를 배제하여 인쇄 환경에서의 호환성을 높일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7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</p:spTree>
    <p:extLst>
      <p:ext uri="{BB962C8B-B14F-4D97-AF65-F5344CB8AC3E}">
        <p14:creationId xmlns:p14="http://schemas.microsoft.com/office/powerpoint/2010/main" val="2036042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106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163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983055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25184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64678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5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488189" y="6497276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28" name="직선 연결선[R] 11">
            <a:extLst>
              <a:ext uri="{FF2B5EF4-FFF2-40B4-BE49-F238E27FC236}">
                <a16:creationId xmlns:a16="http://schemas.microsoft.com/office/drawing/2014/main" id="{A6FA0130-74BE-5E5A-09E0-3D4E7352D96A}"/>
              </a:ext>
            </a:extLst>
          </p:cNvPr>
          <p:cNvCxnSpPr>
            <a:cxnSpLocks/>
          </p:cNvCxnSpPr>
          <p:nvPr userDrawn="1"/>
        </p:nvCxnSpPr>
        <p:spPr>
          <a:xfrm>
            <a:off x="-10071" y="859732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65772FF5-A371-BDBF-EEBF-63F0E4A59D91}"/>
              </a:ext>
            </a:extLst>
          </p:cNvPr>
          <p:cNvCxnSpPr>
            <a:cxnSpLocks/>
          </p:cNvCxnSpPr>
          <p:nvPr userDrawn="1"/>
        </p:nvCxnSpPr>
        <p:spPr>
          <a:xfrm>
            <a:off x="-10071" y="6363137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788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55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2pPr>
      <a:lvl3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3pPr>
      <a:lvl4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4pPr>
      <a:lvl5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5pPr>
      <a:lvl6pPr marL="455874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6pPr>
      <a:lvl7pPr marL="911748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7pPr>
      <a:lvl8pPr marL="1367622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8pPr>
      <a:lvl9pPr marL="1823496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9pPr>
    </p:titleStyle>
    <p:bodyStyle>
      <a:lvl1pPr marL="226355" indent="-226355" algn="l" defTabSz="910166" rtl="0" eaLnBrk="0" fontAlgn="base" latinLnBrk="1" hangingPunct="0">
        <a:lnSpc>
          <a:spcPct val="90000"/>
        </a:lnSpc>
        <a:spcBef>
          <a:spcPts val="997"/>
        </a:spcBef>
        <a:spcAft>
          <a:spcPct val="0"/>
        </a:spcAft>
        <a:buFont typeface="Arial" panose="020B0604020202020204" pitchFamily="34" charset="0"/>
        <a:buChar char="•"/>
        <a:defRPr sz="2692" kern="1200">
          <a:solidFill>
            <a:schemeClr val="tx1"/>
          </a:solidFill>
          <a:latin typeface="+mn-lt"/>
          <a:ea typeface="+mn-ea"/>
          <a:cs typeface="+mn-cs"/>
        </a:defRPr>
      </a:lvl1pPr>
      <a:lvl2pPr marL="682229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2393" kern="1200">
          <a:solidFill>
            <a:schemeClr val="tx1"/>
          </a:solidFill>
          <a:latin typeface="+mn-lt"/>
          <a:ea typeface="+mn-ea"/>
          <a:cs typeface="+mn-cs"/>
        </a:defRPr>
      </a:lvl2pPr>
      <a:lvl3pPr marL="1138103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3pPr>
      <a:lvl4pPr marL="1593977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49851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06806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590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372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155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566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349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132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8915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697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481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26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 bwMode="auto">
          <a:xfrm>
            <a:off x="630003" y="1453516"/>
            <a:ext cx="5456720" cy="4296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z="2792" dirty="0"/>
              <a:t>AI Top2 변동성 하베스트 펀드 제안서</a:t>
            </a:r>
          </a:p>
        </p:txBody>
      </p:sp>
      <p:sp>
        <p:nvSpPr>
          <p:cNvPr id="10244" name="텍스트 개체 틀 3"/>
          <p:cNvSpPr>
            <a:spLocks noGrp="1"/>
          </p:cNvSpPr>
          <p:nvPr>
            <p:ph type="body" sz="quarter" idx="13"/>
          </p:nvPr>
        </p:nvSpPr>
        <p:spPr bwMode="auto">
          <a:xfrm>
            <a:off x="630003" y="4212546"/>
            <a:ext cx="4485995" cy="1836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ko-KR" altLang="en-US" dirty="0" err="1"/>
              <a:t>미래에셋자산운용 AI금융공학운용부문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10245" name="텍스트 개체 틀 5"/>
          <p:cNvSpPr>
            <a:spLocks noGrp="1"/>
          </p:cNvSpPr>
          <p:nvPr>
            <p:ph type="body" sz="quarter" idx="15"/>
          </p:nvPr>
        </p:nvSpPr>
        <p:spPr bwMode="auto">
          <a:xfrm>
            <a:off x="630003" y="4470561"/>
            <a:ext cx="4485995" cy="1852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en-US" altLang="ko-KR" dirty="0"/>
              <a:t>2026.07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752A20-2DB7-3BAE-D5CD-0070F3FD4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850392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하베스트 펀드 — AI Top2 (삼성전자·SK하이닉스) (가칭)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개  요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기초자산 편입비를 조절하는 변동성 매매를 통해, 역대급으로 높아진 변동성을 수익으로 전환하는 전략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AI Top2 — 삼성전자·SK하이닉스 (동일가중)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연 60% (최근 실현변동성 대비 보수적 가정)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운용 전략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변동성 매매(저가매수·고가매도)로 수익 추구 + 상승 방향 참여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유형 구분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안정변동성펀드(안정 변동성 매매) / 성장변동성펀드(변동성 매매 + 상승 참여)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국내 주식형 파생 (공모 / 사모 · 일임)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투자 등급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만  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1년 (예시) · 일별 리밸런싱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최저가입금액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85953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① — 역대급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한국시장 변동성이 최근 5년 중 최고 수준입니다(2026-07-10 기준, 60영업일 연율화). 변동성이 클수록 변동성 매매의 수익 기회가 커집니다.</a:t>
            </a:r>
          </a:p>
        </p:txBody>
      </p:sp>
      <p:pic>
        <p:nvPicPr>
          <p:cNvPr id="7" name="Picture 6" descr="vol_se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8869680" cy="400810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486400"/>
            <a:ext cx="8503920" cy="658368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813816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지금은 변동성을 '피할' 때가 아니라 '수확'하기 가장 유리한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② — 당분간 제한적 방향성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상방엔 매물벽, 하방엔 저평가 — 한쪽으로 크게 쏠린 방향성이 나오기 어려운 국면입니다.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686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43B72"/>
                </a:solidFill>
                <a:latin typeface="맑은 고딕"/>
              </a:rPr>
              <a:t>① 상방을 누르는 수급 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269748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33472"/>
            <a:ext cx="237744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초과·국내주식 축소 기조로, 지수가 오를수록 대기 매도 물량이 상단에서 출회.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29968"/>
            <a:ext cx="269748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33472"/>
            <a:ext cx="237744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반도체 쏠림에 따른 지수 편입비 조정·차익 실현으로 상승 국면에서 매도 우위가 반복.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269748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33472"/>
            <a:ext cx="237744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단기 급등에 올라탄 과도한 매수 포지션이 반등 시마다 차익실현(상승 시 매도 대응)으로 전환.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26280"/>
            <a:ext cx="8503920" cy="822960"/>
          </a:xfrm>
          <a:prstGeom prst="rect">
            <a:avLst/>
          </a:prstGeom>
          <a:solidFill>
            <a:srgbClr val="EC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81381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9E6E"/>
                </a:solidFill>
                <a:latin typeface="맑은 고딕"/>
              </a:rPr>
              <a:t>② 하방을 받치는 밸류에이션: </a:t>
            </a:r>
            <a:r>
              <a:rPr sz="1250" b="1">
                <a:solidFill>
                  <a:srgbClr val="3A3A3A"/>
                </a:solidFill>
                <a:latin typeface="맑은 고딕"/>
              </a:rPr>
              <a:t>삼성전자·SK하이닉스 저평가 — 실적 대비 낮은 밸류에이션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84888B"/>
                </a:solidFill>
                <a:latin typeface="맑은 고딕"/>
              </a:rPr>
              <a:t>   ※ 세부 밸류에이션 수치는 별도 보고서 반영 예정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504688"/>
            <a:ext cx="8503920" cy="64008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04688"/>
            <a:ext cx="81381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상방 제한 + 하방 지지 = 좁은 등락 반복 → 방향성 베팅보다 변동성 매매가 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04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③ — 레버리지가 키운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단일종목 레버리지 ETF 급증이 삼성전자·SK하이닉스와 지수 변동성을 구조적으로 키우고 있습니다.</a:t>
            </a:r>
          </a:p>
        </p:txBody>
      </p:sp>
      <p:pic>
        <p:nvPicPr>
          <p:cNvPr id="7" name="Picture 6" descr="lev_a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160520" cy="2558699"/>
          </a:xfrm>
          <a:prstGeom prst="rect">
            <a:avLst/>
          </a:prstGeom>
        </p:spPr>
      </p:pic>
      <p:pic>
        <p:nvPicPr>
          <p:cNvPr id="8" name="Picture 7" descr="idx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4160520" cy="25586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224528"/>
            <a:ext cx="8503920" cy="190195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8138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43B72"/>
                </a:solidFill>
                <a:latin typeface="맑은 고딕"/>
              </a:rPr>
              <a:t>변동성이 변동성을 부르는 되먹임 — 두 종목이 KOSPI200의 </a:t>
            </a:r>
            <a:r>
              <a:rPr sz="1300" b="1">
                <a:solidFill>
                  <a:srgbClr val="F58220"/>
                </a:solidFill>
                <a:latin typeface="맑은 고딕"/>
              </a:rPr>
              <a:t>51.5%</a:t>
            </a:r>
            <a:r>
              <a:rPr sz="1200" b="0">
                <a:solidFill>
                  <a:srgbClr val="3A3A3A"/>
                </a:solidFill>
                <a:latin typeface="맑은 고딕"/>
              </a:rPr>
              <a:t> (연초 38.7%→5월)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① 지수·종목 흔들림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② 지수의 절반인
두 종목 급등락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③ 레버리지 종가
순응매매(±10%→2.6조)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290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④ 지수 변동성
재확대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05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레버리지의 '잠식'을 우리는 '수확'으로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같은 변동성, 정반대 매매 — 레버리지 ETF가 '잃는' 그 변동성을 본 펀드는 '수익'으로 전환합니다.</a:t>
            </a:r>
          </a:p>
        </p:txBody>
      </p:sp>
      <p:pic>
        <p:nvPicPr>
          <p:cNvPr id="7" name="Picture 6" descr="deca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389120" cy="26992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20640" y="1417320"/>
            <a:ext cx="4069080" cy="1280160"/>
          </a:xfrm>
          <a:prstGeom prst="rect">
            <a:avLst/>
          </a:prstGeom>
          <a:solidFill>
            <a:srgbClr val="F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0" y="1417320"/>
            <a:ext cx="4069080" cy="457200"/>
          </a:xfrm>
          <a:prstGeom prst="rect">
            <a:avLst/>
          </a:prstGeom>
          <a:solidFill>
            <a:srgbClr val="D02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44475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레버리지 ETF — 변동성에 '잠식'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965960"/>
            <a:ext cx="3749039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A3A3A"/>
                </a:solidFill>
                <a:latin typeface="맑은 고딕"/>
              </a:rPr>
              <a:t>매일 고가매수·저가매도(추세 순응 리밸런싱)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A3A"/>
                </a:solidFill>
                <a:latin typeface="맑은 고딕"/>
              </a:rPr>
              <a:t>→ 변동성이 클수록 자산이 녹는다 (기초 제자리인데 −20%)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61488"/>
            <a:ext cx="40690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▼ 정반대 매매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108960"/>
            <a:ext cx="406908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3108960"/>
            <a:ext cx="40690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13639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변동성 하베스트 펀드 — 변동성을 '수확'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657600"/>
            <a:ext cx="3749039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43B72"/>
                </a:solidFill>
                <a:latin typeface="맑은 고딕"/>
              </a:rPr>
              <a:t>주가↓ 비중↑(저가매수)·주가↑ 비중↓(고가매도)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A3A"/>
                </a:solidFill>
                <a:latin typeface="맑은 고딕"/>
              </a:rPr>
              <a:t>→ 확대된 변동성을 매매 수익으로 전환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81381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핵심: 레버리지가 '잃는' 바로 그 변동성을, 본 펀드는 '수확'한다.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3A3A3A"/>
                </a:solidFill>
                <a:latin typeface="맑은 고딕"/>
              </a:rPr>
              <a:t>변동성이 클수록(=잠식이 클수록) 본 펀드의 수익 기회는 오히려 커진다.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06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결론 — 변동성↑ × 방향성↓ 국면의 최적해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2412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변동성은 높고 방향성은 제한적인 지금, 변동성 하베스트 펀드가 가장 잘 맞는 국면입니다.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45920"/>
            <a:ext cx="3154680" cy="18745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38528" y="1755648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변동성 하베스트 펀드 ★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← 현재 국면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8344" y="1645920"/>
            <a:ext cx="3154680" cy="1874519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48072" y="1755648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레버리지·추세추종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방향 확신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575304"/>
            <a:ext cx="3154680" cy="1874519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3685032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현금성·채권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관망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3575304"/>
            <a:ext cx="3154680" cy="1874519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48072" y="3685032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인덱스·방향투자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방향 베팅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645920"/>
            <a:ext cx="10515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43B72"/>
                </a:solidFill>
                <a:latin typeface="맑은 고딕"/>
              </a:rPr>
              <a:t>변동성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29783"/>
            <a:ext cx="10515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43B72"/>
                </a:solidFill>
                <a:latin typeface="맑은 고딕"/>
              </a:rPr>
              <a:t>변동성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22975"/>
            <a:ext cx="6364224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43B72"/>
                </a:solidFill>
                <a:latin typeface="맑은 고딕"/>
              </a:rPr>
              <a:t>← 방향성 약함           방향성 강함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806440"/>
            <a:ext cx="8503920" cy="603504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8138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변동성은 '수확'하고 방향성 부재 리스크는 '회피' = 변동성 하베스트 펀드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07 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전략 — 변동성 매매 + 방향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변동성이 높아 매매 기회는 많고, 방향은 위(상승 참여)라는 두 관점을 하나의 포트폴리오에 결합.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96596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변동성 매매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저가매수·고가매도를 반복하여 높아진 변동성을 수익으로 전환.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0040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방향 투자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상승 구간 추가 수익. 실적·AI·레버리지 수급의 상방에 베팅.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solidFill>
            <a:srgbClr val="00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3484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454456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리스크 관리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최대 편입비 180% 제한 · 급락 시 편입비 축소로 하방 완충.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08 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어떻게 운용하는가 — 저가매수·고가매도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시장이 빠지면 편입을 늘리고(저가매수), 오르면 줄인다(고가매도). 등락(변동성)을 매매로 수취합니다.</a:t>
            </a:r>
          </a:p>
        </p:txBody>
      </p:sp>
      <p:pic>
        <p:nvPicPr>
          <p:cNvPr id="7" name="Picture 6" descr="op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503920" cy="42742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623560"/>
            <a:ext cx="8503920" cy="54864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81381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레버리지 ETF의 '고가매수·저가매도'와 정반대 — 변동성을 잃지 않고 '수취'하는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09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수익 구조 — 성장변동성펀드 (변동성 매매 + 상승 참여)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3A3A"/>
                </a:solidFill>
                <a:latin typeface="맑은 고딕"/>
              </a:rPr>
              <a:t>운용 중 -40% 미도달 시 상승에 참여, -40% 도달 시 하방에 노출됩니다. 시뮬레이션 결과(각 점=1회).</a:t>
            </a:r>
          </a:p>
        </p:txBody>
      </p:sp>
      <p:pic>
        <p:nvPicPr>
          <p:cNvPr id="7" name="Picture 6" descr="scat_top2_growth_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4526280" cy="3655842"/>
          </a:xfrm>
          <a:prstGeom prst="rect">
            <a:avLst/>
          </a:prstGeom>
        </p:spPr>
      </p:pic>
      <p:pic>
        <p:nvPicPr>
          <p:cNvPr id="8" name="Picture 7" descr="scat_top2_growth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4526280" cy="36558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98932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σ 60% 가정 · 점=시뮬 1회 · </a:t>
            </a:r>
            <a:r>
              <a:rPr sz="900" b="1">
                <a:solidFill>
                  <a:srgbClr val="F58220"/>
                </a:solidFill>
                <a:latin typeface="맑은 고딕"/>
              </a:rPr>
              <a:t>노란선=구간 평균</a:t>
            </a:r>
            <a:r>
              <a:rPr sz="900" b="0">
                <a:solidFill>
                  <a:srgbClr val="84888B"/>
                </a:solidFill>
                <a:latin typeface="맑은 고딕"/>
              </a:rPr>
              <a:t> · 데이터: 자체 시뮬레이션(거래비용·운용오차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10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수익 구조 — 안정변동성펀드 (안정 변동성 매매)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보합·상승 구간에서 변동성 매매 수익을 안정적으로 확보(상단 고정), 급락 시 손실이 누적됩니다.</a:t>
            </a:r>
          </a:p>
        </p:txBody>
      </p:sp>
      <p:pic>
        <p:nvPicPr>
          <p:cNvPr id="7" name="Picture 6" descr="scat_top2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63040"/>
            <a:ext cx="7040880" cy="4054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98932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σ 60% 가정 · 점=시뮬 1회 · </a:t>
            </a:r>
            <a:r>
              <a:rPr sz="900" b="1">
                <a:solidFill>
                  <a:srgbClr val="F58220"/>
                </a:solidFill>
                <a:latin typeface="맑은 고딕"/>
              </a:rPr>
              <a:t>노란선=구간 평균</a:t>
            </a:r>
            <a:r>
              <a:rPr sz="900" b="0">
                <a:solidFill>
                  <a:srgbClr val="84888B"/>
                </a:solidFill>
                <a:latin typeface="맑은 고딕"/>
              </a:rPr>
              <a:t> · 데이터: 자체 시뮬레이션(거래비용·운용오차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11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하방 손실 위험 (최대 위험요소): 전략 특성상 기초자산 급락 시 손실이 누적되며 원금의 상당 부분 손실이 가능합니다.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운용오차: 이산 리밸런싱·급변동·갭 하락 시 이론 수익과 실현손익이 크게 벌어질 수 있습니다(시뮬레이션상 이탈 사례 확인).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편입비 상한(180%) 효과: 급변동 구간에서 편입비 조절이 제한되어 추가 오차가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급락 국면 위험: 급격한 하락 시 하방 완충이 제한되어 손실에 노출될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3A3A3A"/>
                </a:solidFill>
                <a:latin typeface="맑은 고딕"/>
              </a:rPr>
              <a:t>■ 단일종목 집중 위험(AI Top2)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가정보다 낮아지면 변동성 매매 수익 기회가 줄어 기대수익에 미달할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4888B"/>
                </a:solidFill>
                <a:latin typeface="맑은 고딕"/>
              </a:rPr>
              <a:t>삼성전자·SK하이닉스 2종목에 집중되어 개별기업·반도체 사이클 리스크에 크게 노출됩니다.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1등급(매우 높은 위험)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28016" cy="5029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운용부서 및 유의사항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82296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0A9CE"/>
                </a:solidFill>
                <a:latin typeface="맑은 고딕"/>
              </a:rPr>
              <a:t>AI금융공학운용부문 전략운용본부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Mission: 투자자 입장에서 장기 플러스 수익 달성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정량적 분석과 정성적 리서치의 균형 · One Team Approach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커버드콜·국내인덱스+·절대수익·구조화·Custom Mandate 등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46320"/>
            <a:ext cx="813816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· 본 자료는 컴플라이언스 검토 전 내부 검토용 초안이며 대외 배포를 금합니다.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랩/펀드 계약은 예금자보호법에 따라 보호되지 않으며, 자산가격·환율·신용 변동에 따라 원금손실(0~100%)이 발생할 수 있습니다.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상기 시뮬레이션은 가정에 의거한 예시로 수익을 보장하지 않으며 실제 결과와 다를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1397</Words>
  <Application>Microsoft Office PowerPoint</Application>
  <PresentationFormat>사용자 지정</PresentationFormat>
  <Paragraphs>151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Theme</vt:lpstr>
      <vt:lpstr>1_Office 테마</vt:lpstr>
      <vt:lpstr>변동성매매 자문상품 제안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Lee, Hyun Kyung (이현경)</cp:lastModifiedBy>
  <cp:revision>2</cp:revision>
  <dcterms:created xsi:type="dcterms:W3CDTF">2013-01-27T09:14:16Z</dcterms:created>
  <dcterms:modified xsi:type="dcterms:W3CDTF">2026-07-15T05:28:38Z</dcterms:modified>
  <cp:category/>
</cp:coreProperties>
</file>