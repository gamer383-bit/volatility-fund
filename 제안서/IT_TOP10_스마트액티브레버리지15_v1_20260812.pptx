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5" r:id="rId1"/>
  </p:sldMasterIdLst>
  <p:notesMasterIdLst>
    <p:notesMasterId r:id="rId26"/>
  </p:notesMasterIdLst>
  <p:handoutMasterIdLst>
    <p:handoutMasterId r:id="rId27"/>
  </p:handoutMasterIdLst>
  <p:sldIdLst>
    <p:sldId id="369" r:id="rId2"/>
    <p:sldId id="1073" r:id="rId3"/>
    <p:sldId id="392" r:id="rId4"/>
    <p:sldId id="1076" r:id="rId5"/>
    <p:sldId id="1090" r:id="rId6"/>
    <p:sldId id="1091" r:id="rId7"/>
    <p:sldId id="1092" r:id="rId8"/>
    <p:sldId id="1093" r:id="rId9"/>
    <p:sldId id="396" r:id="rId10"/>
    <p:sldId id="397" r:id="rId11"/>
    <p:sldId id="398" r:id="rId12"/>
    <p:sldId id="1094" r:id="rId13"/>
    <p:sldId id="412" r:id="rId14"/>
    <p:sldId id="411" r:id="rId15"/>
    <p:sldId id="399" r:id="rId16"/>
    <p:sldId id="413" r:id="rId17"/>
    <p:sldId id="402" r:id="rId18"/>
    <p:sldId id="414" r:id="rId19"/>
    <p:sldId id="404" r:id="rId20"/>
    <p:sldId id="405" r:id="rId21"/>
    <p:sldId id="390" r:id="rId22"/>
    <p:sldId id="391" r:id="rId23"/>
    <p:sldId id="368" r:id="rId24"/>
    <p:sldId id="272" r:id="rId25"/>
  </p:sldIdLst>
  <p:sldSz cx="9906000" cy="6858000" type="A4"/>
  <p:notesSz cx="6797675" cy="987266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6" pos="308" userDrawn="1">
          <p15:clr>
            <a:srgbClr val="A4A3A4"/>
          </p15:clr>
        </p15:guide>
        <p15:guide id="7" pos="5932" userDrawn="1">
          <p15:clr>
            <a:srgbClr val="A4A3A4"/>
          </p15:clr>
        </p15:guide>
        <p15:guide id="8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CEE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307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1976" y="96"/>
      </p:cViewPr>
      <p:guideLst>
        <p:guide pos="308"/>
        <p:guide pos="5932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 showGuides="1">
      <p:cViewPr varScale="1">
        <p:scale>
          <a:sx n="110" d="100"/>
          <a:sy n="110" d="100"/>
        </p:scale>
        <p:origin x="1728" y="84"/>
      </p:cViewPr>
      <p:guideLst/>
    </p:cSldViewPr>
  </p:notesViewPr>
  <p:gridSpacing cx="36004" cy="36004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handoutMaster" Target="handoutMasters/handout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2"/>
            <a:ext cx="2946058" cy="4957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530" y="2"/>
            <a:ext cx="2946058" cy="4957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8E73C7-FF93-42E3-9DA7-136DBA8B1534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376955"/>
            <a:ext cx="2946058" cy="49570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530" y="9376955"/>
            <a:ext cx="2946058" cy="49570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1E5F639-59E9-4B64-B87F-8C8C943E34B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863626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2"/>
            <a:ext cx="2946058" cy="4957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530" y="2"/>
            <a:ext cx="2946058" cy="4957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00FC40-E8E8-4274-A32B-67D049C7787A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93775" y="1233488"/>
            <a:ext cx="4810125" cy="3330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42" y="4751884"/>
            <a:ext cx="5438792" cy="38872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376955"/>
            <a:ext cx="2946058" cy="49570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530" y="9376955"/>
            <a:ext cx="2946058" cy="49570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302222-9480-454D-AA47-108B6685E1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88423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defTabSz="950976" latinLnBrk="1">
              <a:defRPr/>
            </a:pPr>
            <a:fld id="{3D023879-44A4-41D3-A74B-48C3E51180A7}" type="slidenum">
              <a:rPr lang="ko-KR" altLang="en-US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pPr defTabSz="950976" latinLnBrk="1">
                <a:defRPr/>
              </a:pPr>
              <a:t>2</a:t>
            </a:fld>
            <a:endParaRPr lang="ko-KR" altLang="en-US" dirty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860463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323D3-04C6-567E-D5B9-79362D3D4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이미지 개체 틀 1">
            <a:extLst>
              <a:ext uri="{FF2B5EF4-FFF2-40B4-BE49-F238E27FC236}">
                <a16:creationId xmlns:a16="http://schemas.microsoft.com/office/drawing/2014/main" id="{3B067ACB-D183-C188-249F-2C4A12781519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슬라이드 노트 개체 틀 2">
            <a:extLst>
              <a:ext uri="{FF2B5EF4-FFF2-40B4-BE49-F238E27FC236}">
                <a16:creationId xmlns:a16="http://schemas.microsoft.com/office/drawing/2014/main" id="{E7E5680B-84A8-7C87-2767-33A24B10EA3F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 dirty="0"/>
          </a:p>
        </p:txBody>
      </p:sp>
      <p:sp>
        <p:nvSpPr>
          <p:cNvPr id="16388" name="슬라이드 번호 개체 틀 3">
            <a:extLst>
              <a:ext uri="{FF2B5EF4-FFF2-40B4-BE49-F238E27FC236}">
                <a16:creationId xmlns:a16="http://schemas.microsoft.com/office/drawing/2014/main" id="{7F2D5E17-8554-5549-0F19-1448689274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39532" indent="-284436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37742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594420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49517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0461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59710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14807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6990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latinLnBrk="1"/>
            <a:fld id="{6A22ADF7-9E90-4334-9172-BF3632A39207}" type="slidenum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latinLnBrk="1"/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076225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9779E-AC33-60A0-4B7E-7D4242813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이미지 개체 틀 1">
            <a:extLst>
              <a:ext uri="{FF2B5EF4-FFF2-40B4-BE49-F238E27FC236}">
                <a16:creationId xmlns:a16="http://schemas.microsoft.com/office/drawing/2014/main" id="{DF62C4B9-3E90-D571-0B72-DE2D8D14F0A7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슬라이드 노트 개체 틀 2">
            <a:extLst>
              <a:ext uri="{FF2B5EF4-FFF2-40B4-BE49-F238E27FC236}">
                <a16:creationId xmlns:a16="http://schemas.microsoft.com/office/drawing/2014/main" id="{C32E5165-B303-7B3C-02F4-5F5163549167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 dirty="0"/>
          </a:p>
        </p:txBody>
      </p:sp>
      <p:sp>
        <p:nvSpPr>
          <p:cNvPr id="16388" name="슬라이드 번호 개체 틀 3">
            <a:extLst>
              <a:ext uri="{FF2B5EF4-FFF2-40B4-BE49-F238E27FC236}">
                <a16:creationId xmlns:a16="http://schemas.microsoft.com/office/drawing/2014/main" id="{CFF8EC97-8239-E8A4-22F3-412231BB03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39532" indent="-284436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37742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594420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49517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0461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59710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14807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6990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latinLnBrk="1"/>
            <a:fld id="{6A22ADF7-9E90-4334-9172-BF3632A39207}" type="slidenum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latinLnBrk="1"/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5094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4A272-5B7D-4E7D-3BA0-BA7424CBA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이미지 개체 틀 1">
            <a:extLst>
              <a:ext uri="{FF2B5EF4-FFF2-40B4-BE49-F238E27FC236}">
                <a16:creationId xmlns:a16="http://schemas.microsoft.com/office/drawing/2014/main" id="{F6FA8FBE-539F-7771-E61A-38EBFEFA60CB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슬라이드 노트 개체 틀 2">
            <a:extLst>
              <a:ext uri="{FF2B5EF4-FFF2-40B4-BE49-F238E27FC236}">
                <a16:creationId xmlns:a16="http://schemas.microsoft.com/office/drawing/2014/main" id="{81E9217C-DEEE-32AE-0706-A3D4172CCEE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 dirty="0"/>
          </a:p>
        </p:txBody>
      </p:sp>
      <p:sp>
        <p:nvSpPr>
          <p:cNvPr id="16388" name="슬라이드 번호 개체 틀 3">
            <a:extLst>
              <a:ext uri="{FF2B5EF4-FFF2-40B4-BE49-F238E27FC236}">
                <a16:creationId xmlns:a16="http://schemas.microsoft.com/office/drawing/2014/main" id="{4D9DCA3B-4710-090F-E334-2FAE9B93A8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39532" indent="-284436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37742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594420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49517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0461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59710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14807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6990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latinLnBrk="1"/>
            <a:fld id="{6A22ADF7-9E90-4334-9172-BF3632A39207}" type="slidenum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latinLnBrk="1"/>
              <a:t>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145126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EBDDA-6D15-6423-EDE5-542361397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이미지 개체 틀 1">
            <a:extLst>
              <a:ext uri="{FF2B5EF4-FFF2-40B4-BE49-F238E27FC236}">
                <a16:creationId xmlns:a16="http://schemas.microsoft.com/office/drawing/2014/main" id="{8DF98D32-7595-AEFA-9FDA-FD4A3C70E485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슬라이드 노트 개체 틀 2">
            <a:extLst>
              <a:ext uri="{FF2B5EF4-FFF2-40B4-BE49-F238E27FC236}">
                <a16:creationId xmlns:a16="http://schemas.microsoft.com/office/drawing/2014/main" id="{89EB638F-664B-350B-DAE8-B9E239D225B2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 dirty="0"/>
          </a:p>
        </p:txBody>
      </p:sp>
      <p:sp>
        <p:nvSpPr>
          <p:cNvPr id="16388" name="슬라이드 번호 개체 틀 3">
            <a:extLst>
              <a:ext uri="{FF2B5EF4-FFF2-40B4-BE49-F238E27FC236}">
                <a16:creationId xmlns:a16="http://schemas.microsoft.com/office/drawing/2014/main" id="{FAEF88D3-BB36-F06A-65E8-0D1E8B0587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39532" indent="-284436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37742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594420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49517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0461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59710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14807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6990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latinLnBrk="1"/>
            <a:fld id="{6A22ADF7-9E90-4334-9172-BF3632A39207}" type="slidenum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latinLnBrk="1"/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6551763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jpe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0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</p:spTree>
    <p:extLst>
      <p:ext uri="{BB962C8B-B14F-4D97-AF65-F5344CB8AC3E}">
        <p14:creationId xmlns:p14="http://schemas.microsoft.com/office/powerpoint/2010/main" val="9797579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14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  <a:r>
              <a:rPr lang="en-US" altLang="ko-KR" sz="800" b="0" i="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87222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0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</p:spTree>
    <p:extLst>
      <p:ext uri="{BB962C8B-B14F-4D97-AF65-F5344CB8AC3E}">
        <p14:creationId xmlns:p14="http://schemas.microsoft.com/office/powerpoint/2010/main" val="25727902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14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  <a:r>
              <a:rPr lang="en-US" altLang="ko-KR" sz="800" b="0" i="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79253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직사각형 32"/>
          <p:cNvSpPr/>
          <p:nvPr userDrawn="1"/>
        </p:nvSpPr>
        <p:spPr>
          <a:xfrm>
            <a:off x="794" y="1"/>
            <a:ext cx="9904413" cy="949591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34" name="직사각형 33"/>
          <p:cNvSpPr/>
          <p:nvPr userDrawn="1"/>
        </p:nvSpPr>
        <p:spPr>
          <a:xfrm flipV="1">
            <a:off x="794" y="946937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8605838" cy="110800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0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7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16" name="직선 연결선[R] 11"/>
          <p:cNvCxnSpPr/>
          <p:nvPr userDrawn="1"/>
        </p:nvCxnSpPr>
        <p:spPr>
          <a:xfrm>
            <a:off x="631942" y="4553991"/>
            <a:ext cx="733111" cy="0"/>
          </a:xfrm>
          <a:prstGeom prst="line">
            <a:avLst/>
          </a:prstGeom>
          <a:ln w="38100">
            <a:solidFill>
              <a:srgbClr val="F5822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0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848064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5108218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</p:spTree>
    <p:extLst>
      <p:ext uri="{BB962C8B-B14F-4D97-AF65-F5344CB8AC3E}">
        <p14:creationId xmlns:p14="http://schemas.microsoft.com/office/powerpoint/2010/main" val="20145547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5"/>
          <p:cNvSpPr txBox="1">
            <a:spLocks/>
          </p:cNvSpPr>
          <p:nvPr userDrawn="1"/>
        </p:nvSpPr>
        <p:spPr>
          <a:xfrm>
            <a:off x="631825" y="5923846"/>
            <a:ext cx="6768000" cy="465640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4000"/>
              </a:lnSpc>
            </a:pP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9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  <a:r>
              <a:rPr lang="en-US" altLang="ko-KR" sz="900" b="0" i="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8" name="TextBox 17"/>
          <p:cNvSpPr txBox="1">
            <a:spLocks noChangeArrowheads="1"/>
          </p:cNvSpPr>
          <p:nvPr userDrawn="1"/>
        </p:nvSpPr>
        <p:spPr bwMode="auto">
          <a:xfrm>
            <a:off x="631825" y="5610971"/>
            <a:ext cx="6768000" cy="1815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eaLnBrk="1" hangingPunct="1">
              <a:defRPr/>
            </a:pPr>
            <a:r>
              <a:rPr lang="en-US" altLang="ko-KR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※ </a:t>
            </a:r>
            <a:r>
              <a:rPr lang="ko-KR" altLang="en-US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본 자료는 </a:t>
            </a:r>
            <a:r>
              <a:rPr lang="ko-KR" altLang="en-US" sz="1180" b="1" dirty="0" err="1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판매사</a:t>
            </a:r>
            <a:r>
              <a:rPr lang="ko-KR" altLang="en-US" sz="118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</a:t>
            </a:r>
            <a:r>
              <a:rPr lang="ko-KR" altLang="en-US" sz="1180" b="1" dirty="0" err="1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사내한</a:t>
            </a:r>
            <a:r>
              <a:rPr lang="ko-KR" altLang="en-US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자료로 작성되었으며 투자자에게 배포될 수 없습니다</a:t>
            </a:r>
            <a:r>
              <a:rPr lang="en-US" altLang="ko-KR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. </a:t>
            </a:r>
            <a:r>
              <a:rPr lang="ko-KR" altLang="en-US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외부 유출에 유의해 주십시오</a:t>
            </a:r>
            <a:r>
              <a:rPr lang="en-US" altLang="ko-KR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.</a:t>
            </a:r>
            <a:endParaRPr lang="ko-KR" altLang="en-US" sz="1180" b="1" dirty="0">
              <a:solidFill>
                <a:srgbClr val="E12F00"/>
              </a:solidFill>
              <a:latin typeface="KoPub돋움체_Pro Bold" pitchFamily="18" charset="-127"/>
              <a:ea typeface="KoPub돋움체_Pro Bold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11661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1836" y="5834062"/>
            <a:ext cx="1746821" cy="475298"/>
          </a:xfrm>
          <a:prstGeom prst="rect">
            <a:avLst/>
          </a:prstGeom>
        </p:spPr>
      </p:pic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4" y="5913437"/>
            <a:ext cx="4561693" cy="631455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14000"/>
              </a:lnSpc>
            </a:pP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9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  <a:r>
              <a:rPr lang="en-US" altLang="ko-KR" sz="900" b="0" i="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Box 10"/>
          <p:cNvSpPr txBox="1">
            <a:spLocks noChangeArrowheads="1"/>
          </p:cNvSpPr>
          <p:nvPr userDrawn="1"/>
        </p:nvSpPr>
        <p:spPr bwMode="auto">
          <a:xfrm>
            <a:off x="454358" y="5414729"/>
            <a:ext cx="4820011" cy="3750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eaLnBrk="1" hangingPunct="1">
              <a:lnSpc>
                <a:spcPct val="105000"/>
              </a:lnSpc>
              <a:defRPr/>
            </a:pPr>
            <a:r>
              <a:rPr lang="en-US" altLang="ko-KR" sz="1180" b="0" spc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※ </a:t>
            </a:r>
            <a:r>
              <a:rPr lang="ko-KR" altLang="en-US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본 자료는 </a:t>
            </a:r>
            <a:r>
              <a:rPr lang="ko-KR" altLang="en-US" sz="1180" b="0" spc="0" baseline="0" dirty="0" err="1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판매사</a:t>
            </a:r>
            <a:r>
              <a:rPr lang="ko-KR" altLang="en-US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</a:t>
            </a:r>
            <a:r>
              <a:rPr lang="ko-KR" altLang="en-US" sz="1180" b="0" spc="0" baseline="0" dirty="0" err="1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사내한</a:t>
            </a:r>
            <a:r>
              <a:rPr lang="ko-KR" altLang="en-US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자료로 작성되었으며 투자자에게 배포될 수 없습니다</a:t>
            </a:r>
            <a:r>
              <a:rPr lang="en-US" altLang="ko-KR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.</a:t>
            </a:r>
            <a:r>
              <a:rPr lang="ko-KR" altLang="en-US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</a:t>
            </a:r>
            <a:endParaRPr lang="en-US" altLang="ko-KR" sz="1180" b="0" spc="0" baseline="0" dirty="0">
              <a:solidFill>
                <a:srgbClr val="E12F00"/>
              </a:solidFill>
              <a:latin typeface="KoPub돋움체_Pro Bold" pitchFamily="18" charset="-127"/>
              <a:ea typeface="KoPub돋움체_Pro Bold" pitchFamily="18" charset="-127"/>
            </a:endParaRPr>
          </a:p>
          <a:p>
            <a:pPr eaLnBrk="1" hangingPunct="1">
              <a:lnSpc>
                <a:spcPct val="105000"/>
              </a:lnSpc>
              <a:defRPr/>
            </a:pPr>
            <a:r>
              <a:rPr lang="ko-KR" altLang="en-US" sz="1180" b="0" spc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   외부 유출에 유의해 주십시오</a:t>
            </a:r>
            <a:r>
              <a:rPr lang="en-US" altLang="ko-KR" sz="1180" b="0" spc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.</a:t>
            </a:r>
            <a:endParaRPr lang="ko-KR" altLang="en-US" sz="1180" b="0" spc="0" dirty="0">
              <a:solidFill>
                <a:srgbClr val="E12F00"/>
              </a:solidFill>
              <a:latin typeface="KoPub돋움체_Pro Bold" pitchFamily="18" charset="-127"/>
              <a:ea typeface="KoPub돋움체_Pro Bold" pitchFamily="18" charset="-127"/>
            </a:endParaRPr>
          </a:p>
        </p:txBody>
      </p:sp>
      <p:cxnSp>
        <p:nvCxnSpPr>
          <p:cNvPr id="14" name="직선 연결선 13"/>
          <p:cNvCxnSpPr/>
          <p:nvPr userDrawn="1"/>
        </p:nvCxnSpPr>
        <p:spPr>
          <a:xfrm>
            <a:off x="7364307" y="5945982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80001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60438" y="1725714"/>
            <a:ext cx="8461375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  <p:sp>
        <p:nvSpPr>
          <p:cNvPr id="5" name="직사각형 4"/>
          <p:cNvSpPr/>
          <p:nvPr userDrawn="1"/>
        </p:nvSpPr>
        <p:spPr>
          <a:xfrm flipV="1">
            <a:off x="0" y="1312414"/>
            <a:ext cx="9907587" cy="4571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7" name="제목 1"/>
          <p:cNvSpPr txBox="1">
            <a:spLocks/>
          </p:cNvSpPr>
          <p:nvPr userDrawn="1"/>
        </p:nvSpPr>
        <p:spPr>
          <a:xfrm>
            <a:off x="939093" y="757517"/>
            <a:ext cx="130898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algn="l"/>
            <a:r>
              <a:rPr lang="ko-KR" altLang="en-US" sz="3000" dirty="0">
                <a:solidFill>
                  <a:schemeClr val="accent2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목차</a:t>
            </a:r>
            <a:endParaRPr lang="ko-KR" altLang="en-US" sz="300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32587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5774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5970" y="3143390"/>
            <a:ext cx="8460000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400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266009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sp>
        <p:nvSpPr>
          <p:cNvPr id="11" name="Slide Number Placeholder 5"/>
          <p:cNvSpPr txBox="1">
            <a:spLocks/>
          </p:cNvSpPr>
          <p:nvPr userDrawn="1"/>
        </p:nvSpPr>
        <p:spPr>
          <a:xfrm>
            <a:off x="493790" y="6494330"/>
            <a:ext cx="454415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800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</a:t>
            </a:r>
            <a:r>
              <a:rPr 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80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 IT TOP10 스마트 액티브 레버리지 1.5 제안서</a:t>
            </a:r>
            <a:endParaRPr lang="en-US" altLang="ko-KR" sz="800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800" b="0" spc="2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800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FF00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algn="ctr" defTabSz="829544" latinLnBrk="1"/>
            <a:r>
              <a:rPr lang="ko-KR" altLang="en-US" sz="1000" kern="100" dirty="0" err="1">
                <a:solidFill>
                  <a:srgbClr val="FF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lang="ko-KR" altLang="en-US" sz="1000" kern="100" dirty="0">
                <a:solidFill>
                  <a:srgbClr val="FF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lang="ko-KR" altLang="en-US" sz="1000" kern="100" dirty="0" err="1">
                <a:solidFill>
                  <a:srgbClr val="FF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lang="en-US" altLang="ko-KR" sz="1000" kern="100" dirty="0">
              <a:solidFill>
                <a:srgbClr val="FF0000"/>
              </a:solidFill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8454961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(고객사 로고 추가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Slide Number Placeholder 5"/>
          <p:cNvSpPr txBox="1">
            <a:spLocks/>
          </p:cNvSpPr>
          <p:nvPr userDrawn="1"/>
        </p:nvSpPr>
        <p:spPr>
          <a:xfrm>
            <a:off x="493790" y="6494330"/>
            <a:ext cx="454415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800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</a:t>
            </a:r>
            <a:r>
              <a:rPr 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80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</a:t>
            </a:r>
            <a:r>
              <a:rPr lang="en-US" altLang="ko-KR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OOOOO</a:t>
            </a:r>
            <a:r>
              <a:rPr lang="ko-KR" alt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증권투자신탁 제안서 </a:t>
            </a:r>
            <a:r>
              <a:rPr lang="en-US" altLang="ko-KR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| 00/00/0000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800" b="0" spc="2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800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511901" y="426188"/>
            <a:ext cx="1058570" cy="422724"/>
          </a:xfrm>
          <a:prstGeom prst="rect">
            <a:avLst/>
          </a:prstGeom>
        </p:spPr>
      </p:pic>
      <p:pic>
        <p:nvPicPr>
          <p:cNvPr id="10" name="Picture 2" descr="C:\Users\swpae\Desktop\ScreenHunter_528 Aug. 06 09.48.jp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89065" y="446681"/>
            <a:ext cx="1149810" cy="399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0"/>
          <p:cNvCxnSpPr/>
          <p:nvPr userDrawn="1"/>
        </p:nvCxnSpPr>
        <p:spPr>
          <a:xfrm>
            <a:off x="8399201" y="506669"/>
            <a:ext cx="0" cy="3010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312128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00525" y="5648898"/>
            <a:ext cx="1709186" cy="682537"/>
          </a:xfrm>
          <a:prstGeom prst="rect">
            <a:avLst/>
          </a:prstGeom>
        </p:spPr>
      </p:pic>
      <p:sp>
        <p:nvSpPr>
          <p:cNvPr id="7" name="텍스트 개체 틀 2"/>
          <p:cNvSpPr txBox="1">
            <a:spLocks/>
          </p:cNvSpPr>
          <p:nvPr userDrawn="1"/>
        </p:nvSpPr>
        <p:spPr>
          <a:xfrm>
            <a:off x="0" y="570972"/>
            <a:ext cx="9906000" cy="222177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kern="12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600" dirty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Permanent Innovator</a:t>
            </a:r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742950" y="2888993"/>
            <a:ext cx="8420100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ko-KR" altLang="en-US" sz="3000" b="0" spc="20" baseline="0" dirty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감사합니다</a:t>
            </a:r>
            <a:endParaRPr lang="en-US" sz="3000" b="0" spc="20" baseline="0" dirty="0">
              <a:solidFill>
                <a:schemeClr val="accent1"/>
              </a:solidFill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091305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오렌지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59924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화이트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635207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73203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11" r:id="rId2"/>
    <p:sldLayoutId id="2147483707" r:id="rId3"/>
    <p:sldLayoutId id="2147483712" r:id="rId4"/>
    <p:sldLayoutId id="2147483709" r:id="rId5"/>
    <p:sldLayoutId id="2147483710" r:id="rId6"/>
    <p:sldLayoutId id="2147483708" r:id="rId7"/>
    <p:sldLayoutId id="2147483691" r:id="rId8"/>
    <p:sldLayoutId id="2147483692" r:id="rId9"/>
    <p:sldLayoutId id="2147483693" r:id="rId10"/>
    <p:sldLayoutId id="2147483704" r:id="rId11"/>
    <p:sldLayoutId id="2147483695" r:id="rId12"/>
    <p:sldLayoutId id="2147483700" r:id="rId13"/>
    <p:sldLayoutId id="2147483701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6.png"/><Relationship Id="rId8" Type="http://schemas.openxmlformats.org/officeDocument/2006/relationships/image" Target="../media/image27.png"/><Relationship Id="rId9" Type="http://schemas.openxmlformats.org/officeDocument/2006/relationships/image" Target="../media/image28.png"/><Relationship Id="rId10" Type="http://schemas.openxmlformats.org/officeDocument/2006/relationships/image" Target="../media/image31.png"/><Relationship Id="rId11" Type="http://schemas.openxmlformats.org/officeDocument/2006/relationships/image" Target="../media/image32.png"/><Relationship Id="rId12" Type="http://schemas.openxmlformats.org/officeDocument/2006/relationships/image" Target="../media/image33.png"/><Relationship Id="rId13" Type="http://schemas.openxmlformats.org/officeDocument/2006/relationships/image" Target="../media/image34.png"/><Relationship Id="rId14" Type="http://schemas.openxmlformats.org/officeDocument/2006/relationships/image" Target="../media/image3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Relationship Id="rId4" Type="http://schemas.openxmlformats.org/officeDocument/2006/relationships/image" Target="../media/image2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1969770"/>
          </a:xfrm>
        </p:spPr>
        <p:txBody>
          <a:bodyPr/>
          <a:lstStyle/>
          <a:p>
            <a:r>
              <a:rPr lang="ko-KR" altLang="en-US" dirty="0" err="1"/>
              <a:t>미래에셋</a:t>
            </a:r>
            <a:br>
              <a:rPr lang="en-US" altLang="ko-KR" dirty="0"/>
            </a:br>
            <a:r>
              <a:rPr lang="en-US" altLang="ko-KR" dirty="0"/>
              <a:t>Tech</a:t>
            </a:r>
            <a:r>
              <a:rPr lang="ko-KR" altLang="en-US" dirty="0"/>
              <a:t> TOP10 스마트 액티브 레버리지 1.5</a:t>
            </a:r>
            <a:br>
              <a:rPr lang="en-US" altLang="ko-KR" dirty="0"/>
            </a:br>
            <a:endParaRPr lang="en-US" altLang="ko-KR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4"/>
          </p:nvPr>
        </p:nvSpPr>
        <p:spPr>
          <a:xfrm>
            <a:off x="631825" y="2874353"/>
            <a:ext cx="5220000" cy="190821"/>
          </a:xfrm>
        </p:spPr>
        <p:txBody>
          <a:bodyPr/>
          <a:lstStyle/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ko-KR" altLang="en-US" dirty="0"/>
              <a:t>레버리지, 비용을 알고 똑똑하게 탄다</a:t>
            </a:r>
            <a:endParaRPr lang="en-US" altLang="ko-KR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미래에셋자산운용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2026.08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765451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31520" y="1463040"/>
            <a:ext cx="7772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70000"/>
              </a:lnSpc>
            </a:pPr>
            <a:r>
              <a:rPr sz="1500" dirty="0">
                <a:solidFill>
                  <a:srgbClr val="222222"/>
                </a:solidFill>
              </a:rPr>
              <a:t>1. 왜 </a:t>
            </a:r>
            <a:r>
              <a:rPr sz="1500" dirty="0" err="1">
                <a:solidFill>
                  <a:srgbClr val="222222"/>
                </a:solidFill>
              </a:rPr>
              <a:t>스마트</a:t>
            </a:r>
            <a:r>
              <a:rPr sz="1500" dirty="0">
                <a:solidFill>
                  <a:srgbClr val="222222"/>
                </a:solidFill>
              </a:rPr>
              <a:t> </a:t>
            </a:r>
            <a:r>
              <a:rPr sz="1500" dirty="0" err="1">
                <a:solidFill>
                  <a:srgbClr val="222222"/>
                </a:solidFill>
              </a:rPr>
              <a:t>레버리지인가</a:t>
            </a:r>
            <a:r>
              <a:rPr sz="1500" dirty="0">
                <a:solidFill>
                  <a:srgbClr val="222222"/>
                </a:solidFill>
              </a:rPr>
              <a:t> — </a:t>
            </a:r>
            <a:r>
              <a:rPr sz="1500" dirty="0" err="1">
                <a:solidFill>
                  <a:srgbClr val="222222"/>
                </a:solidFill>
              </a:rPr>
              <a:t>레버리지의</a:t>
            </a:r>
            <a:r>
              <a:rPr sz="1500" dirty="0">
                <a:solidFill>
                  <a:srgbClr val="222222"/>
                </a:solidFill>
              </a:rPr>
              <a:t> </a:t>
            </a:r>
            <a:r>
              <a:rPr sz="1500" dirty="0" err="1">
                <a:solidFill>
                  <a:srgbClr val="222222"/>
                </a:solidFill>
              </a:rPr>
              <a:t>숨은</a:t>
            </a:r>
            <a:r>
              <a:rPr sz="1500" dirty="0">
                <a:solidFill>
                  <a:srgbClr val="222222"/>
                </a:solidFill>
              </a:rPr>
              <a:t> </a:t>
            </a:r>
            <a:r>
              <a:rPr sz="1500" dirty="0" err="1">
                <a:solidFill>
                  <a:srgbClr val="222222"/>
                </a:solidFill>
              </a:rPr>
              <a:t>비용</a:t>
            </a:r>
            <a:endParaRPr sz="1500" dirty="0">
              <a:solidFill>
                <a:srgbClr val="222222"/>
              </a:solidFill>
            </a:endParaRPr>
          </a:p>
          <a:p>
            <a:pPr>
              <a:lnSpc>
                <a:spcPct val="170000"/>
              </a:lnSpc>
            </a:pPr>
            <a:r>
              <a:rPr sz="1500" dirty="0">
                <a:solidFill>
                  <a:srgbClr val="222222"/>
                </a:solidFill>
              </a:rPr>
              <a:t>2. </a:t>
            </a:r>
            <a:r>
              <a:rPr sz="1500" dirty="0" err="1">
                <a:solidFill>
                  <a:srgbClr val="222222"/>
                </a:solidFill>
              </a:rPr>
              <a:t>시장</a:t>
            </a:r>
            <a:r>
              <a:rPr sz="1500" dirty="0">
                <a:solidFill>
                  <a:srgbClr val="222222"/>
                </a:solidFill>
              </a:rPr>
              <a:t> </a:t>
            </a:r>
            <a:r>
              <a:rPr sz="1500" dirty="0" err="1">
                <a:solidFill>
                  <a:srgbClr val="222222"/>
                </a:solidFill>
              </a:rPr>
              <a:t>환경</a:t>
            </a:r>
            <a:r>
              <a:rPr sz="1500" dirty="0">
                <a:solidFill>
                  <a:srgbClr val="222222"/>
                </a:solidFill>
              </a:rPr>
              <a:t> — </a:t>
            </a:r>
            <a:r>
              <a:rPr sz="1500" dirty="0" err="1">
                <a:solidFill>
                  <a:srgbClr val="222222"/>
                </a:solidFill>
              </a:rPr>
              <a:t>역대급</a:t>
            </a:r>
            <a:r>
              <a:rPr sz="1500" dirty="0">
                <a:solidFill>
                  <a:srgbClr val="222222"/>
                </a:solidFill>
              </a:rPr>
              <a:t> </a:t>
            </a:r>
            <a:r>
              <a:rPr sz="1500" dirty="0" err="1">
                <a:solidFill>
                  <a:srgbClr val="222222"/>
                </a:solidFill>
              </a:rPr>
              <a:t>반도체</a:t>
            </a:r>
            <a:r>
              <a:rPr sz="1500" dirty="0">
                <a:solidFill>
                  <a:srgbClr val="222222"/>
                </a:solidFill>
              </a:rPr>
              <a:t> </a:t>
            </a:r>
            <a:r>
              <a:rPr sz="1500" dirty="0" err="1">
                <a:solidFill>
                  <a:srgbClr val="222222"/>
                </a:solidFill>
              </a:rPr>
              <a:t>변동성</a:t>
            </a:r>
            <a:endParaRPr sz="1500" dirty="0">
              <a:solidFill>
                <a:srgbClr val="222222"/>
              </a:solidFill>
            </a:endParaRPr>
          </a:p>
          <a:p>
            <a:pPr>
              <a:lnSpc>
                <a:spcPct val="170000"/>
              </a:lnSpc>
            </a:pPr>
            <a:r>
              <a:rPr sz="1500" dirty="0">
                <a:solidFill>
                  <a:srgbClr val="222222"/>
                </a:solidFill>
              </a:rPr>
              <a:t>3. </a:t>
            </a:r>
            <a:r>
              <a:rPr sz="1500" dirty="0" err="1">
                <a:solidFill>
                  <a:srgbClr val="222222"/>
                </a:solidFill>
              </a:rPr>
              <a:t>운용</a:t>
            </a:r>
            <a:r>
              <a:rPr sz="1500" dirty="0">
                <a:solidFill>
                  <a:srgbClr val="222222"/>
                </a:solidFill>
              </a:rPr>
              <a:t> </a:t>
            </a:r>
            <a:r>
              <a:rPr sz="1500" dirty="0" err="1">
                <a:solidFill>
                  <a:srgbClr val="222222"/>
                </a:solidFill>
              </a:rPr>
              <a:t>전략</a:t>
            </a:r>
            <a:r>
              <a:rPr sz="1500" dirty="0">
                <a:solidFill>
                  <a:srgbClr val="222222"/>
                </a:solidFill>
              </a:rPr>
              <a:t> — </a:t>
            </a:r>
            <a:r>
              <a:rPr sz="1500" dirty="0" err="1">
                <a:solidFill>
                  <a:srgbClr val="222222"/>
                </a:solidFill>
              </a:rPr>
              <a:t>평균</a:t>
            </a:r>
            <a:r>
              <a:rPr sz="1500" dirty="0">
                <a:solidFill>
                  <a:srgbClr val="222222"/>
                </a:solidFill>
              </a:rPr>
              <a:t> 1.5배 </a:t>
            </a:r>
            <a:r>
              <a:rPr sz="1500" dirty="0" err="1">
                <a:solidFill>
                  <a:srgbClr val="222222"/>
                </a:solidFill>
              </a:rPr>
              <a:t>스마트</a:t>
            </a:r>
            <a:r>
              <a:rPr sz="1500" dirty="0">
                <a:solidFill>
                  <a:srgbClr val="222222"/>
                </a:solidFill>
              </a:rPr>
              <a:t> </a:t>
            </a:r>
            <a:r>
              <a:rPr sz="1500" dirty="0" err="1">
                <a:solidFill>
                  <a:srgbClr val="222222"/>
                </a:solidFill>
              </a:rPr>
              <a:t>액티브</a:t>
            </a:r>
            <a:endParaRPr sz="1500" dirty="0">
              <a:solidFill>
                <a:srgbClr val="222222"/>
              </a:solidFill>
            </a:endParaRPr>
          </a:p>
          <a:p>
            <a:pPr>
              <a:lnSpc>
                <a:spcPct val="170000"/>
              </a:lnSpc>
            </a:pPr>
            <a:r>
              <a:rPr sz="1500" dirty="0">
                <a:solidFill>
                  <a:srgbClr val="222222"/>
                </a:solidFill>
              </a:rPr>
              <a:t>4. </a:t>
            </a:r>
            <a:r>
              <a:rPr sz="1500" dirty="0" err="1">
                <a:solidFill>
                  <a:srgbClr val="222222"/>
                </a:solidFill>
              </a:rPr>
              <a:t>백테스트</a:t>
            </a:r>
            <a:r>
              <a:rPr sz="1500" dirty="0">
                <a:solidFill>
                  <a:srgbClr val="222222"/>
                </a:solidFill>
              </a:rPr>
              <a:t> — BM </a:t>
            </a:r>
            <a:r>
              <a:rPr sz="1500" dirty="0" err="1">
                <a:solidFill>
                  <a:srgbClr val="222222"/>
                </a:solidFill>
              </a:rPr>
              <a:t>대비</a:t>
            </a:r>
            <a:r>
              <a:rPr sz="1500" dirty="0">
                <a:solidFill>
                  <a:srgbClr val="222222"/>
                </a:solidFill>
              </a:rPr>
              <a:t> </a:t>
            </a:r>
            <a:r>
              <a:rPr sz="1500" dirty="0" err="1">
                <a:solidFill>
                  <a:srgbClr val="222222"/>
                </a:solidFill>
              </a:rPr>
              <a:t>성과와</a:t>
            </a:r>
            <a:r>
              <a:rPr sz="1500" dirty="0">
                <a:solidFill>
                  <a:srgbClr val="222222"/>
                </a:solidFill>
              </a:rPr>
              <a:t> </a:t>
            </a:r>
            <a:r>
              <a:rPr sz="1500" dirty="0" err="1">
                <a:solidFill>
                  <a:srgbClr val="222222"/>
                </a:solidFill>
              </a:rPr>
              <a:t>재조정</a:t>
            </a:r>
            <a:r>
              <a:rPr sz="1500" dirty="0">
                <a:solidFill>
                  <a:srgbClr val="222222"/>
                </a:solidFill>
              </a:rPr>
              <a:t> </a:t>
            </a:r>
            <a:r>
              <a:rPr sz="1500" dirty="0" err="1">
                <a:solidFill>
                  <a:srgbClr val="222222"/>
                </a:solidFill>
              </a:rPr>
              <a:t>횟수</a:t>
            </a:r>
            <a:endParaRPr sz="1500" dirty="0">
              <a:solidFill>
                <a:srgbClr val="222222"/>
              </a:solidFill>
            </a:endParaRPr>
          </a:p>
          <a:p>
            <a:pPr>
              <a:lnSpc>
                <a:spcPct val="170000"/>
              </a:lnSpc>
            </a:pPr>
            <a:r>
              <a:rPr sz="1500" dirty="0">
                <a:solidFill>
                  <a:srgbClr val="222222"/>
                </a:solidFill>
              </a:rPr>
              <a:t>5. </a:t>
            </a:r>
            <a:r>
              <a:rPr sz="1500" dirty="0" err="1">
                <a:solidFill>
                  <a:srgbClr val="222222"/>
                </a:solidFill>
              </a:rPr>
              <a:t>운용</a:t>
            </a:r>
            <a:r>
              <a:rPr sz="1500" dirty="0">
                <a:solidFill>
                  <a:srgbClr val="222222"/>
                </a:solidFill>
              </a:rPr>
              <a:t> </a:t>
            </a:r>
            <a:r>
              <a:rPr sz="1500" dirty="0" err="1">
                <a:solidFill>
                  <a:srgbClr val="222222"/>
                </a:solidFill>
              </a:rPr>
              <a:t>시스템·운용역</a:t>
            </a:r>
            <a:endParaRPr sz="1500" dirty="0">
              <a:solidFill>
                <a:srgbClr val="222222"/>
              </a:solidFill>
            </a:endParaRPr>
          </a:p>
          <a:p>
            <a:pPr>
              <a:lnSpc>
                <a:spcPct val="170000"/>
              </a:lnSpc>
            </a:pPr>
            <a:r>
              <a:rPr sz="1500" dirty="0">
                <a:solidFill>
                  <a:srgbClr val="222222"/>
                </a:solidFill>
              </a:rPr>
              <a:t>6. FAQ · </a:t>
            </a:r>
            <a:r>
              <a:rPr sz="1500" dirty="0" err="1">
                <a:solidFill>
                  <a:srgbClr val="222222"/>
                </a:solidFill>
              </a:rPr>
              <a:t>펀드</a:t>
            </a:r>
            <a:r>
              <a:rPr sz="1500" dirty="0">
                <a:solidFill>
                  <a:srgbClr val="222222"/>
                </a:solidFill>
              </a:rPr>
              <a:t> </a:t>
            </a:r>
            <a:r>
              <a:rPr sz="1500" dirty="0" err="1">
                <a:solidFill>
                  <a:srgbClr val="222222"/>
                </a:solidFill>
              </a:rPr>
              <a:t>개요</a:t>
            </a:r>
            <a:r>
              <a:rPr sz="1500" dirty="0">
                <a:solidFill>
                  <a:srgbClr val="222222"/>
                </a:solidFill>
              </a:rPr>
              <a:t> · </a:t>
            </a:r>
            <a:r>
              <a:rPr sz="1500" dirty="0" err="1">
                <a:solidFill>
                  <a:srgbClr val="222222"/>
                </a:solidFill>
              </a:rPr>
              <a:t>투자</a:t>
            </a:r>
            <a:r>
              <a:rPr sz="1500" dirty="0">
                <a:solidFill>
                  <a:srgbClr val="222222"/>
                </a:solidFill>
              </a:rPr>
              <a:t> </a:t>
            </a:r>
            <a:r>
              <a:rPr sz="1500" dirty="0" err="1">
                <a:solidFill>
                  <a:srgbClr val="222222"/>
                </a:solidFill>
              </a:rPr>
              <a:t>위험</a:t>
            </a:r>
            <a:endParaRPr sz="1500" dirty="0">
              <a:solidFill>
                <a:srgbClr val="22222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666805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Concept : 레버리지의 비용을 알고, 반대로 운용한다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레버리지는 강력한 도구지만, '매일 2배(1.5배)를 다시 맞추는' 일일 재조정이 세 가지 비용을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① 변동성 잠식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1284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일일 재조정은 '오르면 사고 내리면 파는' 매매입니다. 시장이 왕복하면 그 차이만큼 성과가 녹습니다 — 실측: 반도체TOP10 레버리지 ETF는 상장 후 단순 2배보다 111%p 덜 벌었습니다.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② 매매 비용과 시장 영향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387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재조정은 매일 장 마감 직전에 쏠립니다. 변동성이 큰 날은 수천억 원이 같은 방향으로 나가며 시장을 흔들고, 그 비용은 투자자가 부담합니다.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③ 스마트 액티브의 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6460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평균 1.5배 노출은 유지하되, 매일 기계적으로 재조정하지 않습니다. 오르면 비중이 자연히 줄고 내리면 늘어나는 성질을 활용해, 큰 변동에만 대응합니다.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44068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 dirty="0" err="1">
                <a:solidFill>
                  <a:srgbClr val="E8720C"/>
                </a:solidFill>
                <a:latin typeface="KoPub돋움체_Pro Bold"/>
              </a:rPr>
              <a:t>일일</a:t>
            </a:r>
            <a:r>
              <a:rPr sz="1400" b="1" dirty="0">
                <a:solidFill>
                  <a:srgbClr val="E8720C"/>
                </a:solidFill>
                <a:latin typeface="KoPub돋움체_Pro Bold"/>
              </a:rPr>
              <a:t> </a:t>
            </a:r>
            <a:r>
              <a:rPr sz="1400" b="1" dirty="0" err="1">
                <a:solidFill>
                  <a:srgbClr val="E8720C"/>
                </a:solidFill>
                <a:latin typeface="KoPub돋움체_Pro Bold"/>
              </a:rPr>
              <a:t>재조정</a:t>
            </a:r>
            <a:r>
              <a:rPr sz="1400" b="1" dirty="0">
                <a:solidFill>
                  <a:srgbClr val="E8720C"/>
                </a:solidFill>
                <a:latin typeface="KoPub돋움체_Pro Bold"/>
              </a:rPr>
              <a:t> 1,221회 → 17회. </a:t>
            </a:r>
            <a:r>
              <a:rPr sz="1400" b="1" dirty="0" err="1">
                <a:solidFill>
                  <a:srgbClr val="E8720C"/>
                </a:solidFill>
                <a:latin typeface="KoPub돋움체_Pro Bold"/>
              </a:rPr>
              <a:t>노출은</a:t>
            </a:r>
            <a:r>
              <a:rPr sz="1400" b="1" dirty="0">
                <a:solidFill>
                  <a:srgbClr val="E8720C"/>
                </a:solidFill>
                <a:latin typeface="KoPub돋움체_Pro Bold"/>
              </a:rPr>
              <a:t> </a:t>
            </a:r>
            <a:r>
              <a:rPr sz="1400" b="1" dirty="0" err="1">
                <a:solidFill>
                  <a:srgbClr val="E8720C"/>
                </a:solidFill>
                <a:latin typeface="KoPub돋움체_Pro Bold"/>
              </a:rPr>
              <a:t>같게</a:t>
            </a:r>
            <a:r>
              <a:rPr sz="1400" b="1" dirty="0">
                <a:solidFill>
                  <a:srgbClr val="E8720C"/>
                </a:solidFill>
                <a:latin typeface="KoPub돋움체_Pro Bold"/>
              </a:rPr>
              <a:t>, </a:t>
            </a:r>
            <a:r>
              <a:rPr sz="1400" b="1" dirty="0" err="1">
                <a:solidFill>
                  <a:srgbClr val="E8720C"/>
                </a:solidFill>
                <a:latin typeface="KoPub돋움체_Pro Bold"/>
              </a:rPr>
              <a:t>비용은</a:t>
            </a:r>
            <a:r>
              <a:rPr sz="1400" b="1" dirty="0">
                <a:solidFill>
                  <a:srgbClr val="E8720C"/>
                </a:solidFill>
                <a:latin typeface="KoPub돋움체_Pro Bold"/>
              </a:rPr>
              <a:t> </a:t>
            </a:r>
            <a:r>
              <a:rPr sz="1400" b="1" dirty="0" err="1">
                <a:solidFill>
                  <a:srgbClr val="E8720C"/>
                </a:solidFill>
                <a:latin typeface="KoPub돋움체_Pro Bold"/>
              </a:rPr>
              <a:t>최소로</a:t>
            </a:r>
            <a:r>
              <a:rPr sz="1400" b="1" dirty="0">
                <a:solidFill>
                  <a:srgbClr val="E8720C"/>
                </a:solidFill>
                <a:latin typeface="KoPub돋움체_Pro Bold"/>
              </a:rPr>
              <a:t>. (</a:t>
            </a:r>
            <a:r>
              <a:rPr sz="1400" b="1" dirty="0" err="1">
                <a:solidFill>
                  <a:srgbClr val="E8720C"/>
                </a:solidFill>
                <a:latin typeface="KoPub돋움체_Pro Bold"/>
              </a:rPr>
              <a:t>백테스트</a:t>
            </a:r>
            <a:r>
              <a:rPr sz="1400" b="1" dirty="0">
                <a:solidFill>
                  <a:srgbClr val="E8720C"/>
                </a:solidFill>
                <a:latin typeface="KoPub돋움체_Pro Bold"/>
              </a:rPr>
              <a:t>, 2021.08~2026.08)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38641880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B35C5-898B-A1C6-B2EA-B5A52080E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시장 환경 : 역대급 반도체 변동성 — 재조정 비용이 가장 비싼 시기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변동성이 클수록 일일 재조정 매매의 규모와 왕복 손실이 커집니다. 지금이 스마트 방식의 가치가 가장 큰 국면입니다.</a:t>
            </a:r>
          </a:p>
        </p:txBody>
      </p:sp>
      <p:pic>
        <p:nvPicPr>
          <p:cNvPr id="4" name="Picture 3" descr="lev15_v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8046720" cy="35005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34103944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828FD-6F1C-268E-A32D-2016F8C03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투자자가 아는 사실 : 지수가 제자리로 와도, 레버리지는 오지 않는다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기간이 길수록 잠식은 커집니다 — ① KOSPI200이 4년 5개월 걸려 제자리로 왔을 때 레버리지는 -27.1%  ② KODEX 하이닉스 레버리지는 출시 6주 뒤 주가 보합(-1.9%)인데 -20.3%  ③ 주가 제자리(+0.3%) 왕복 5주 만에 -15.2%.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480" y="1783080"/>
            <a:ext cx="2942336" cy="267716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81832" y="1783080"/>
            <a:ext cx="2942336" cy="2677169"/>
          </a:xfrm>
          <a:prstGeom prst="rect">
            <a:avLst/>
          </a:prstGeom>
        </p:spPr>
      </p:pic>
      <p:pic>
        <p:nvPicPr>
          <p:cNvPr id="6" name="Picture 5" descr="lev15_hynix_b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52184" y="1783080"/>
            <a:ext cx="2942336" cy="26771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71500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잠식은 '왕복'에 청구되는 요금입니다 — 기간이 길수록, 변동이 클수록 요금은 커집니다.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전 구간 실제값 (수정주가 기준) · KODEX 200/KODEX 레버리지·KODEX SK하이닉스단일종목레버리지(2026.05.27 상장): ETF데이터 · SK하이닉스 주가: DataGuide (2026.08.14 기준) · 상기 자료는 이해를 돕기 위한 예시입니다.</a:t>
            </a:r>
          </a:p>
        </p:txBody>
      </p:sp>
    </p:spTree>
    <p:extLst>
      <p:ext uri="{BB962C8B-B14F-4D97-AF65-F5344CB8AC3E}">
        <p14:creationId xmlns:p14="http://schemas.microsoft.com/office/powerpoint/2010/main" val="40049795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29B6DB-BD00-2D13-A567-FC70C47EB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투자자가 모르는 사실 ① : 방향이 없어도 원금이 깎인다 — 변동성 잠식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레버리지는 '일별 수익률의 2배(1.5배)'를 맞추려 매일 오른 날 더 사고(고가 매수) 내린 날 팝니다(저가 매도). 지수가 2배 갔다 제자리면 0이 되고, 하루 +10% 갔다 제자리만 와도 -1.8% — 이 손실이 등락마다 복리로 쌓입니다.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783080"/>
            <a:ext cx="2942336" cy="2783291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81832" y="1783080"/>
            <a:ext cx="2942336" cy="2677169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52184" y="1783080"/>
            <a:ext cx="2942336" cy="26771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71500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등락 반복에선 지수가 제자리여도 녹아내리고, 강하고 꾸준한 추세일 때만 진가 — 문제는 그런 추세가 드물다는 것입니다.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KODEX 200·KODEX 레버리지 수정주가 실측 (제자리 사례 2026.02.26~04.16, 추세 사례 2026.03.31~05.29) · 단순 2배 = 기초 누적수익률×2 (가상) · '하루 +10% 후 제자리 = -1.8%'는 2배 레버리지 산술 예시 · 데이터: ETF데이터</a:t>
            </a:r>
          </a:p>
        </p:txBody>
      </p:sp>
    </p:spTree>
    <p:extLst>
      <p:ext uri="{BB962C8B-B14F-4D97-AF65-F5344CB8AC3E}">
        <p14:creationId xmlns:p14="http://schemas.microsoft.com/office/powerpoint/2010/main" val="30739991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580EC-65FA-7881-58D8-1FF488892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투자자가 모르는 사실 ② : 개인의 습성은 레버리지와 정반대로 움직인다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KODEX 레버리지 상장주식수(순증) 실증 — 오르면 팔고, 빠지면 사서 버팁니다. 지수와 주식수 증감의 월간 상관 -0.56 (지수 +2%↑ 월 주식수 평균 -13.3%, -2%↓ 월 +18.8%).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783080"/>
            <a:ext cx="8900160" cy="36156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71500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잠식이 쌓이는 하락·왕복장엔 끝까지 남고, 복리가 쌓이는 추세 상승장(+342%)에선 주식수 -72% — 일찍 떠났습니다.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KODEX 레버리지 상장주식수·KODEX 200 수정주가 (2019.01~2026.08) · 상관은 월말 기준 월간 지수수익률 vs 상장주식수 증감률 · 데이터: ETF데이터 · 상기 자료는 이해를 돕기 위한 예시입니다.</a:t>
            </a:r>
          </a:p>
        </p:txBody>
      </p:sp>
    </p:spTree>
    <p:extLst>
      <p:ext uri="{BB962C8B-B14F-4D97-AF65-F5344CB8AC3E}">
        <p14:creationId xmlns:p14="http://schemas.microsoft.com/office/powerpoint/2010/main" val="9377774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176C0-F1F2-664B-C27D-A6478945E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투자자가 모르는 사실 ③ : 투자행태가 손실을 키운다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레버리지 투자자는 하락장에 사서(물타기) 회복까지 버티는 경향이 있습니다 — 재조정 비용이 가장 많이 쌓이는 구간에 가장 오래 머무는 것입니다.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손실회피 편향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1284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이익은 빨리 실현하고 손실은 확정하지 못합니다. 레버리지 투자자는 수익 구간에서 단기 투자, 손실 구간에서 비자발적 장기 투자를 하게 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하락장 유입 → 장기 체류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387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하락 때 유입된 자금은 시장이 제자리로 돌아올 때까지 수년을 기다립니다. 그 사이 일일 재조정 비용이 매일 차감됩니다.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결론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6460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레버리지 투자자가 가장 오래 머무는 '하락 → 회복' 구간이, 일일 재조정 방식에는 가장 불리한 구간입니다.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36235753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FB906-8088-40A7-C6D7-1005F09D3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대안 : 오르면 줄이고, 내리면 늘린다 — 재조정의 방향을 뒤집다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일일 재조정(추세 순응 매매)의 반대편에 서면, 왕복장의 비용이 수익 기회로 바뀝니다.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일일 재조정 레버리지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1284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시장 +10% → 노출 부족 → 고가 매수 / 시장 -10% → 노출 초과 → 저가 매도. 왕복하면 반드시 잃습니다.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스마트 액티브 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387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상승하면 레버리지율이 자연히 낮아지고(이익 확정 효과), 하락하면 높아집니다(저가 노출 확대). 억지로 되돌리지 않습니다.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큰 변동에만 대응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6460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평균 1.5배에서 크게 벗어날 때만 재조정합니다. 잔변동에는 반응하지 않아 비용과 시장 영향이 최소화됩니다.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22214001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424D7-8718-3D4B-EE96-83157F61A0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운용 전략 : 평균 1.5배 스마트 액티브 — 3원칙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일간 1.5배가 아니라 '평균적으로 1.5배'를 추종합니다. 재조정의 시점과 폭은 규칙과 운용역 판단을 병행하는 액티브 방식입니다.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원칙 1 — 평균 1.5배 추종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1284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기준 레버리지 1.5배. 노출이 목표 범위 안에 있으면 매매하지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원칙 2 — 상승 시 축소, 하락 시 확대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387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시장이 오르면 레버리지율을 낮게(이익 확정), 내리면 높게(저가 노출) 가져갑니다. 시장 전망 베팅은 하지 않습니다.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원칙 3 — 큰 변동에만 재조정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6460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기준에서 크게 벗어난 경우에만 되돌립니다. 백테스트 기준 재조정은 연 3~4회 수준으로, 매일 재조정 대비 비용·시장영향이 크게 줄어듭니다.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44068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액티브 운용: 재조정의 시점·폭·극단 국면 대응은 운용역이 판단합니다.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30754887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0C155-747A-4C0C-2B29-F98D91C49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운용 전략 : 레버리지율은 이렇게 움직입니다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오르면 자연히 낮아지고, 내리면 높아지며, 범위를 벗어날 때만 기준으로 되돌립니다 (시뮬레이션).</a:t>
            </a:r>
          </a:p>
        </p:txBody>
      </p:sp>
      <p:pic>
        <p:nvPicPr>
          <p:cNvPr id="4" name="Picture 3" descr="lev15_we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20240"/>
            <a:ext cx="8229600" cy="24543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18641711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0C155-747A-4C0C-2B29-F98D91C49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백테스트 : BM 수준의 수익, 1/70의 재조정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2021.08~2026.08 실측 — 매일 재조정 BM과 대등한 성과(+329% vs +327%)를 재조정 17회(BM 1,221회)로 달성했습니다.</a:t>
            </a:r>
          </a:p>
        </p:txBody>
      </p:sp>
      <p:pic>
        <p:nvPicPr>
          <p:cNvPr id="4" name="Picture 3" descr="lev15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737360"/>
            <a:ext cx="7406640" cy="44168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기초=TIGER 반도체TOP10 NAV · BM=기초 일간수익률×1.5(매일 재조정 가정) · 매수 5bp/매도 30bp·차입 연 2.5% 반영 · 시뮬레이션이며 실제 성과와 다를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8641711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49BCE-15B9-D3A1-0A56-0BBBBC9CA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백테스트 : 국면별 — 모든 국면에서 BM과 대등하거나 앞선다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하락·왕복·급등·급락 각 국면을 시작일 신규 설정으로 시뮬레이션한 결과입니다.</a:t>
            </a:r>
          </a:p>
        </p:txBody>
      </p:sp>
      <p:pic>
        <p:nvPicPr>
          <p:cNvPr id="4" name="Picture 3" descr="lev15_fl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83080"/>
            <a:ext cx="2212848" cy="1704893"/>
          </a:xfrm>
          <a:prstGeom prst="rect">
            <a:avLst/>
          </a:prstGeom>
        </p:spPr>
      </p:pic>
      <p:pic>
        <p:nvPicPr>
          <p:cNvPr id="5" name="Picture 4" descr="lev15_do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7208" y="1783080"/>
            <a:ext cx="2212848" cy="1704893"/>
          </a:xfrm>
          <a:prstGeom prst="rect">
            <a:avLst/>
          </a:prstGeom>
        </p:spPr>
      </p:pic>
      <p:pic>
        <p:nvPicPr>
          <p:cNvPr id="6" name="Picture 5" descr="lev15_u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1496" y="1783080"/>
            <a:ext cx="2212848" cy="1704893"/>
          </a:xfrm>
          <a:prstGeom prst="rect">
            <a:avLst/>
          </a:prstGeom>
        </p:spPr>
      </p:pic>
      <p:pic>
        <p:nvPicPr>
          <p:cNvPr id="7" name="Picture 6" descr="lev15_cras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5783" y="1783080"/>
            <a:ext cx="2212848" cy="170489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266537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49BCE-15B9-D3A1-0A56-0BBBBC9CA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백테스트 : 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레버리지의 기대수익은 지키고, 일일 재조정의 비용과 시장 영향은 덜어냈습니다.</a:t>
            </a:r>
          </a:p>
        </p:txBody>
      </p:sp>
      <p:pic>
        <p:nvPicPr>
          <p:cNvPr id="4" name="Picture 3" descr="lev15_st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11680"/>
            <a:ext cx="8229600" cy="31600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44068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같은 노출, 같은 수익 — 재조정 매매는 1,221회에서 17회로.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266537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D3E7B-3148-3FF1-5723-56D455391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투자 위험 : 레버리지 상품의 본질적 위험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스마트 방식은 '비용'을 줄일 뿐, 레버리지의 방향 위험 자체를 없애지 않습니다.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높은 변동성과 깊은 낙폭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1284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백테스트 기간 최대낙폭 -69%, 연환산 변동성 65% 수준 — 기초(1배) 대비 크게 확대됩니다. 감내 가능한 투자자에게 적합합니다.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하락 확대의 양면성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387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하락 시 레버리지율이 높아져 반등 탄력이 커지지만, 하락이 지속되면 손실 폭도 커집니다.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추적 편차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6460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평균 1.5배 추종 특성상 단기적으로는 일간 1.5배와 성과가 다를 수 있습니다 — 이는 의도된 설계입니다.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7020622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DDA39-49D6-9479-6D0B-422E29FA9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왜 반도체 TOP10인가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국내 IT의 핵심 — 삼성전자·SK하이닉스를 포함한 반도체 대표 10종목으로 구성된 지수입니다.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대표성과 유동성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1284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기초 ETF(TIGER 반도체TOP10)의 순자산은 약 8.9조 원으로 국내 최대급 — 추적과 매매가 용이합니다.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AI 사이클의 중심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387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HBM·파운드리 중심의 실적 사이클로 높은 성장성과 높은 변동성이 공존합니다.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레버리지 수요가 가장 큰 시장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6460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반도체는 레버리지 상품 수요가 가장 큰 섹터 — 그만큼 일일 재조정 비용 문제도 가장 큽니다. 스마트 방식의 효용이 가장 큰 자리입니다.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23080252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15A83-30EB-57C6-31C3-80842B98B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F6070FC6-C774-CBCE-A319-282682D3B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896" y="1585298"/>
            <a:ext cx="4359104" cy="368740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2">
            <a:extLst>
              <a:ext uri="{FF2B5EF4-FFF2-40B4-BE49-F238E27FC236}">
                <a16:creationId xmlns:a16="http://schemas.microsoft.com/office/drawing/2014/main" id="{C5B0075E-6583-64A4-8DD3-433C49A69D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AI</a:t>
            </a:r>
            <a:r>
              <a:rPr lang="ko-KR" altLang="en-US" dirty="0"/>
              <a:t>금융공학운용부문 </a:t>
            </a:r>
            <a:r>
              <a:rPr lang="ko-KR" altLang="en-US" dirty="0" err="1"/>
              <a:t>퀀트</a:t>
            </a:r>
            <a:r>
              <a:rPr lang="ko-KR" altLang="en-US" dirty="0"/>
              <a:t> 시스템 </a:t>
            </a:r>
            <a:r>
              <a:rPr lang="en-US" altLang="ko-KR" dirty="0"/>
              <a:t>(QPMS Vol Trading)</a:t>
            </a:r>
            <a:endParaRPr lang="ko-KR" altLang="en-US" dirty="0"/>
          </a:p>
        </p:txBody>
      </p:sp>
      <p:sp>
        <p:nvSpPr>
          <p:cNvPr id="4" name="Rounded Rectangle 5">
            <a:extLst>
              <a:ext uri="{FF2B5EF4-FFF2-40B4-BE49-F238E27FC236}">
                <a16:creationId xmlns:a16="http://schemas.microsoft.com/office/drawing/2014/main" id="{EF40496F-426C-7D1E-9982-858815FDEAE2}"/>
              </a:ext>
            </a:extLst>
          </p:cNvPr>
          <p:cNvSpPr/>
          <p:nvPr/>
        </p:nvSpPr>
        <p:spPr>
          <a:xfrm>
            <a:off x="6244683" y="2105028"/>
            <a:ext cx="3402238" cy="3472812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dirty="0">
              <a:solidFill>
                <a:srgbClr val="F58220"/>
              </a:solidFill>
              <a:latin typeface="KoPub돋움체_Pro Bold"/>
              <a:ea typeface="KoPub돋움체_Pro Bold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일별 </a:t>
            </a: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리밸런싱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실시간으로 목표 편입비를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재산출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자의적 판단 배제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규칙대로 집행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일별 종가기준 목표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매칭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저가매수·고가매도 규칙  하락 시 레버리지율 확대, 상승 시 축소를 허용합니다.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 </a:t>
            </a:r>
            <a:endParaRPr lang="en-US"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재조정 최소화 규칙  기준 범위를 벗어난 큰 변동에만 재조정해 비용과 시장 영향을 최소화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2F2337-45A9-8980-CA45-0D6F09C9C012}"/>
              </a:ext>
            </a:extLst>
          </p:cNvPr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규칙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기반의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리밸런싱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로직을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1350" b="1" i="0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시스템에서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연산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423679FB-5598-84D4-B602-8DFBC9D01A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3986" y="2150232"/>
            <a:ext cx="4694664" cy="347281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224936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FFEF7-5F24-6FAB-31FA-F718D1674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4572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222222"/>
                </a:solidFill>
                <a:latin typeface="KoPub돋움체_Pro Bold"/>
              </a:rPr>
              <a:t>FAQ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873252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레버리지인데 왜 매일 1.5배를 맞추지 않나요?</a:t>
            </a:r>
          </a:p>
          <a:p>
            <a:pPr>
              <a:lnSpc>
                <a:spcPct val="112000"/>
              </a:lnSpc>
              <a:spcBef>
                <a:spcPts val="200"/>
              </a:spcBef>
            </a:pPr>
            <a:r>
              <a:rPr sz="1050">
                <a:solidFill>
                  <a:srgbClr val="222222"/>
                </a:solidFill>
                <a:latin typeface="KoPub돋움체_Pro Medium"/>
              </a:rPr>
              <a:t>A. 매일 배수를 다시 맞추는 일일 재조정이 변동성 잠식과 비용의 원인이기 때문입니다. 평균적으로 1.5배 노출을 유지하면 기대수익은 같으면서, 왕복장에서 잃는 재조정 매매를 피할 수 있습니다. 백테스트에서 매일 재조정 BM과 대등한 수익(+329% vs +327%)을 재조정 17회로 달성했습니다.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12264"/>
            <a:ext cx="873252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상승장에서 덜 벌지 않나요?</a:t>
            </a:r>
          </a:p>
          <a:p>
            <a:pPr>
              <a:lnSpc>
                <a:spcPct val="112000"/>
              </a:lnSpc>
              <a:spcBef>
                <a:spcPts val="200"/>
              </a:spcBef>
            </a:pPr>
            <a:r>
              <a:rPr sz="1050">
                <a:solidFill>
                  <a:srgbClr val="222222"/>
                </a:solidFill>
                <a:latin typeface="KoPub돋움체_Pro Medium"/>
              </a:rPr>
              <a:t>A. 급등 구간 시뮬레이션(2025.6~2026.6)에서 +944% vs BM +976%로 대등했습니다. 상승 시 레버리지율이 소폭 낮아지지만, 재조정 비용 절감이 이를 상당 부분 상쇄합니다.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81528"/>
            <a:ext cx="873252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하락하면 더 위험한 것 아닌가요?</a:t>
            </a:r>
          </a:p>
          <a:p>
            <a:pPr>
              <a:lnSpc>
                <a:spcPct val="112000"/>
              </a:lnSpc>
              <a:spcBef>
                <a:spcPts val="200"/>
              </a:spcBef>
            </a:pPr>
            <a:r>
              <a:rPr sz="1050">
                <a:solidFill>
                  <a:srgbClr val="222222"/>
                </a:solidFill>
                <a:latin typeface="KoPub돋움체_Pro Medium"/>
              </a:rPr>
              <a:t>A. 레버리지 상품의 본질적 낙폭(백테스트 MDD 약 -69%)은 존재합니다. 다만 하락 시 저가에 파는 재조정 매도를 하지 않아 반등 탄력이 크고, 백테스트 낙폭은 BM보다 소폭 얕았습니다. 원금 손실 위험이 큰 상품입니다.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50791"/>
            <a:ext cx="873252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액티브는 무엇을 판단하나요?</a:t>
            </a:r>
          </a:p>
          <a:p>
            <a:pPr>
              <a:lnSpc>
                <a:spcPct val="112000"/>
              </a:lnSpc>
              <a:spcBef>
                <a:spcPts val="200"/>
              </a:spcBef>
            </a:pPr>
            <a:r>
              <a:rPr sz="1050">
                <a:solidFill>
                  <a:srgbClr val="222222"/>
                </a:solidFill>
                <a:latin typeface="KoPub돋움체_Pro Medium"/>
              </a:rPr>
              <a:t>A. 재조정의 시점·폭, 허용 범위의 운영, 극단적 국면의 대응을 운용역이 판단합니다. 시장 방향에 대한 베팅은 하지 않으며, '상승 시 축소·하락 시 확대'라는 원칙은 유지됩니다.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20056"/>
            <a:ext cx="873252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왜 지금인가요?</a:t>
            </a:r>
          </a:p>
          <a:p>
            <a:pPr>
              <a:lnSpc>
                <a:spcPct val="112000"/>
              </a:lnSpc>
              <a:spcBef>
                <a:spcPts val="200"/>
              </a:spcBef>
            </a:pPr>
            <a:r>
              <a:rPr sz="1050">
                <a:solidFill>
                  <a:srgbClr val="222222"/>
                </a:solidFill>
                <a:latin typeface="KoPub돋움체_Pro Medium"/>
              </a:rPr>
              <a:t>A. 반도체 TOP10 실현변동성이 117%로 역대 최고 수준입니다. 변동성이 클수록 일일 재조정의 비용과 시장 영향이 커지므로, 그 비용을 아끼는 스마트 방식의 가치가 가장 큰 시기입니다.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시뮬레이션·백테스트는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42394225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94EFF8-B96D-0D12-6AA0-11FD3E3A6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>
            <a:extLst>
              <a:ext uri="{FF2B5EF4-FFF2-40B4-BE49-F238E27FC236}">
                <a16:creationId xmlns:a16="http://schemas.microsoft.com/office/drawing/2014/main" id="{D363253B-471B-FBC1-1874-3747DAC14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펀드 정보</a:t>
            </a:r>
          </a:p>
        </p:txBody>
      </p:sp>
    </p:spTree>
    <p:extLst>
      <p:ext uri="{BB962C8B-B14F-4D97-AF65-F5344CB8AC3E}">
        <p14:creationId xmlns:p14="http://schemas.microsoft.com/office/powerpoint/2010/main" val="9270956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9D00C5-570E-99B4-33E3-1B39CB620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>
            <a:extLst>
              <a:ext uri="{FF2B5EF4-FFF2-40B4-BE49-F238E27FC236}">
                <a16:creationId xmlns:a16="http://schemas.microsoft.com/office/drawing/2014/main" id="{B8281EFB-27A1-CEC7-70DF-46BC4959D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투자 위험</a:t>
            </a:r>
          </a:p>
        </p:txBody>
      </p:sp>
    </p:spTree>
    <p:extLst>
      <p:ext uri="{BB962C8B-B14F-4D97-AF65-F5344CB8AC3E}">
        <p14:creationId xmlns:p14="http://schemas.microsoft.com/office/powerpoint/2010/main" val="35115969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1.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투자철학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및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운용전략</a:t>
            </a:r>
            <a:endParaRPr lang="en-US" altLang="ko-KR" dirty="0"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  <a:p>
            <a:pPr marL="216000"/>
            <a:r>
              <a:rPr lang="en-US" altLang="ko-KR" dirty="0"/>
              <a:t>1) </a:t>
            </a:r>
            <a:r>
              <a:rPr lang="ko-KR" altLang="en-US" dirty="0" err="1"/>
              <a:t>투자철학</a:t>
            </a:r>
            <a:r>
              <a:rPr lang="ko-KR" altLang="en-US" dirty="0"/>
              <a:t> 및 목적</a:t>
            </a:r>
            <a:endParaRPr lang="en-US" altLang="ko-KR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Ⅰ. </a:t>
            </a:r>
            <a:r>
              <a:rPr lang="ko-KR" altLang="en-US" dirty="0"/>
              <a:t>운용프로세스</a:t>
            </a:r>
            <a:br>
              <a:rPr lang="ko-KR" altLang="en-US" dirty="0"/>
            </a:br>
            <a:endParaRPr lang="ko-KR" altLang="en-US" dirty="0"/>
          </a:p>
        </p:txBody>
      </p:sp>
      <p:sp>
        <p:nvSpPr>
          <p:cNvPr id="22" name="모서리가 둥근 직사각형 21"/>
          <p:cNvSpPr/>
          <p:nvPr/>
        </p:nvSpPr>
        <p:spPr>
          <a:xfrm>
            <a:off x="916659" y="1890853"/>
            <a:ext cx="3960000" cy="1800000"/>
          </a:xfrm>
          <a:prstGeom prst="roundRect">
            <a:avLst>
              <a:gd name="adj" fmla="val 9975"/>
            </a:avLst>
          </a:prstGeom>
          <a:solidFill>
            <a:srgbClr val="FEF2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모서리가 둥근 직사각형 28"/>
          <p:cNvSpPr/>
          <p:nvPr/>
        </p:nvSpPr>
        <p:spPr>
          <a:xfrm>
            <a:off x="5015055" y="3830682"/>
            <a:ext cx="3960000" cy="1800000"/>
          </a:xfrm>
          <a:prstGeom prst="roundRect">
            <a:avLst>
              <a:gd name="adj" fmla="val 9975"/>
            </a:avLst>
          </a:prstGeom>
          <a:solidFill>
            <a:srgbClr val="F7EFE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모서리가 둥근 직사각형 29"/>
          <p:cNvSpPr/>
          <p:nvPr/>
        </p:nvSpPr>
        <p:spPr>
          <a:xfrm>
            <a:off x="916659" y="3830682"/>
            <a:ext cx="3960000" cy="1800000"/>
          </a:xfrm>
          <a:prstGeom prst="roundRect">
            <a:avLst>
              <a:gd name="adj" fmla="val 9975"/>
            </a:avLst>
          </a:prstGeom>
          <a:solidFill>
            <a:srgbClr val="E5EB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모서리가 둥근 직사각형 27"/>
          <p:cNvSpPr/>
          <p:nvPr/>
        </p:nvSpPr>
        <p:spPr>
          <a:xfrm>
            <a:off x="5015055" y="1890853"/>
            <a:ext cx="3960000" cy="1800000"/>
          </a:xfrm>
          <a:prstGeom prst="roundRect">
            <a:avLst>
              <a:gd name="adj" fmla="val 9975"/>
            </a:avLst>
          </a:prstGeom>
          <a:solidFill>
            <a:srgbClr val="E5F6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자유형 38"/>
          <p:cNvSpPr/>
          <p:nvPr/>
        </p:nvSpPr>
        <p:spPr>
          <a:xfrm>
            <a:off x="4877998" y="3696430"/>
            <a:ext cx="138741" cy="138741"/>
          </a:xfrm>
          <a:custGeom>
            <a:avLst/>
            <a:gdLst>
              <a:gd name="connsiteX0" fmla="*/ 0 w 138741"/>
              <a:gd name="connsiteY0" fmla="*/ 0 h 138741"/>
              <a:gd name="connsiteX1" fmla="*/ 138741 w 138741"/>
              <a:gd name="connsiteY1" fmla="*/ 0 h 138741"/>
              <a:gd name="connsiteX2" fmla="*/ 138741 w 138741"/>
              <a:gd name="connsiteY2" fmla="*/ 138741 h 138741"/>
              <a:gd name="connsiteX3" fmla="*/ 0 w 138741"/>
              <a:gd name="connsiteY3" fmla="*/ 138741 h 138741"/>
              <a:gd name="connsiteX4" fmla="*/ 0 w 138741"/>
              <a:gd name="connsiteY4" fmla="*/ 0 h 138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8741" h="138741">
                <a:moveTo>
                  <a:pt x="0" y="0"/>
                </a:moveTo>
                <a:lnTo>
                  <a:pt x="138741" y="0"/>
                </a:lnTo>
                <a:lnTo>
                  <a:pt x="138741" y="138741"/>
                </a:lnTo>
                <a:lnTo>
                  <a:pt x="0" y="138741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accent1"/>
              </a:solidFill>
            </a:endParaRPr>
          </a:p>
        </p:txBody>
      </p:sp>
      <p:grpSp>
        <p:nvGrpSpPr>
          <p:cNvPr id="9" name="그룹 8"/>
          <p:cNvGrpSpPr/>
          <p:nvPr/>
        </p:nvGrpSpPr>
        <p:grpSpPr>
          <a:xfrm>
            <a:off x="3812239" y="2628401"/>
            <a:ext cx="2268000" cy="2268000"/>
            <a:chOff x="3808497" y="2588829"/>
            <a:chExt cx="2277741" cy="2277741"/>
          </a:xfrm>
        </p:grpSpPr>
        <p:sp>
          <p:nvSpPr>
            <p:cNvPr id="46" name="자유형 45"/>
            <p:cNvSpPr/>
            <p:nvPr/>
          </p:nvSpPr>
          <p:spPr>
            <a:xfrm>
              <a:off x="3808497" y="2588829"/>
              <a:ext cx="1069501" cy="1069501"/>
            </a:xfrm>
            <a:custGeom>
              <a:avLst/>
              <a:gdLst>
                <a:gd name="connsiteX0" fmla="*/ 1069501 w 1069501"/>
                <a:gd name="connsiteY0" fmla="*/ 0 h 1069501"/>
                <a:gd name="connsiteX1" fmla="*/ 1069501 w 1069501"/>
                <a:gd name="connsiteY1" fmla="*/ 1069501 h 1069501"/>
                <a:gd name="connsiteX2" fmla="*/ 0 w 1069501"/>
                <a:gd name="connsiteY2" fmla="*/ 1069501 h 1069501"/>
                <a:gd name="connsiteX3" fmla="*/ 2395 w 1069501"/>
                <a:gd name="connsiteY3" fmla="*/ 1022070 h 1069501"/>
                <a:gd name="connsiteX4" fmla="*/ 1022070 w 1069501"/>
                <a:gd name="connsiteY4" fmla="*/ 2395 h 1069501"/>
                <a:gd name="connsiteX5" fmla="*/ 1069501 w 1069501"/>
                <a:gd name="connsiteY5" fmla="*/ 0 h 1069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69501" h="1069501">
                  <a:moveTo>
                    <a:pt x="1069501" y="0"/>
                  </a:moveTo>
                  <a:lnTo>
                    <a:pt x="1069501" y="1069501"/>
                  </a:lnTo>
                  <a:lnTo>
                    <a:pt x="0" y="1069501"/>
                  </a:lnTo>
                  <a:lnTo>
                    <a:pt x="2395" y="1022070"/>
                  </a:lnTo>
                  <a:cubicBezTo>
                    <a:pt x="56996" y="484424"/>
                    <a:pt x="484424" y="56996"/>
                    <a:pt x="1022070" y="2395"/>
                  </a:cubicBezTo>
                  <a:lnTo>
                    <a:pt x="106950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accent1"/>
                </a:solidFill>
              </a:endParaRPr>
            </a:p>
          </p:txBody>
        </p:sp>
        <p:sp>
          <p:nvSpPr>
            <p:cNvPr id="44" name="자유형 43"/>
            <p:cNvSpPr/>
            <p:nvPr/>
          </p:nvSpPr>
          <p:spPr>
            <a:xfrm>
              <a:off x="5016738" y="2588829"/>
              <a:ext cx="1069500" cy="1069501"/>
            </a:xfrm>
            <a:custGeom>
              <a:avLst/>
              <a:gdLst>
                <a:gd name="connsiteX0" fmla="*/ 0 w 1069500"/>
                <a:gd name="connsiteY0" fmla="*/ 0 h 1069501"/>
                <a:gd name="connsiteX1" fmla="*/ 47430 w 1069500"/>
                <a:gd name="connsiteY1" fmla="*/ 2395 h 1069501"/>
                <a:gd name="connsiteX2" fmla="*/ 1067105 w 1069500"/>
                <a:gd name="connsiteY2" fmla="*/ 1022070 h 1069501"/>
                <a:gd name="connsiteX3" fmla="*/ 1069500 w 1069500"/>
                <a:gd name="connsiteY3" fmla="*/ 1069501 h 1069501"/>
                <a:gd name="connsiteX4" fmla="*/ 0 w 1069500"/>
                <a:gd name="connsiteY4" fmla="*/ 1069501 h 1069501"/>
                <a:gd name="connsiteX5" fmla="*/ 0 w 1069500"/>
                <a:gd name="connsiteY5" fmla="*/ 0 h 1069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69500" h="1069501">
                  <a:moveTo>
                    <a:pt x="0" y="0"/>
                  </a:moveTo>
                  <a:lnTo>
                    <a:pt x="47430" y="2395"/>
                  </a:lnTo>
                  <a:cubicBezTo>
                    <a:pt x="585076" y="56996"/>
                    <a:pt x="1012504" y="484424"/>
                    <a:pt x="1067105" y="1022070"/>
                  </a:cubicBezTo>
                  <a:lnTo>
                    <a:pt x="1069500" y="1069501"/>
                  </a:lnTo>
                  <a:lnTo>
                    <a:pt x="0" y="10695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accent1"/>
                </a:solidFill>
              </a:endParaRPr>
            </a:p>
          </p:txBody>
        </p:sp>
        <p:sp>
          <p:nvSpPr>
            <p:cNvPr id="36" name="자유형 35"/>
            <p:cNvSpPr/>
            <p:nvPr/>
          </p:nvSpPr>
          <p:spPr>
            <a:xfrm>
              <a:off x="3808497" y="3797070"/>
              <a:ext cx="1069501" cy="1069500"/>
            </a:xfrm>
            <a:custGeom>
              <a:avLst/>
              <a:gdLst>
                <a:gd name="connsiteX0" fmla="*/ 0 w 1069501"/>
                <a:gd name="connsiteY0" fmla="*/ 0 h 1069500"/>
                <a:gd name="connsiteX1" fmla="*/ 1069501 w 1069501"/>
                <a:gd name="connsiteY1" fmla="*/ 0 h 1069500"/>
                <a:gd name="connsiteX2" fmla="*/ 1069501 w 1069501"/>
                <a:gd name="connsiteY2" fmla="*/ 1069500 h 1069500"/>
                <a:gd name="connsiteX3" fmla="*/ 1022070 w 1069501"/>
                <a:gd name="connsiteY3" fmla="*/ 1067105 h 1069500"/>
                <a:gd name="connsiteX4" fmla="*/ 2395 w 1069501"/>
                <a:gd name="connsiteY4" fmla="*/ 47430 h 1069500"/>
                <a:gd name="connsiteX5" fmla="*/ 0 w 1069501"/>
                <a:gd name="connsiteY5" fmla="*/ 0 h 1069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69501" h="1069500">
                  <a:moveTo>
                    <a:pt x="0" y="0"/>
                  </a:moveTo>
                  <a:lnTo>
                    <a:pt x="1069501" y="0"/>
                  </a:lnTo>
                  <a:lnTo>
                    <a:pt x="1069501" y="1069500"/>
                  </a:lnTo>
                  <a:lnTo>
                    <a:pt x="1022070" y="1067105"/>
                  </a:lnTo>
                  <a:cubicBezTo>
                    <a:pt x="484424" y="1012504"/>
                    <a:pt x="56996" y="585076"/>
                    <a:pt x="2395" y="4743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accent1"/>
                </a:solidFill>
              </a:endParaRPr>
            </a:p>
          </p:txBody>
        </p:sp>
        <p:sp>
          <p:nvSpPr>
            <p:cNvPr id="35" name="자유형 34"/>
            <p:cNvSpPr/>
            <p:nvPr/>
          </p:nvSpPr>
          <p:spPr>
            <a:xfrm>
              <a:off x="5016738" y="3797070"/>
              <a:ext cx="1069500" cy="1069500"/>
            </a:xfrm>
            <a:custGeom>
              <a:avLst/>
              <a:gdLst>
                <a:gd name="connsiteX0" fmla="*/ 0 w 1069500"/>
                <a:gd name="connsiteY0" fmla="*/ 0 h 1069500"/>
                <a:gd name="connsiteX1" fmla="*/ 1069500 w 1069500"/>
                <a:gd name="connsiteY1" fmla="*/ 0 h 1069500"/>
                <a:gd name="connsiteX2" fmla="*/ 1067105 w 1069500"/>
                <a:gd name="connsiteY2" fmla="*/ 47430 h 1069500"/>
                <a:gd name="connsiteX3" fmla="*/ 47430 w 1069500"/>
                <a:gd name="connsiteY3" fmla="*/ 1067105 h 1069500"/>
                <a:gd name="connsiteX4" fmla="*/ 0 w 1069500"/>
                <a:gd name="connsiteY4" fmla="*/ 1069500 h 1069500"/>
                <a:gd name="connsiteX5" fmla="*/ 0 w 1069500"/>
                <a:gd name="connsiteY5" fmla="*/ 0 h 1069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69500" h="1069500">
                  <a:moveTo>
                    <a:pt x="0" y="0"/>
                  </a:moveTo>
                  <a:lnTo>
                    <a:pt x="1069500" y="0"/>
                  </a:lnTo>
                  <a:lnTo>
                    <a:pt x="1067105" y="47430"/>
                  </a:lnTo>
                  <a:cubicBezTo>
                    <a:pt x="1012504" y="585076"/>
                    <a:pt x="585076" y="1012504"/>
                    <a:pt x="47430" y="1067105"/>
                  </a:cubicBezTo>
                  <a:lnTo>
                    <a:pt x="0" y="10695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accent1"/>
                </a:solidFill>
              </a:endParaRPr>
            </a:p>
          </p:txBody>
        </p:sp>
      </p:grpSp>
      <p:sp>
        <p:nvSpPr>
          <p:cNvPr id="17" name="직사각형 16"/>
          <p:cNvSpPr/>
          <p:nvPr/>
        </p:nvSpPr>
        <p:spPr>
          <a:xfrm>
            <a:off x="2189868" y="2838963"/>
            <a:ext cx="1413849" cy="710964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 algn="r">
              <a:lnSpc>
                <a:spcPct val="110000"/>
              </a:lnSpc>
            </a:pP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미래에셋자산운용은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algn="r">
              <a:lnSpc>
                <a:spcPct val="110000"/>
              </a:lnSpc>
            </a:pP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경쟁력의</a:t>
            </a:r>
            <a:r>
              <a:rPr lang="en-US" altLang="ko-KR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</a:t>
            </a: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관점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에서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algn="r">
              <a:lnSpc>
                <a:spcPct val="110000"/>
              </a:lnSpc>
            </a:pP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투자기업을</a:t>
            </a:r>
            <a:r>
              <a:rPr lang="en-US" altLang="ko-KR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봅니다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2189868" y="3978737"/>
            <a:ext cx="1413849" cy="710964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 algn="r">
              <a:lnSpc>
                <a:spcPct val="110000"/>
              </a:lnSpc>
            </a:pP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미래에셋자산운용은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algn="r">
              <a:lnSpc>
                <a:spcPct val="110000"/>
              </a:lnSpc>
            </a:pP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장기적인</a:t>
            </a:r>
            <a:r>
              <a:rPr lang="en-US" altLang="ko-KR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</a:t>
            </a: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관점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에서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algn="r">
              <a:lnSpc>
                <a:spcPct val="110000"/>
              </a:lnSpc>
            </a:pP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투자합니다</a:t>
            </a:r>
          </a:p>
        </p:txBody>
      </p:sp>
      <p:sp>
        <p:nvSpPr>
          <p:cNvPr id="19" name="직사각형 18"/>
          <p:cNvSpPr/>
          <p:nvPr/>
        </p:nvSpPr>
        <p:spPr>
          <a:xfrm>
            <a:off x="6280133" y="2838963"/>
            <a:ext cx="1673535" cy="710964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미래에셋자산운용은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1400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기대수익</a:t>
            </a: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과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함께</a:t>
            </a:r>
            <a:r>
              <a:rPr lang="en-US" altLang="ko-KR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위험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을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살핍니다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6280133" y="3978737"/>
            <a:ext cx="2426946" cy="710964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미래에셋자산운용은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팀 어프로치</a:t>
            </a:r>
            <a:r>
              <a:rPr lang="en-US" altLang="ko-KR" sz="11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(team-approach)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에 의해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신중하게 </a:t>
            </a: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의사결정합니다</a:t>
            </a:r>
            <a:endParaRPr lang="ko-KR" altLang="en-US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3830097" y="5743395"/>
            <a:ext cx="2245807" cy="184666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accent2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이상의 원칙을 일관성 있게 지킵니다</a:t>
            </a:r>
            <a:r>
              <a:rPr lang="en-US" altLang="ko-KR" sz="1200" dirty="0">
                <a:solidFill>
                  <a:schemeClr val="accent2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.</a:t>
            </a:r>
            <a:endParaRPr lang="ko-KR" altLang="en-US" sz="1200" dirty="0">
              <a:solidFill>
                <a:schemeClr val="accent2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7" name="타원 26"/>
          <p:cNvSpPr/>
          <p:nvPr/>
        </p:nvSpPr>
        <p:spPr>
          <a:xfrm>
            <a:off x="4100239" y="2916401"/>
            <a:ext cx="1692000" cy="1692000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254000" sx="110000" sy="110000" algn="ct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1866" y="3428156"/>
            <a:ext cx="1413782" cy="565287"/>
          </a:xfrm>
          <a:prstGeom prst="rect">
            <a:avLst/>
          </a:prstGeom>
        </p:spPr>
      </p:pic>
      <p:sp>
        <p:nvSpPr>
          <p:cNvPr id="43" name="직사각형 42"/>
          <p:cNvSpPr/>
          <p:nvPr/>
        </p:nvSpPr>
        <p:spPr>
          <a:xfrm>
            <a:off x="5328392" y="4917860"/>
            <a:ext cx="3480120" cy="550920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lvl="0"/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미래에셋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글로벌 및 자산간 리서치를 활용한 운용 프로세스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당사 글로벌 네트워크 기반의 차별화된 리서치로 신중한 투자 의사결정 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 </a:t>
            </a: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리서치가 차별화된 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MP</a:t>
            </a: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를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제시하고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, </a:t>
            </a:r>
            <a:r>
              <a:rPr lang="ko-KR" altLang="en-US" sz="900" spc="-2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운용역이</a:t>
            </a: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일정수준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복제하는 프로세스</a:t>
            </a:r>
            <a:endParaRPr lang="en-US" altLang="ko-KR" sz="900" spc="-2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45" name="직사각형 44"/>
          <p:cNvSpPr/>
          <p:nvPr/>
        </p:nvSpPr>
        <p:spPr>
          <a:xfrm>
            <a:off x="1225492" y="4917860"/>
            <a:ext cx="2689839" cy="3600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lvl="0"/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경쟁력 있는 </a:t>
            </a:r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우량자산에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장기투자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높은 </a:t>
            </a:r>
            <a:r>
              <a:rPr lang="ko-KR" altLang="en-US" sz="90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우량자산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90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선정확률을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기반으로 장기투자를 지향 </a:t>
            </a:r>
          </a:p>
        </p:txBody>
      </p:sp>
      <p:sp>
        <p:nvSpPr>
          <p:cNvPr id="47" name="직사각형 46"/>
          <p:cNvSpPr/>
          <p:nvPr/>
        </p:nvSpPr>
        <p:spPr>
          <a:xfrm>
            <a:off x="5328392" y="2066952"/>
            <a:ext cx="3004027" cy="550920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lvl="0"/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체계적인 </a:t>
            </a:r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리스크관리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프로세스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ko-KR" altLang="en-US" sz="90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운용전략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및 운용프로세스 점검을 통해 적정성 및 개선방안 검토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투자자산</a:t>
            </a:r>
            <a:r>
              <a:rPr lang="en-US" altLang="ko-KR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(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개별기업</a:t>
            </a:r>
            <a:r>
              <a:rPr lang="en-US" altLang="ko-KR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, </a:t>
            </a:r>
            <a:r>
              <a:rPr lang="ko-KR" altLang="en-US" sz="90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하위펀드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등</a:t>
            </a:r>
            <a:r>
              <a:rPr lang="en-US" altLang="ko-KR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)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의 체계적인 점검 프로세스</a:t>
            </a:r>
          </a:p>
        </p:txBody>
      </p:sp>
      <p:sp>
        <p:nvSpPr>
          <p:cNvPr id="49" name="직사각형 48"/>
          <p:cNvSpPr/>
          <p:nvPr/>
        </p:nvSpPr>
        <p:spPr>
          <a:xfrm>
            <a:off x="1225492" y="2066952"/>
            <a:ext cx="3097002" cy="550920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lvl="0"/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미래에셋의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</a:t>
            </a:r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투자철학</a:t>
            </a:r>
            <a:r>
              <a:rPr lang="en-US" altLang="ko-KR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, 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차별화된 경쟁력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리서치 기반의 경쟁력 있는 투자자산 발굴 및 제안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투자자산의 경쟁력을 정량</a:t>
            </a:r>
            <a:r>
              <a:rPr lang="en-US" altLang="ko-KR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/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정성 평가하여 투자 의사결정에 반영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3983184" y="1589039"/>
            <a:ext cx="1939635" cy="200055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 algn="ctr"/>
            <a:r>
              <a:rPr lang="en-US" altLang="ko-KR" sz="1300" dirty="0">
                <a:solidFill>
                  <a:schemeClr val="accent2"/>
                </a:solidFill>
                <a:latin typeface="+mj-ea"/>
                <a:ea typeface="+mj-ea"/>
              </a:rPr>
              <a:t>&lt;</a:t>
            </a:r>
            <a:r>
              <a:rPr lang="ko-KR" altLang="en-US" sz="1300" dirty="0" err="1">
                <a:solidFill>
                  <a:schemeClr val="accent2"/>
                </a:solidFill>
                <a:latin typeface="+mj-ea"/>
                <a:ea typeface="+mj-ea"/>
              </a:rPr>
              <a:t>미래에셋자산운용</a:t>
            </a:r>
            <a:r>
              <a:rPr lang="ko-KR" altLang="en-US" sz="1300" dirty="0">
                <a:solidFill>
                  <a:schemeClr val="accent2"/>
                </a:solidFill>
                <a:latin typeface="+mj-ea"/>
                <a:ea typeface="+mj-ea"/>
              </a:rPr>
              <a:t> 투자원칙</a:t>
            </a:r>
            <a:r>
              <a:rPr lang="en-US" altLang="ko-KR" sz="1300" dirty="0">
                <a:solidFill>
                  <a:schemeClr val="accent2"/>
                </a:solidFill>
                <a:latin typeface="+mj-ea"/>
                <a:ea typeface="+mj-ea"/>
              </a:rPr>
              <a:t>&gt;</a:t>
            </a:r>
            <a:endParaRPr lang="ko-KR" altLang="en-US" sz="1300" dirty="0">
              <a:solidFill>
                <a:schemeClr val="accent2"/>
              </a:solidFill>
              <a:latin typeface="+mj-ea"/>
              <a:ea typeface="+mj-ea"/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4167219" y="2986144"/>
            <a:ext cx="100990" cy="215444"/>
          </a:xfrm>
          <a:prstGeom prst="rect">
            <a:avLst/>
          </a:prstGeom>
          <a:noFill/>
          <a:ln w="1016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  <a:latin typeface="+mj-ea"/>
                <a:ea typeface="+mj-ea"/>
              </a:rPr>
              <a:t>1</a:t>
            </a:r>
            <a:endParaRPr lang="ko-KR" altLang="en-US" sz="1400" dirty="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54" name="직사각형 53"/>
          <p:cNvSpPr/>
          <p:nvPr/>
        </p:nvSpPr>
        <p:spPr>
          <a:xfrm>
            <a:off x="5626795" y="2986144"/>
            <a:ext cx="100990" cy="215444"/>
          </a:xfrm>
          <a:prstGeom prst="rect">
            <a:avLst/>
          </a:prstGeom>
          <a:noFill/>
          <a:ln w="1016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  <a:latin typeface="+mj-ea"/>
                <a:ea typeface="+mj-ea"/>
              </a:rPr>
              <a:t>3</a:t>
            </a:r>
            <a:endParaRPr lang="ko-KR" altLang="en-US" sz="140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5" name="직사각형 54"/>
          <p:cNvSpPr/>
          <p:nvPr/>
        </p:nvSpPr>
        <p:spPr>
          <a:xfrm>
            <a:off x="4165631" y="4328470"/>
            <a:ext cx="100990" cy="215444"/>
          </a:xfrm>
          <a:prstGeom prst="rect">
            <a:avLst/>
          </a:prstGeom>
          <a:noFill/>
          <a:ln w="1016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ko-KR" altLang="en-US" sz="140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6" name="직사각형 55"/>
          <p:cNvSpPr/>
          <p:nvPr/>
        </p:nvSpPr>
        <p:spPr>
          <a:xfrm>
            <a:off x="5610127" y="4328470"/>
            <a:ext cx="100990" cy="215444"/>
          </a:xfrm>
          <a:prstGeom prst="rect">
            <a:avLst/>
          </a:prstGeom>
          <a:noFill/>
          <a:ln w="1016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  <a:latin typeface="+mj-ea"/>
                <a:ea typeface="+mj-ea"/>
              </a:rPr>
              <a:t>4</a:t>
            </a:r>
            <a:endParaRPr lang="ko-KR" altLang="en-US" sz="1400" dirty="0">
              <a:solidFill>
                <a:schemeClr val="bg1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7780567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9" name="직선 연결선 98"/>
          <p:cNvCxnSpPr/>
          <p:nvPr/>
        </p:nvCxnSpPr>
        <p:spPr>
          <a:xfrm flipH="1">
            <a:off x="2729225" y="3153359"/>
            <a:ext cx="6021" cy="2396612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직선 연결선 99"/>
          <p:cNvCxnSpPr/>
          <p:nvPr/>
        </p:nvCxnSpPr>
        <p:spPr>
          <a:xfrm flipH="1">
            <a:off x="4188031" y="3153359"/>
            <a:ext cx="1" cy="139515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직선 연결선 101"/>
          <p:cNvCxnSpPr/>
          <p:nvPr/>
        </p:nvCxnSpPr>
        <p:spPr>
          <a:xfrm flipH="1">
            <a:off x="5663268" y="3153359"/>
            <a:ext cx="1" cy="189613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연결선 102"/>
          <p:cNvCxnSpPr/>
          <p:nvPr/>
        </p:nvCxnSpPr>
        <p:spPr>
          <a:xfrm flipH="1">
            <a:off x="8577098" y="3153359"/>
            <a:ext cx="1" cy="139515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연결선 104"/>
          <p:cNvCxnSpPr/>
          <p:nvPr/>
        </p:nvCxnSpPr>
        <p:spPr>
          <a:xfrm flipH="1">
            <a:off x="7119454" y="3153359"/>
            <a:ext cx="1" cy="189613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연결선 95"/>
          <p:cNvCxnSpPr/>
          <p:nvPr/>
        </p:nvCxnSpPr>
        <p:spPr>
          <a:xfrm flipH="1">
            <a:off x="1256098" y="3153359"/>
            <a:ext cx="6021" cy="2396612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1. 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전체 조직도</a:t>
            </a:r>
            <a:endParaRPr lang="en-US" altLang="ko-KR" dirty="0"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Ⅱ. </a:t>
            </a:r>
            <a:r>
              <a:rPr lang="ko-KR" altLang="en-US" dirty="0" err="1"/>
              <a:t>운용조직</a:t>
            </a:r>
            <a:endParaRPr lang="ko-KR" altLang="en-US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89777A5E-BD2B-3544-8CCA-D4A952A68A7A}"/>
              </a:ext>
            </a:extLst>
          </p:cNvPr>
          <p:cNvSpPr txBox="1">
            <a:spLocks/>
          </p:cNvSpPr>
          <p:nvPr/>
        </p:nvSpPr>
        <p:spPr>
          <a:xfrm>
            <a:off x="369416" y="1475788"/>
            <a:ext cx="8915400" cy="516684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20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ko-KR" altLang="en-US" dirty="0"/>
              <a:t>     </a:t>
            </a:r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</p:txBody>
      </p:sp>
      <p:sp>
        <p:nvSpPr>
          <p:cNvPr id="24" name="내용 개체 틀 2">
            <a:extLst>
              <a:ext uri="{FF2B5EF4-FFF2-40B4-BE49-F238E27FC236}">
                <a16:creationId xmlns:a16="http://schemas.microsoft.com/office/drawing/2014/main" id="{C729BBA9-AB58-EA41-8107-328105F7951E}"/>
              </a:ext>
            </a:extLst>
          </p:cNvPr>
          <p:cNvSpPr txBox="1">
            <a:spLocks/>
          </p:cNvSpPr>
          <p:nvPr/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0" i="0" kern="1200">
                <a:solidFill>
                  <a:srgbClr val="3C3C3B"/>
                </a:solidFill>
                <a:latin typeface="+mn-ea"/>
                <a:ea typeface="+mn-ea"/>
                <a:cs typeface="KoPub돋움체_Pro Medium"/>
              </a:defRPr>
            </a:lvl1pPr>
            <a:lvl2pPr marL="457200" indent="0" algn="l" defTabSz="457200" rtl="0" eaLnBrk="1" latinLnBrk="1" hangingPunct="1">
              <a:spcBef>
                <a:spcPct val="20000"/>
              </a:spcBef>
              <a:buFontTx/>
              <a:buNone/>
              <a:defRPr sz="20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2pPr>
            <a:lvl3pPr marL="914400" indent="0" algn="l" defTabSz="457200" rtl="0" eaLnBrk="1" latinLnBrk="1" hangingPunct="1">
              <a:spcBef>
                <a:spcPct val="20000"/>
              </a:spcBef>
              <a:buFontTx/>
              <a:buNone/>
              <a:defRPr sz="18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3pPr>
            <a:lvl4pPr marL="1371600" indent="0" algn="l" defTabSz="457200" rtl="0" eaLnBrk="1" latinLnBrk="1" hangingPunct="1">
              <a:spcBef>
                <a:spcPct val="200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4pPr>
            <a:lvl5pPr marL="1828800" indent="0" algn="l" defTabSz="457200" rtl="0" eaLnBrk="1" latinLnBrk="1" hangingPunct="1">
              <a:spcBef>
                <a:spcPct val="200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5pPr>
            <a:lvl6pPr marL="2514600" indent="-228600" algn="l" defTabSz="457200" rtl="0" eaLnBrk="1" latinLnBrk="1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1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1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1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320"/>
              </a:lnSpc>
              <a:spcBef>
                <a:spcPts val="660"/>
              </a:spcBef>
            </a:pPr>
            <a:endParaRPr kumimoji="1" lang="en-US" altLang="ko-KR" dirty="0"/>
          </a:p>
          <a:p>
            <a:pPr>
              <a:lnSpc>
                <a:spcPts val="1320"/>
              </a:lnSpc>
              <a:spcBef>
                <a:spcPts val="660"/>
              </a:spcBef>
            </a:pPr>
            <a:endParaRPr kumimoji="1" lang="en-US" altLang="ko-KR" dirty="0"/>
          </a:p>
          <a:p>
            <a:pPr>
              <a:lnSpc>
                <a:spcPts val="1320"/>
              </a:lnSpc>
              <a:spcBef>
                <a:spcPts val="660"/>
              </a:spcBef>
            </a:pPr>
            <a:r>
              <a:rPr kumimoji="1" lang="en-US" altLang="ko-KR" dirty="0">
                <a:solidFill>
                  <a:schemeClr val="tx1"/>
                </a:solidFill>
              </a:rPr>
              <a:t>   </a:t>
            </a:r>
            <a:endParaRPr kumimoji="1" lang="ko-KR" altLang="en-US" dirty="0">
              <a:solidFill>
                <a:schemeClr val="tx1"/>
              </a:solidFill>
            </a:endParaRPr>
          </a:p>
        </p:txBody>
      </p:sp>
      <p:sp>
        <p:nvSpPr>
          <p:cNvPr id="25" name="내용 개체 틀 2">
            <a:extLst>
              <a:ext uri="{FF2B5EF4-FFF2-40B4-BE49-F238E27FC236}">
                <a16:creationId xmlns:a16="http://schemas.microsoft.com/office/drawing/2014/main" id="{89777A5E-BD2B-3544-8CCA-D4A952A68A7A}"/>
              </a:ext>
            </a:extLst>
          </p:cNvPr>
          <p:cNvSpPr txBox="1">
            <a:spLocks/>
          </p:cNvSpPr>
          <p:nvPr/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20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ko-KR" altLang="en-US" dirty="0"/>
              <a:t>     </a:t>
            </a:r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</p:txBody>
      </p:sp>
      <p:cxnSp>
        <p:nvCxnSpPr>
          <p:cNvPr id="20" name="직선 연결선 19"/>
          <p:cNvCxnSpPr/>
          <p:nvPr/>
        </p:nvCxnSpPr>
        <p:spPr>
          <a:xfrm flipH="1">
            <a:off x="1268798" y="2314528"/>
            <a:ext cx="1771" cy="398574"/>
          </a:xfrm>
          <a:prstGeom prst="line">
            <a:avLst/>
          </a:prstGeom>
          <a:ln w="6350" cap="sq">
            <a:solidFill>
              <a:schemeClr val="bg1">
                <a:lumMod val="50000"/>
              </a:schemeClr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/>
          <p:cNvCxnSpPr/>
          <p:nvPr/>
        </p:nvCxnSpPr>
        <p:spPr>
          <a:xfrm>
            <a:off x="4924719" y="1906466"/>
            <a:ext cx="0" cy="1065794"/>
          </a:xfrm>
          <a:prstGeom prst="line">
            <a:avLst/>
          </a:prstGeom>
          <a:ln w="6350" cap="sq">
            <a:solidFill>
              <a:schemeClr val="bg1">
                <a:lumMod val="50000"/>
              </a:schemeClr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>
            <a:stCxn id="21" idx="3"/>
            <a:endCxn id="29" idx="1"/>
          </p:cNvCxnSpPr>
          <p:nvPr/>
        </p:nvCxnSpPr>
        <p:spPr>
          <a:xfrm>
            <a:off x="5552948" y="1771870"/>
            <a:ext cx="2394150" cy="0"/>
          </a:xfrm>
          <a:prstGeom prst="line">
            <a:avLst/>
          </a:prstGeom>
          <a:ln w="6350" cap="sq">
            <a:solidFill>
              <a:schemeClr val="bg1">
                <a:lumMod val="50000"/>
              </a:schemeClr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/>
          <p:cNvCxnSpPr>
            <a:stCxn id="84" idx="3"/>
            <a:endCxn id="30" idx="1"/>
          </p:cNvCxnSpPr>
          <p:nvPr/>
        </p:nvCxnSpPr>
        <p:spPr>
          <a:xfrm>
            <a:off x="1898798" y="2218032"/>
            <a:ext cx="6048300" cy="0"/>
          </a:xfrm>
          <a:prstGeom prst="line">
            <a:avLst/>
          </a:prstGeom>
          <a:ln w="6350" cap="sq">
            <a:solidFill>
              <a:schemeClr val="bg1">
                <a:lumMod val="50000"/>
              </a:schemeClr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8" name="그룹 27"/>
          <p:cNvGrpSpPr/>
          <p:nvPr/>
        </p:nvGrpSpPr>
        <p:grpSpPr>
          <a:xfrm>
            <a:off x="2732229" y="2972260"/>
            <a:ext cx="4389010" cy="134060"/>
            <a:chOff x="2760510" y="2859638"/>
            <a:chExt cx="4389010" cy="137346"/>
          </a:xfrm>
        </p:grpSpPr>
        <p:cxnSp>
          <p:nvCxnSpPr>
            <p:cNvPr id="86" name="직선 연결선 85"/>
            <p:cNvCxnSpPr/>
            <p:nvPr/>
          </p:nvCxnSpPr>
          <p:spPr>
            <a:xfrm>
              <a:off x="2760510" y="2859638"/>
              <a:ext cx="0" cy="137346"/>
            </a:xfrm>
            <a:prstGeom prst="line">
              <a:avLst/>
            </a:prstGeom>
            <a:ln w="6350" cap="sq">
              <a:solidFill>
                <a:schemeClr val="bg1">
                  <a:lumMod val="5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직선 연결선 86"/>
            <p:cNvCxnSpPr/>
            <p:nvPr/>
          </p:nvCxnSpPr>
          <p:spPr>
            <a:xfrm>
              <a:off x="4220430" y="2859638"/>
              <a:ext cx="0" cy="137346"/>
            </a:xfrm>
            <a:prstGeom prst="line">
              <a:avLst/>
            </a:prstGeom>
            <a:ln w="6350" cap="sq">
              <a:solidFill>
                <a:schemeClr val="bg1">
                  <a:lumMod val="5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직선 연결선 87"/>
            <p:cNvCxnSpPr/>
            <p:nvPr/>
          </p:nvCxnSpPr>
          <p:spPr>
            <a:xfrm>
              <a:off x="5689600" y="2859638"/>
              <a:ext cx="0" cy="137346"/>
            </a:xfrm>
            <a:prstGeom prst="line">
              <a:avLst/>
            </a:prstGeom>
            <a:ln w="6350" cap="sq">
              <a:solidFill>
                <a:schemeClr val="bg1">
                  <a:lumMod val="5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직선 연결선 88"/>
            <p:cNvCxnSpPr/>
            <p:nvPr/>
          </p:nvCxnSpPr>
          <p:spPr>
            <a:xfrm>
              <a:off x="7149520" y="2859638"/>
              <a:ext cx="0" cy="137346"/>
            </a:xfrm>
            <a:prstGeom prst="line">
              <a:avLst/>
            </a:prstGeom>
            <a:ln w="6350" cap="sq">
              <a:solidFill>
                <a:schemeClr val="bg1">
                  <a:lumMod val="5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모서리가 둥근 직사각형 28"/>
          <p:cNvSpPr/>
          <p:nvPr/>
        </p:nvSpPr>
        <p:spPr>
          <a:xfrm>
            <a:off x="7947098" y="1591870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금융소비자보호책임자</a:t>
            </a:r>
          </a:p>
        </p:txBody>
      </p:sp>
      <p:sp>
        <p:nvSpPr>
          <p:cNvPr id="30" name="모서리가 둥근 직사각형 29"/>
          <p:cNvSpPr/>
          <p:nvPr/>
        </p:nvSpPr>
        <p:spPr>
          <a:xfrm>
            <a:off x="7947098" y="2038032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리스크관리위원회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cxnSp>
        <p:nvCxnSpPr>
          <p:cNvPr id="31" name="꺾인 연결선 30"/>
          <p:cNvCxnSpPr/>
          <p:nvPr/>
        </p:nvCxnSpPr>
        <p:spPr>
          <a:xfrm rot="5400000" flipH="1" flipV="1">
            <a:off x="4916012" y="-557941"/>
            <a:ext cx="13873" cy="7308300"/>
          </a:xfrm>
          <a:prstGeom prst="bentConnector3">
            <a:avLst>
              <a:gd name="adj1" fmla="val 944937"/>
            </a:avLst>
          </a:prstGeom>
          <a:ln w="6350" cap="sq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모서리가 둥근 직사각형 53"/>
          <p:cNvSpPr/>
          <p:nvPr/>
        </p:nvSpPr>
        <p:spPr>
          <a:xfrm>
            <a:off x="644819" y="442672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부동산부문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55" name="모서리가 둥근 직사각형 54"/>
          <p:cNvSpPr/>
          <p:nvPr/>
        </p:nvSpPr>
        <p:spPr>
          <a:xfrm>
            <a:off x="2106247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금융공학운용부문</a:t>
            </a:r>
            <a:endParaRPr lang="en-US" altLang="ko-KR" sz="900" dirty="0">
              <a:solidFill>
                <a:schemeClr val="tx1"/>
              </a:solidFill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</p:txBody>
      </p:sp>
      <p:sp>
        <p:nvSpPr>
          <p:cNvPr id="56" name="모서리가 둥근 직사각형 55"/>
          <p:cNvSpPr/>
          <p:nvPr/>
        </p:nvSpPr>
        <p:spPr>
          <a:xfrm>
            <a:off x="3567675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ETF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마케팅부문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57" name="모서리가 둥근 직사각형 56"/>
          <p:cNvSpPr/>
          <p:nvPr/>
        </p:nvSpPr>
        <p:spPr>
          <a:xfrm>
            <a:off x="5027521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투자솔루션부문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58" name="모서리가 둥근 직사각형 57"/>
          <p:cNvSpPr/>
          <p:nvPr/>
        </p:nvSpPr>
        <p:spPr>
          <a:xfrm>
            <a:off x="6492546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디지털혁신부문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84" name="모서리가 둥근 직사각형 83"/>
          <p:cNvSpPr/>
          <p:nvPr/>
        </p:nvSpPr>
        <p:spPr>
          <a:xfrm>
            <a:off x="638798" y="2038032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투자전략위원회</a:t>
            </a:r>
          </a:p>
        </p:txBody>
      </p:sp>
      <p:sp>
        <p:nvSpPr>
          <p:cNvPr id="85" name="모서리가 둥근 직사각형 84"/>
          <p:cNvSpPr/>
          <p:nvPr/>
        </p:nvSpPr>
        <p:spPr>
          <a:xfrm>
            <a:off x="638798" y="2484194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스튜어드십본부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0" name="모서리가 둥근 직사각형 59"/>
          <p:cNvSpPr/>
          <p:nvPr/>
        </p:nvSpPr>
        <p:spPr>
          <a:xfrm>
            <a:off x="2106247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글로벌투자부문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1" name="모서리가 둥근 직사각형 60"/>
          <p:cNvSpPr/>
          <p:nvPr/>
        </p:nvSpPr>
        <p:spPr>
          <a:xfrm>
            <a:off x="3567675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WM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마케팅부문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2" name="모서리가 둥근 직사각형 61"/>
          <p:cNvSpPr/>
          <p:nvPr/>
        </p:nvSpPr>
        <p:spPr>
          <a:xfrm>
            <a:off x="5027521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주택도시기금운용부문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3" name="모서리가 둥근 직사각형 62"/>
          <p:cNvSpPr/>
          <p:nvPr/>
        </p:nvSpPr>
        <p:spPr>
          <a:xfrm>
            <a:off x="6492546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경영혁신부문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4" name="모서리가 둥근 직사각형 63"/>
          <p:cNvSpPr/>
          <p:nvPr/>
        </p:nvSpPr>
        <p:spPr>
          <a:xfrm>
            <a:off x="7951959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상품전략본부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</a:p>
        </p:txBody>
      </p:sp>
      <p:sp>
        <p:nvSpPr>
          <p:cNvPr id="65" name="모서리가 둥근 직사각형 64"/>
          <p:cNvSpPr/>
          <p:nvPr/>
        </p:nvSpPr>
        <p:spPr>
          <a:xfrm>
            <a:off x="644819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주식운용부문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6" name="모서리가 둥근 직사각형 65"/>
          <p:cNvSpPr/>
          <p:nvPr/>
        </p:nvSpPr>
        <p:spPr>
          <a:xfrm>
            <a:off x="644819" y="353971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리서치부문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7" name="모서리가 둥근 직사각형 66"/>
          <p:cNvSpPr/>
          <p:nvPr/>
        </p:nvSpPr>
        <p:spPr>
          <a:xfrm>
            <a:off x="2106247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멀티전략투자부문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8" name="모서리가 둥근 직사각형 67"/>
          <p:cNvSpPr/>
          <p:nvPr/>
        </p:nvSpPr>
        <p:spPr>
          <a:xfrm>
            <a:off x="3567675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연금마케팅부문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9" name="모서리가 둥근 직사각형 68"/>
          <p:cNvSpPr/>
          <p:nvPr/>
        </p:nvSpPr>
        <p:spPr>
          <a:xfrm>
            <a:off x="5027521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기금솔루션부문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6492546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글로벌혁신부문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1" name="모서리가 둥근 직사각형 70"/>
          <p:cNvSpPr/>
          <p:nvPr/>
        </p:nvSpPr>
        <p:spPr>
          <a:xfrm>
            <a:off x="644819" y="398321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채권운용부문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2" name="모서리가 둥근 직사각형 71"/>
          <p:cNvSpPr/>
          <p:nvPr/>
        </p:nvSpPr>
        <p:spPr>
          <a:xfrm>
            <a:off x="2106247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ETF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운용부문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3" name="모서리가 둥근 직사각형 72"/>
          <p:cNvSpPr/>
          <p:nvPr/>
        </p:nvSpPr>
        <p:spPr>
          <a:xfrm>
            <a:off x="3567675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기업솔루션부문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4" name="모서리가 둥근 직사각형 73"/>
          <p:cNvSpPr/>
          <p:nvPr/>
        </p:nvSpPr>
        <p:spPr>
          <a:xfrm>
            <a:off x="5027521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투자플랫폼사업부문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5" name="모서리가 둥근 직사각형 74"/>
          <p:cNvSpPr/>
          <p:nvPr/>
        </p:nvSpPr>
        <p:spPr>
          <a:xfrm>
            <a:off x="6492546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리스크관리부문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6" name="모서리가 둥근 직사각형 75"/>
          <p:cNvSpPr/>
          <p:nvPr/>
        </p:nvSpPr>
        <p:spPr>
          <a:xfrm>
            <a:off x="644819" y="531372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인프라투자부문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7" name="모서리가 둥근 직사각형 76"/>
          <p:cNvSpPr/>
          <p:nvPr/>
        </p:nvSpPr>
        <p:spPr>
          <a:xfrm>
            <a:off x="644819" y="487022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PEF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8" name="모서리가 둥근 직사각형 77"/>
          <p:cNvSpPr/>
          <p:nvPr/>
        </p:nvSpPr>
        <p:spPr>
          <a:xfrm>
            <a:off x="2106247" y="486949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자산배분부문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9" name="모서리가 둥근 직사각형 78"/>
          <p:cNvSpPr/>
          <p:nvPr/>
        </p:nvSpPr>
        <p:spPr>
          <a:xfrm>
            <a:off x="5027521" y="486949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투자와연금센터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80" name="모서리가 둥근 직사각형 79"/>
          <p:cNvSpPr/>
          <p:nvPr/>
        </p:nvSpPr>
        <p:spPr>
          <a:xfrm>
            <a:off x="7951959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법무실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82" name="모서리가 둥근 직사각형 81"/>
          <p:cNvSpPr/>
          <p:nvPr/>
        </p:nvSpPr>
        <p:spPr>
          <a:xfrm>
            <a:off x="7951959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감사실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83" name="모서리가 둥근 직사각형 82"/>
          <p:cNvSpPr/>
          <p:nvPr/>
        </p:nvSpPr>
        <p:spPr>
          <a:xfrm>
            <a:off x="7951959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홍보실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8168858" y="5538428"/>
            <a:ext cx="1037143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en-US" altLang="ko-KR" sz="1000" dirty="0"/>
              <a:t>(2000.00</a:t>
            </a:r>
            <a:r>
              <a:rPr lang="ko-KR" altLang="en-US" sz="1000" dirty="0"/>
              <a:t>월말 기준</a:t>
            </a:r>
            <a:r>
              <a:rPr lang="en-US" altLang="ko-KR" sz="1000" dirty="0"/>
              <a:t>)</a:t>
            </a:r>
            <a:endParaRPr lang="ko-KR" altLang="en-US" sz="1000" dirty="0"/>
          </a:p>
        </p:txBody>
      </p:sp>
      <p:sp>
        <p:nvSpPr>
          <p:cNvPr id="92" name="모서리가 둥근 직사각형 91"/>
          <p:cNvSpPr/>
          <p:nvPr/>
        </p:nvSpPr>
        <p:spPr>
          <a:xfrm>
            <a:off x="6492546" y="486949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준법감시인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94" name="모서리가 둥근 직사각형 93"/>
          <p:cNvSpPr/>
          <p:nvPr/>
        </p:nvSpPr>
        <p:spPr>
          <a:xfrm>
            <a:off x="2106247" y="531282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spc="-5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글로벌</a:t>
            </a:r>
            <a:r>
              <a:rPr lang="en-US" altLang="ko-KR" sz="900" spc="-5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ETF</a:t>
            </a:r>
            <a:r>
              <a:rPr lang="ko-KR" altLang="en-US" sz="900" spc="-5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상품전략부문</a:t>
            </a:r>
            <a:endParaRPr lang="en-US" altLang="ko-KR" sz="900" spc="-5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21" name="모서리가 둥근 직사각형 20"/>
          <p:cNvSpPr/>
          <p:nvPr/>
        </p:nvSpPr>
        <p:spPr>
          <a:xfrm>
            <a:off x="4292948" y="1591870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대표이사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27829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93790" y="1040633"/>
            <a:ext cx="8928000" cy="5166864"/>
          </a:xfrm>
        </p:spPr>
        <p:txBody>
          <a:bodyPr wrap="square" lIns="0" rIns="0" numCol="1">
            <a:spAutoFit/>
          </a:bodyPr>
          <a:lstStyle/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자료는 집합투자상품의 청약을 권유하기 위한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판촉물이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아니며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청약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권유시에는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반드시 투자설명서를 사용하여야 합니다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자료에 수록된 내용은 신뢰할 만한 자료 및 정보로부터 얻어진 것이나 당사는 그 정확성이나 안전성을 보장할 수 없습니다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  <a:b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</a:b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따라서 어떠한 경우에도 본 자료는 투자자의 투자 결과에 대한 법적 책임소재에 대한 증빙자료로 사용될 수 없습니다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자료는 판매회사 임직원의 이해를 돕기 위한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안내자료이며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임의로 일반투자자에게 제공했을 경우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당사는 일체의 법적 책임을 지지 않습니다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관련법령은 수익증권 투자에 대해서는 원리금을 보장하거나 보호하지 않습니다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따라서 투자원본의 전부 또는 일부에 대한 손실의 위험이 존재하며 투자금액의 손실 내지 감소의 위험은 전적으로 투자자가 부담하며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집합투자업자나 판매회사 등 어떤 당사자도 투자손실에 대하여 책임을 지지 아니합니다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집합투자상품은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운용결과에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따른 이익 또는 손실이 투자자에게 귀속되는 실적배당 상품이며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예금자 보호법의 보호 대상이 아닙니다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과거의 실적이 미래의 수익을 보장하는 것은 아닙니다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신탁재산을 주식 및 채권 등에 투자함으로써 투자신탁은 증권의 가격변동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이자율 등 기타 거시경제지표의 변화에 따른 위험에 노출됩니다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또한 신탁재산의 가치는 투자대상 종목의 영업환경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재무상황 및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신용상태의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악화에 따라 급격히 변동될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주식투자에 따른 비체계적 위험은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시장위험과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달리 분산투자로도 회피할 수 없는 위험이므로 투자종목에 대한 정기적 분석 및 점검을 통해 포트폴리오에 미치는 영향의 최소화를 추구하지만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개별주식에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대한 위험이 실제 발생할 경우 손실이 발생할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 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파생상품은 작은 증거금으로 거액의 결제가 가능한 지렛대효과로 인하여 기초자산에 직접 투자하는 경우에 비하여 높은 위험에 노출될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증권시장 규모 등을 감안할 때 신탁재산에서 거래량이 풍부하지 못한 종목에 투자하는 경우 투자대상 종목의 유동성 부족에 따른 환금성에 제약이 발생할 수 있으며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b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</a:b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이는 신탁재산의 가치하락을 초래할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법령 또는 법령에 의한 사유 발생시 및 투자신탁재산의 매각 불능과 투자자의 이익 또는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투자자간의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형평성을 해할 우려가 있는 경우 및 기타 금융감독위원회가 인정하는 경우 수익증권의 환매가 연기 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 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자료에 기재된 내용 중 투자참고 및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예측자료는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신뢰할 수 있다고 판단되는 각종 자료와 통계자료를 이용하여 작성한 것으로 향후 결과를 보증하는 것이 아닙니다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신탁재산은 “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자본시장법”에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의하여 신탁업자가 안전하게 보관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관리하고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자료에 포함된 모든 정보는 당사의 승인 없이 복제되어 유통될 수 없습니다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Compliance Notice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997540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05126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Mirae Asset Color">
      <a:dk1>
        <a:srgbClr val="000000"/>
      </a:dk1>
      <a:lt1>
        <a:srgbClr val="FFFFFF"/>
      </a:lt1>
      <a:dk2>
        <a:srgbClr val="F0B26B"/>
      </a:dk2>
      <a:lt2>
        <a:srgbClr val="84888B"/>
      </a:lt2>
      <a:accent1>
        <a:srgbClr val="F58220"/>
      </a:accent1>
      <a:accent2>
        <a:srgbClr val="043B72"/>
      </a:accent2>
      <a:accent3>
        <a:srgbClr val="00A9CE"/>
      </a:accent3>
      <a:accent4>
        <a:srgbClr val="0086B8"/>
      </a:accent4>
      <a:accent5>
        <a:srgbClr val="AE634E"/>
      </a:accent5>
      <a:accent6>
        <a:srgbClr val="E12F00"/>
      </a:accent6>
      <a:hlink>
        <a:srgbClr val="000000"/>
      </a:hlink>
      <a:folHlink>
        <a:srgbClr val="FF0000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10272</TotalTime>
  <Words>2366</Words>
  <Application>Microsoft Office PowerPoint</Application>
  <PresentationFormat>A4 용지(210x297mm)</PresentationFormat>
  <Paragraphs>273</Paragraphs>
  <Slides>24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31" baseType="lpstr">
      <vt:lpstr>KoPub돋움체_Pro Bold</vt:lpstr>
      <vt:lpstr>KoPub돋움체_Pro Light</vt:lpstr>
      <vt:lpstr>KoPub돋움체_Pro Medium</vt:lpstr>
      <vt:lpstr>맑은 고딕</vt:lpstr>
      <vt:lpstr>Arial</vt:lpstr>
      <vt:lpstr>Noto Sans</vt:lpstr>
      <vt:lpstr>Office 테마</vt:lpstr>
      <vt:lpstr>미래에셋 Tech TOP10 스마트 액티브 레버리지 1.5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AI금융공학운용부문 퀀트 시스템 (QPMS Vol Trading)</vt:lpstr>
      <vt:lpstr>PowerPoint 프레젠테이션</vt:lpstr>
      <vt:lpstr>펀드 정보</vt:lpstr>
      <vt:lpstr>투자 위험</vt:lpstr>
      <vt:lpstr>Ⅰ. 운용프로세스 </vt:lpstr>
      <vt:lpstr>Ⅱ. 운용조직</vt:lpstr>
      <vt:lpstr>Compliance Notice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미래에셋자산운용 WM 및 연금마케팅 제안서 PPT 디자인 가이드라인</dc:title>
  <dc:creator>Joonho Shin(신준호)</dc:creator>
  <cp:lastModifiedBy>Lee, Hyun Kyung (이현경)</cp:lastModifiedBy>
  <cp:revision>171</cp:revision>
  <cp:lastPrinted>2026-08-12T04:55:03Z</cp:lastPrinted>
  <dcterms:created xsi:type="dcterms:W3CDTF">2020-05-26T08:18:33Z</dcterms:created>
  <dcterms:modified xsi:type="dcterms:W3CDTF">2026-08-14T05:02:22Z</dcterms:modified>
</cp:coreProperties>
</file>