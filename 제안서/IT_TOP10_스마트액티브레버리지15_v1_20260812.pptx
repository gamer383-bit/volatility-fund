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02" r:id="rId18"/>
    <p:sldId id="414" r:id="rId19"/>
    <p:sldId id="404" r:id="rId20"/>
    <p:sldId id="405" r:id="rId21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IT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1. 왜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레버리지인가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레버리지의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숨은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비용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2. </a:t>
            </a:r>
            <a:r>
              <a:rPr sz="1500" dirty="0" err="1">
                <a:solidFill>
                  <a:srgbClr val="222222"/>
                </a:solidFill>
              </a:rPr>
              <a:t>시장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환경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역대급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반도체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변동성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3.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전략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평균</a:t>
            </a:r>
            <a:r>
              <a:rPr sz="1500" dirty="0">
                <a:solidFill>
                  <a:srgbClr val="222222"/>
                </a:solidFill>
              </a:rPr>
              <a:t> 1.5배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액티브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4. </a:t>
            </a:r>
            <a:r>
              <a:rPr sz="1500" dirty="0" err="1">
                <a:solidFill>
                  <a:srgbClr val="222222"/>
                </a:solidFill>
              </a:rPr>
              <a:t>백테스트</a:t>
            </a:r>
            <a:r>
              <a:rPr sz="1500" dirty="0">
                <a:solidFill>
                  <a:srgbClr val="222222"/>
                </a:solidFill>
              </a:rPr>
              <a:t> — BM </a:t>
            </a:r>
            <a:r>
              <a:rPr sz="1500" dirty="0" err="1">
                <a:solidFill>
                  <a:srgbClr val="222222"/>
                </a:solidFill>
              </a:rPr>
              <a:t>대비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성과와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재조정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횟수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5.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시스템·운용역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6. FAQ · </a:t>
            </a:r>
            <a:r>
              <a:rPr sz="1500" dirty="0" err="1">
                <a:solidFill>
                  <a:srgbClr val="222222"/>
                </a:solidFill>
              </a:rPr>
              <a:t>펀드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개요</a:t>
            </a:r>
            <a:r>
              <a:rPr sz="1500" dirty="0">
                <a:solidFill>
                  <a:srgbClr val="222222"/>
                </a:solidFill>
              </a:rPr>
              <a:t> · </a:t>
            </a:r>
            <a:r>
              <a:rPr sz="1500" dirty="0" err="1">
                <a:solidFill>
                  <a:srgbClr val="222222"/>
                </a:solidFill>
              </a:rPr>
              <a:t>투자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위험</a:t>
            </a:r>
            <a:endParaRPr sz="15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Concept : 레버리지의 비용을 알고, 반대로 운용한다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강력한 도구지만, '매일 2배(1.5배)를 다시 맞추는' 일일 재조정이 세 가지 비용을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변동성 잠식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일일 재조정은 '오르면 사고 내리면 파는' 매매입니다. 시장이 왕복하면 그 차이만큼 성과가 녹습니다 — 실측: 반도체TOP10 레버리지 ETF는 상장 후 단순 2배보다 111%p 덜 벌었습니다.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매매 비용과 시장 영향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재조정은 매일 장 마감 직전에 쏠립니다. 변동성이 큰 날은 수천억 원이 같은 방향으로 나가며 시장을 흔들고, 그 비용은 투자자가 부담합니다.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③ 스마트 액티브의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노출은 유지하되, 매일 기계적으로 재조정하지 않습니다. 오르면 비중이 자연히 줄고 내리면 늘어나는 성질을 활용해, 큰 변동에만 대응합니다.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일일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재조정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1,221회 → 17회.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노출은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같게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비용은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최소로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. (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백테스트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2021.08~2026.08)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시장 환경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lev15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046720" cy="3500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아는 사실 : 지수가 제자리로 와도, 레버리지는 오지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기간이 길수록 잠식은 커집니다 — KOSPI200이 4년 5개월 걸려 제자리로 왔을 때 레버리지는 -27.1%, 하이닉스 레버리지 ETF는 6주 왕복만으로 -18.8%.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874519"/>
            <a:ext cx="4709160" cy="303669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8928" y="1874519"/>
            <a:ext cx="4709160" cy="30366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수정주가 기준 실측 · KODEX 200/KODEX 레버리지, KODEX SK하이닉스단일종목레버리지 · SK하이닉스 주가는 레버리지 ETF 일별수익률÷2로 역산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① : 왕복이면 반드시 잃고, 추세면 더 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지수가 2배 올랐다 제자리로 오면 레버리지는 0이 됩니다. 실측으로도 하루 +24% 급등 직후 이틀 만에 -2.3%p 잠식. 그러나 추세 상승장에서는 복리 효과로 단순 2배보다 +752%p 더 벌었습니다.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783080"/>
            <a:ext cx="2942336" cy="278329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1832" y="1783080"/>
            <a:ext cx="2942336" cy="278329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2184" y="1783080"/>
            <a:ext cx="2942336" cy="2783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왕복장에서는 반드시 잃고, 추세장에서는 더 법니다 — 문제는 '언제 왕복할지 알 수 없다'는 것입니다.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(급등 사례 2026.07.31~08.03, 추세 사례 2025.04.30~2026.06.22) · 단순 2배 = 기초 누적수익률×2 (가상) · 참고: 2020.03~2021.01 추세장에서도 복리 효과 +110%p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② : 개인의 습성은 레버리지와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③ : 투자행태가 손실을 키운다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 투자자는 하락장에 사서(물타기) 회복까지 버티는 경향이 있습니다 — 재조정 비용이 가장 많이 쌓이는 구간에 가장 오래 머무는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손실회피 편향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이익은 빨리 실현하고 손실은 확정하지 못합니다. 레버리지 투자자는 수익 구간에서 단기 투자, 손실 구간에서 비자발적 장기 투자를 하게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하락장 유입 → 장기 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때 유입된 자금은 시장이 제자리로 돌아올 때까지 수년을 기다립니다. 그 사이 일일 재조정 비용이 매일 차감됩니다.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레버리지 투자자가 가장 오래 머무는 '하락 → 회복' 구간이, 일일 재조정 방식에는 가장 불리한 구간입니다.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대안 : 오르면 줄이고, 내리면 늘린다 — 재조정의 방향을 뒤집다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일일 재조정(추세 순응 매매)의 반대편에 서면, 왕복장의 비용이 수익 기회로 바뀝니다.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일일 재조정 레버리지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 +10% → 노출 부족 → 고가 매수 / 시장 -10% → 노출 초과 → 저가 매도. 왕복하면 반드시 잃습니다.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스마트 액티브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상승하면 레버리지율이 자연히 낮아지고(이익 확정 효과), 하락하면 높아집니다(저가 노출 확대). 억지로 되돌리지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큰 변동에만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1.5배에서 크게 벗어날 때만 재조정합니다. 잔변동에는 반응하지 않아 비용과 시장 영향이 최소화됩니다.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lev15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lev15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37360"/>
            <a:ext cx="7406640" cy="4416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lev15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lev15_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lev15_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lev15_cra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lev15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  <a:r>
              <a:rPr lang="ko-KR" altLang="en-US" dirty="0" err="1"/>
              <a:t>퀀트</a:t>
            </a:r>
            <a:r>
              <a:rPr lang="ko-KR" altLang="en-US" dirty="0"/>
              <a:t> 시스템 </a:t>
            </a:r>
            <a:r>
              <a:rPr lang="en-US" altLang="ko-KR" dirty="0"/>
              <a:t>(QPMS Vol Trading)</a:t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10272</TotalTime>
  <Words>2366</Words>
  <Application>Microsoft Office PowerPoint</Application>
  <PresentationFormat>A4 용지(210x297mm)</PresentationFormat>
  <Paragraphs>273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171</cp:revision>
  <cp:lastPrinted>2026-08-12T04:55:03Z</cp:lastPrinted>
  <dcterms:created xsi:type="dcterms:W3CDTF">2020-05-26T08:18:33Z</dcterms:created>
  <dcterms:modified xsi:type="dcterms:W3CDTF">2026-08-14T05:02:22Z</dcterms:modified>
</cp:coreProperties>
</file>