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6"/>
  </p:notesMasterIdLst>
  <p:handoutMasterIdLst>
    <p:handoutMasterId r:id="rId27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75" r:id="rId14"/>
    <p:sldId id="1278" r:id="rId15"/>
    <p:sldId id="1264" r:id="rId16"/>
    <p:sldId id="1258" r:id="rId17"/>
    <p:sldId id="1259" r:id="rId18"/>
    <p:sldId id="1277" r:id="rId19"/>
    <p:sldId id="1262" r:id="rId20"/>
    <p:sldId id="1276" r:id="rId21"/>
    <p:sldId id="1279" r:id="rId22"/>
    <p:sldId id="1265" r:id="rId23"/>
    <p:sldId id="1271" r:id="rId24"/>
    <p:sldId id="1270" r:id="rId25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391" autoAdjust="0"/>
  </p:normalViewPr>
  <p:slideViewPr>
    <p:cSldViewPr snapToGrid="0" snapToObjects="1">
      <p:cViewPr varScale="1">
        <p:scale>
          <a:sx n="155" d="100"/>
          <a:sy n="155" d="100"/>
        </p:scale>
        <p:origin x="1636" y="88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변동성 하베스트 AI Top2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일반사모투자신탁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Relationship Id="rId6" Type="http://schemas.openxmlformats.org/officeDocument/2006/relationships/image" Target="../media/image3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Relationship Id="rId3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변동성 하베스트 AI Top2</a:t>
            </a:r>
            <a:br>
              <a:rPr lang="en-US" altLang="ko-KR" dirty="0"/>
            </a:br>
            <a:r>
              <a:rPr lang="ko-KR" altLang="en-US" dirty="0"/>
              <a:t>일반사모투자신탁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기준(2026-07-10).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</a:t>
            </a:r>
            <a:r>
              <a:rPr sz="800" dirty="0" err="1">
                <a:latin typeface="KoPub돋움체_Pro Medium"/>
              </a:rPr>
              <a:t>하락장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손실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완화</a:t>
            </a:r>
            <a:r>
              <a:rPr sz="800" dirty="0">
                <a:latin typeface="KoPub돋움체_Pro Medium"/>
              </a:rPr>
              <a:t> -5% </a:t>
            </a:r>
            <a:r>
              <a:rPr sz="800" dirty="0" err="1">
                <a:latin typeface="KoPub돋움체_Pro Medium"/>
              </a:rPr>
              <a:t>산출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안정변동성펀드</a:t>
            </a:r>
            <a:r>
              <a:rPr sz="800" dirty="0">
                <a:latin typeface="KoPub돋움체_Pro Medium"/>
              </a:rPr>
              <a:t> 1년 </a:t>
            </a:r>
            <a:r>
              <a:rPr sz="800" dirty="0" err="1">
                <a:latin typeface="KoPub돋움체_Pro Medium"/>
              </a:rPr>
              <a:t>시뮬레이션</a:t>
            </a:r>
            <a:r>
              <a:rPr sz="800" dirty="0">
                <a:latin typeface="KoPub돋움체_Pro Medium"/>
              </a:rPr>
              <a:t>(AI Top2 </a:t>
            </a:r>
            <a:r>
              <a:rPr sz="800" dirty="0" err="1">
                <a:latin typeface="KoPub돋움체_Pro Medium"/>
              </a:rPr>
              <a:t>동일가중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최근</a:t>
            </a:r>
            <a:r>
              <a:rPr sz="800" dirty="0">
                <a:latin typeface="KoPub돋움체_Pro Medium"/>
              </a:rPr>
              <a:t> 3년 </a:t>
            </a:r>
            <a:r>
              <a:rPr sz="800" dirty="0" err="1">
                <a:latin typeface="KoPub돋움체_Pro Medium"/>
              </a:rPr>
              <a:t>블록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부트스트랩</a:t>
            </a:r>
            <a:r>
              <a:rPr sz="800" dirty="0">
                <a:latin typeface="KoPub돋움체_Pro Medium"/>
              </a:rPr>
              <a:t> 3,000경로 · </a:t>
            </a:r>
            <a:r>
              <a:rPr sz="800" dirty="0" err="1">
                <a:latin typeface="KoPub돋움체_Pro Medium"/>
              </a:rPr>
              <a:t>변동성</a:t>
            </a:r>
            <a:r>
              <a:rPr sz="800" dirty="0">
                <a:latin typeface="KoPub돋움체_Pro Medium"/>
              </a:rPr>
              <a:t> 60% </a:t>
            </a:r>
            <a:r>
              <a:rPr sz="800" dirty="0" err="1">
                <a:latin typeface="KoPub돋움체_Pro Medium"/>
              </a:rPr>
              <a:t>재현</a:t>
            </a:r>
            <a:r>
              <a:rPr sz="800" dirty="0">
                <a:latin typeface="KoPub돋움체_Pro Medium"/>
              </a:rPr>
              <a:t> · </a:t>
            </a:r>
            <a:r>
              <a:rPr sz="800" dirty="0" err="1">
                <a:latin typeface="KoPub돋움체_Pro Medium"/>
              </a:rPr>
              <a:t>매매비용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포함</a:t>
            </a:r>
            <a:r>
              <a:rPr sz="800" dirty="0">
                <a:latin typeface="KoPub돋움체_Pro Medium"/>
              </a:rPr>
              <a:t>) 중 </a:t>
            </a:r>
            <a:r>
              <a:rPr sz="800" dirty="0" err="1">
                <a:latin typeface="KoPub돋움체_Pro Medium"/>
              </a:rPr>
              <a:t>만기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지수</a:t>
            </a:r>
            <a:r>
              <a:rPr sz="800" dirty="0">
                <a:latin typeface="KoPub돋움체_Pro Medium"/>
              </a:rPr>
              <a:t> -30%±5% </a:t>
            </a:r>
            <a:r>
              <a:rPr sz="800" dirty="0" err="1">
                <a:latin typeface="KoPub돋움체_Pro Medium"/>
              </a:rPr>
              <a:t>도달</a:t>
            </a:r>
            <a:r>
              <a:rPr sz="800" dirty="0">
                <a:latin typeface="KoPub돋움체_Pro Medium"/>
              </a:rPr>
              <a:t> 233개 </a:t>
            </a:r>
            <a:r>
              <a:rPr sz="800" dirty="0" err="1">
                <a:latin typeface="KoPub돋움체_Pro Medium"/>
              </a:rPr>
              <a:t>경로의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수익률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중앙값</a:t>
            </a:r>
            <a:r>
              <a:rPr sz="800" dirty="0">
                <a:latin typeface="KoPub돋움체_Pro Medium"/>
              </a:rPr>
              <a:t>. </a:t>
            </a:r>
            <a:r>
              <a:rPr sz="800" dirty="0" err="1">
                <a:latin typeface="KoPub돋움체_Pro Medium"/>
              </a:rPr>
              <a:t>경로별</a:t>
            </a:r>
            <a:r>
              <a:rPr sz="800" dirty="0">
                <a:latin typeface="KoPub돋움체_Pro Medium"/>
              </a:rPr>
              <a:t> p5~p95 -14%~+5% </a:t>
            </a:r>
            <a:r>
              <a:rPr sz="800" dirty="0" err="1">
                <a:latin typeface="KoPub돋움체_Pro Medium"/>
              </a:rPr>
              <a:t>분포</a:t>
            </a:r>
            <a:r>
              <a:rPr sz="800" dirty="0">
                <a:latin typeface="KoPub돋움체_Pro Medium"/>
              </a:rPr>
              <a:t>(</a:t>
            </a:r>
            <a:r>
              <a:rPr sz="800" dirty="0" err="1">
                <a:latin typeface="KoPub돋움체_Pro Medium"/>
              </a:rPr>
              <a:t>상세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수익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구조</a:t>
            </a:r>
            <a:r>
              <a:rPr sz="800" dirty="0">
                <a:latin typeface="KoPub돋움체_Pro Medium"/>
              </a:rPr>
              <a:t> ② </a:t>
            </a:r>
            <a:r>
              <a:rPr sz="800" dirty="0" err="1">
                <a:latin typeface="KoPub돋움체_Pro Medium"/>
              </a:rPr>
              <a:t>보조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슬라이드</a:t>
            </a:r>
            <a:r>
              <a:rPr sz="800" dirty="0">
                <a:latin typeface="KoPub돋움체_Pro Medium"/>
              </a:rPr>
              <a:t>), </a:t>
            </a:r>
            <a:r>
              <a:rPr sz="800" dirty="0" err="1">
                <a:latin typeface="KoPub돋움체_Pro Medium"/>
              </a:rPr>
              <a:t>원금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보장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아님</a:t>
            </a:r>
            <a:r>
              <a:rPr sz="800" dirty="0">
                <a:latin typeface="KoPub돋움체_Pro Medium"/>
              </a:rPr>
              <a:t>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변동성을 활용하여 하락 했을 때도 수익이 가능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목표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15%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달성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시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분배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후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원금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재운용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수익은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분배하고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원금만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남겨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재운용하는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목표배당형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구조로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반복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2848356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lang="ko-KR" altLang="en-US" sz="1150" b="1" dirty="0">
                <a:solidFill>
                  <a:srgbClr val="FFFFFF"/>
                </a:solidFill>
                <a:latin typeface="KoPub돋움체_Pro Bold"/>
              </a:rPr>
              <a:t>에도 일정부분 수익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2848356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5193792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목표배당형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5193792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30352" y="3310128"/>
            <a:ext cx="2103120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9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5285232" y="3310128"/>
            <a:ext cx="1979676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목표 수익률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연 15%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달성 시 분배 · 원금 재운용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'수익은 챙기고 원금은 굴린다'
다음 사이클로 반복 수익 실현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539228" y="2606040"/>
            <a:ext cx="2162556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 국면별 성과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7539228" y="3081528"/>
            <a:ext cx="2162556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3" name="Picture 102" descr="vol_regime_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0668" y="3163824"/>
            <a:ext cx="1979676" cy="2424093"/>
          </a:xfrm>
          <a:prstGeom prst="rect">
            <a:avLst/>
          </a:prstGeom>
        </p:spPr>
      </p:pic>
      <p:pic>
        <p:nvPicPr>
          <p:cNvPr id="104" name="Picture 103" descr="mini_defense_growt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9796" y="3182112"/>
            <a:ext cx="1979676" cy="926191"/>
          </a:xfrm>
          <a:prstGeom prst="rect">
            <a:avLst/>
          </a:prstGeom>
        </p:spPr>
      </p:pic>
      <p:pic>
        <p:nvPicPr>
          <p:cNvPr id="105" name="Picture 104" descr="mini_defense_stab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39796" y="4261104"/>
            <a:ext cx="1979676" cy="929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만기 목표수익에 도달하도록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현재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만기시점 및 변동성과 같은 시장 상황을 고려하고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목표 수익에 도달하도록 포트폴리오를 관리합니다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성장변동성펀드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: -40%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구간은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변동성+상승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유사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운용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성장변동성펀드 (변동성 매매 + 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미도달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구간은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매매+상승에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, 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주식형과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유사하게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집중합니다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4434840" cy="3581986"/>
          </a:xfrm>
          <a:prstGeom prst="rect">
            <a:avLst/>
          </a:prstGeom>
        </p:spPr>
      </p:pic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37360"/>
            <a:ext cx="4434840" cy="35819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60% 가정 · 점=시뮬 1회 · 노란선=구간 평균 · 자체 시뮬레이션(매매비용 매수 5bp/매도 30bp·운용오차 포함)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-40%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매매를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멈추고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상승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수취를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위해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유사하게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예상수익률</a:t>
            </a:r>
            <a:r>
              <a:rPr sz="1350" b="1" i="0" dirty="0">
                <a:latin typeface="+mn-ea"/>
                <a:cs typeface="KoPub돋움체_Pro Bold"/>
              </a:rPr>
              <a:t> (</a:t>
            </a:r>
            <a:r>
              <a:rPr sz="1350" b="1" i="0" dirty="0" err="1">
                <a:latin typeface="+mn-ea"/>
                <a:cs typeface="KoPub돋움체_Pro Bold"/>
              </a:rPr>
              <a:t>최대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</a:t>
            </a:r>
            <a:r>
              <a:rPr sz="1350" b="1" i="0" dirty="0">
                <a:latin typeface="+mn-ea"/>
                <a:cs typeface="KoPub돋움체_Pro Bold"/>
              </a:rPr>
              <a:t> 180%)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12537795"/>
              </p:ext>
            </p:ext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+31.5%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+23.3%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-6.4%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-15.1%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· 지수 60 도달 시 하방 완충 소멸로 주식형과 유사 운용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크게 하락할수록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, 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저가매수 편입 구조가 손실 폭을 지수보다 완화시킴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-20%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 수준의 하락하더라도 원금 보존을 추구하고 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보합·상승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구간에서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변동성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매매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수익을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안정적으로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확보</a:t>
            </a:r>
            <a:r>
              <a:rPr lang="en-US" sz="1400" i="0" dirty="0">
                <a:latin typeface="+mn-lt"/>
                <a:ea typeface="KoPub돋움체_Pro Bold"/>
                <a:cs typeface="KoPub돋움체_Pro Bold"/>
              </a:rPr>
              <a:t>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변동성 60% 가정 · 점=시뮬 1회 .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8" name="Picture 7" descr="scat_stable_a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456" y="1886812"/>
            <a:ext cx="6675120" cy="41872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8FB3E-870E-8B8B-E34D-CAB3FE601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1C29C7-2344-F4E6-6823-A78DF130E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372E26-A0D7-9937-BE19-A51C62A31BD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>
                <a:latin typeface="+mn-ea"/>
                <a:cs typeface="KoPub돋움체_Pro Bold"/>
              </a:rPr>
              <a:t>예상수익률</a:t>
            </a:r>
            <a:endParaRPr sz="1350" b="1" i="0" dirty="0">
              <a:latin typeface="+mn-ea"/>
              <a:cs typeface="KoPub돋움체_Pro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B74F29-D460-2C5B-FF6D-C8792877B94C}"/>
              </a:ext>
            </a:extLst>
          </p:cNvPr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5C2188-D7E8-E23F-EA89-17CB3055C919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C2C1419-0007-675C-5050-0A022D7A3D9D}"/>
              </a:ext>
            </a:extLst>
          </p:cNvPr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3D1CBF1-AB6B-21E7-C1F6-384B11F2F812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F87FA24-EFEE-406F-1AAB-596537B9359C}"/>
              </a:ext>
            </a:extLst>
          </p:cNvPr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 · ATM 풋매도 복제(참여율 110%·최대 편입비 100%)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2F277-88F3-4D75-8574-D138AFD271E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4675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목표배당형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목표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달성 시 분배 후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목표수익률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도달</a:t>
            </a:r>
            <a:r>
              <a:rPr sz="1400" i="0" dirty="0">
                <a:latin typeface="+mn-ea"/>
                <a:cs typeface="KoPub돋움체_Pro Bold"/>
              </a:rPr>
              <a:t> 시 </a:t>
            </a:r>
            <a:r>
              <a:rPr sz="1400" i="0" dirty="0" err="1">
                <a:latin typeface="+mn-ea"/>
                <a:cs typeface="KoPub돋움체_Pro Bold"/>
              </a:rPr>
              <a:t>수익을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분배하고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원금만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남겨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다시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운용</a:t>
            </a:r>
            <a:r>
              <a:rPr sz="1400" i="0" dirty="0">
                <a:latin typeface="+mn-ea"/>
                <a:cs typeface="KoPub돋움체_Pro Bold"/>
              </a:rPr>
              <a:t> — '</a:t>
            </a:r>
            <a:r>
              <a:rPr sz="1400" i="0" dirty="0" err="1">
                <a:latin typeface="+mn-ea"/>
                <a:cs typeface="KoPub돋움체_Pro Bold"/>
              </a:rPr>
              <a:t>수익은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챙기고</a:t>
            </a:r>
            <a:r>
              <a:rPr sz="1400" i="0" dirty="0">
                <a:latin typeface="+mn-ea"/>
                <a:cs typeface="KoPub돋움체_Pro Bold"/>
              </a:rPr>
              <a:t>, </a:t>
            </a:r>
            <a:r>
              <a:rPr sz="1400" i="0" dirty="0" err="1">
                <a:latin typeface="+mn-ea"/>
                <a:cs typeface="KoPub돋움체_Pro Bold"/>
              </a:rPr>
              <a:t>원금은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굴린다</a:t>
            </a:r>
            <a:r>
              <a:rPr sz="1400" i="0" dirty="0">
                <a:latin typeface="+mn-ea"/>
                <a:cs typeface="KoPub돋움체_Pro Bold"/>
              </a:rPr>
              <a:t>'.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변동성 장세에 지친 투자자에게 안정적 현금흐름을 제공하는 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>오아시스같은</a:t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 전략입니다</a:t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>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방향 투자로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목표수익률(연 15%)을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목표 달성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누적 수익률 15% 도달 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부분을 투자자에게 분배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원금만 남겨 다음 사이클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재운용 — 반복 수익 실현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</a:t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Vol Trading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시스템운용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76408A-D4B8-4A08-1B53-7A9203525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95006"/>
            <a:ext cx="8705850" cy="1487892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6C43864-46D9-C9D0-AF84-94FA7B7A8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624919"/>
            <a:ext cx="4549719" cy="1857376"/>
          </a:xfrm>
          <a:prstGeom prst="rect">
            <a:avLst/>
          </a:prstGeom>
        </p:spPr>
      </p:pic>
      <p:pic>
        <p:nvPicPr>
          <p:cNvPr id="21" name="Picture 20" descr="qpms_down_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2953871"/>
            <a:ext cx="3364992" cy="1064568"/>
          </a:xfrm>
          <a:prstGeom prst="rect">
            <a:avLst/>
          </a:prstGeom>
        </p:spPr>
      </p:pic>
      <p:pic>
        <p:nvPicPr>
          <p:cNvPr id="22" name="Picture 21" descr="qpms_up_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0" y="4110218"/>
            <a:ext cx="3364992" cy="1064567"/>
          </a:xfrm>
          <a:prstGeom prst="rect">
            <a:avLst/>
          </a:prstGeom>
        </p:spPr>
      </p:pic>
      <p:pic>
        <p:nvPicPr>
          <p:cNvPr id="23" name="Picture 22" descr="qpms_flat_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0" y="5175504"/>
            <a:ext cx="3364992" cy="111519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80F6-760D-7173-6BEA-D23F902D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7FEC8F-0A4A-B876-9C9D-FE5B64BFD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67301"/>
            <a:ext cx="874452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: QPMS Vol Trading –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DA9A7-86E0-1795-12C4-11547F9BC5F7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BC4D29-7259-FAA5-5328-005DA8C700FC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030015-522F-93F7-10A3-F56DAC215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45" y="1325567"/>
            <a:ext cx="8743950" cy="142173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087282E-C283-C7A3-8DCA-FBE81892D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528612"/>
            <a:ext cx="4643438" cy="2254707"/>
          </a:xfrm>
          <a:prstGeom prst="rect">
            <a:avLst/>
          </a:prstGeom>
        </p:spPr>
      </p:pic>
      <p:pic>
        <p:nvPicPr>
          <p:cNvPr id="18" name="Picture 17" descr="qpms_dow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7840" y="2806469"/>
            <a:ext cx="3364992" cy="1154933"/>
          </a:xfrm>
          <a:prstGeom prst="rect">
            <a:avLst/>
          </a:prstGeom>
        </p:spPr>
      </p:pic>
      <p:pic>
        <p:nvPicPr>
          <p:cNvPr id="19" name="Picture 18" descr="qpms_up_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4019853"/>
            <a:ext cx="3364992" cy="1154933"/>
          </a:xfrm>
          <a:prstGeom prst="rect">
            <a:avLst/>
          </a:prstGeom>
        </p:spPr>
      </p:pic>
      <p:pic>
        <p:nvPicPr>
          <p:cNvPr id="20" name="Picture 19" descr="qpms_flat_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7840" y="5175504"/>
            <a:ext cx="3364992" cy="1067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90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9052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급변동 구간 실측 — 목표 환매 없음 vs +15%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+92%까지 급등 후 +10%로 되돌린 최근 3개월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067748"/>
            <a:ext cx="90525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기준가 2026-04-28 종가 ~ 07-28(노출 60영업일) · 기초=삼성전자·SK하이닉스 50:50 일별리밸런싱 지수(리밸비용 0) · σ=직전 60영업일 연율화(상한 60%) · r=q 2.5% · 편입비 하한 10% · 잔여 현금 연 2.5% · 매매비용 매수 5bp/매도 30bp · 실거래일 기준(주말 변동 없음) · 상기 자료는 예시이며 실제 성과와 다를 수 있습니다.</a:t>
            </a:r>
          </a:p>
        </p:txBody>
      </p:sp>
      <p:pic>
        <p:nvPicPr>
          <p:cNvPr id="8" name="Picture 7" descr="qpms_3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01952"/>
            <a:ext cx="4480560" cy="4092819"/>
          </a:xfrm>
          <a:prstGeom prst="rect">
            <a:avLst/>
          </a:prstGeom>
        </p:spPr>
      </p:pic>
      <p:pic>
        <p:nvPicPr>
          <p:cNvPr id="9" name="Picture 8" descr="qpms_3m_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3480" y="1901952"/>
            <a:ext cx="4480560" cy="418467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수익률 확률분포 ① — 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몬테카를로 시뮬레이션(좌, 1만회·σ60%)과 실측 데이터 일별 기산 1년 운용(우, 2021.07~2025.07 기산 977회)의 수익률 분포 — 지수(회색) vs 전략(주황).
실측 전략: 평균 +30.7% · 중앙값 +14.2% · 수익확률 82% (지수 중앙값 +23%)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좌(시뮬레이션): 몬테카를로 10,000경로 · σ 60% 고정 · 목표 환매 미적용 | 우(실측): 기초=삼성·하이닉스 50:50 일별리밸 지수, 매 영업일 기산 1년 운용 977회(2021.07~2025.07) · σ=직전 60영업일 연환산(상한 60%) · +15% 달성 시 당일 종가 재운용 적용 | 공통: r=q 2.5% · 잔여 현금 연 2.5% · 편입비 하한 10%(성장 상한 180%/안정 100%) · 매매비용 매수 5bp/매도 30bp · 상기 자료는 이해를 돕기 위한 예시이며 실제 투자내용·성과와 다를 수 있습니다.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28E9BD5-DF51-0399-0AC2-CF40D8A4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0"/>
            <a:ext cx="4480560" cy="3246120"/>
          </a:xfrm>
          <a:prstGeom prst="rect">
            <a:avLst/>
          </a:prstGeom>
        </p:spPr>
      </p:pic>
      <p:pic>
        <p:nvPicPr>
          <p:cNvPr id="14" name="Picture 13" descr="dist_growth_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194560"/>
            <a:ext cx="448056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93776" y="566928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KoPub돋움체_Pro Bold"/>
              </a:rPr>
              <a:t>수익률 확률분포 ② — 안정변동성펀드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24128"/>
            <a:ext cx="9052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222222"/>
                </a:solidFill>
              </a:rPr>
              <a:t>몬테카를로 시뮬레이션(좌, 1만회·σ60%)과 실측 데이터 일별 기산 1년 운용(우, 2021.07~2025.07 기산 977회)의 수익률 분포 — 지수(회색) vs 전략(남색).
실측 전략: 평균 +17.4% · 중앙값 +13.1% · 수익확률 80% (지수 중앙값 +23%)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163056"/>
            <a:ext cx="9052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0">
                <a:solidFill>
                  <a:srgbClr val="84888B"/>
                </a:solidFill>
                <a:latin typeface="KoPub돋움체_Pro Medium"/>
              </a:rPr>
              <a:t>※ 좌(시뮬레이션): 몬테카를로 10,000경로 · σ 60% 고정 · 목표 환매 미적용 | 우(실측): 기초=삼성·하이닉스 50:50 일별리밸 지수, 매 영업일 기산 1년 운용 977회(2021.07~2025.07) · σ=직전 60영업일 연환산(상한 60%) · +15% 달성 시 당일 종가 재운용 적용 | 공통: r=q 2.5% · 잔여 현금 연 2.5% · 편입비 하한 10%(성장 상한 180%/안정 100%) · 매매비용 매수 5bp/매도 30bp · 상기 자료는 이해를 돕기 위한 예시이며 실제 투자내용·성과와 다를 수 있습니다.</a:t>
            </a:r>
          </a:p>
        </p:txBody>
      </p:sp>
      <p:pic>
        <p:nvPicPr>
          <p:cNvPr id="7" name="Picture 6" descr="dist_s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194560"/>
            <a:ext cx="4480560" cy="3246120"/>
          </a:xfrm>
          <a:prstGeom prst="rect">
            <a:avLst/>
          </a:prstGeom>
        </p:spPr>
      </p:pic>
      <p:pic>
        <p:nvPicPr>
          <p:cNvPr id="8" name="Picture 7" descr="dist_stable_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194560"/>
            <a:ext cx="448056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122044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하락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지수와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같이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떨어지는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다릅니다. 하락할수록 저가매수로 편입을 늘리는 구조라, 같은 지수 -30%에서도 시뮬 손실 중앙값은 -5% 수준(안정형)으로 완화됩니다. 반등 시 늘어난 편입이 회복을 가속합니다.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94660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제한되는데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하방만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열려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있는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변동성 매매 수익을 안정적으로 확정</a:t>
            </a:r>
            <a:r>
              <a:rPr lang="ko-KR" altLang="en-US" sz="1400" dirty="0">
                <a:solidFill>
                  <a:schemeClr val="tx1"/>
                </a:solidFill>
                <a:cs typeface="KoPub돋움체_Pro Medium"/>
              </a:rPr>
              <a:t>하기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위한 설계입니다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. 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Bold"/>
              </a:rPr>
              <a:t>안정 변동성펀드에서 보이는 수익구조는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지수가 </a:t>
            </a:r>
            <a:r>
              <a:rPr lang="en-US" altLang="ko-KR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-20%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까지 하락하더라도 원금을 </a:t>
            </a:r>
            <a:r>
              <a:rPr lang="ko-KR" altLang="en-US"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확보하도록하며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시뮬레이션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상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손실이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지수보다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작습니다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.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dirty="0" err="1">
                <a:solidFill>
                  <a:srgbClr val="222222"/>
                </a:solidFill>
                <a:cs typeface="KoPub돋움체_Pro Medium"/>
              </a:rPr>
              <a:t>하방은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저가매수 편입 확대 기회로 판단하고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지수가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</a:rPr>
              <a:t>-40% </a:t>
            </a:r>
            <a:r>
              <a:rPr lang="ko-KR" altLang="en-US" sz="1400" dirty="0">
                <a:solidFill>
                  <a:srgbClr val="222222"/>
                </a:solidFill>
              </a:rPr>
              <a:t>도달 시 변동성 매매를 멈추고 상승 수취를 위해 주식형과 유사하게 운용합니다</a:t>
            </a:r>
            <a:r>
              <a:rPr lang="en-US" altLang="ko-KR" sz="1400" dirty="0">
                <a:solidFill>
                  <a:srgbClr val="222222"/>
                </a:solidFill>
              </a:rPr>
              <a:t>.</a:t>
            </a:r>
            <a:endParaRPr sz="1400" dirty="0">
              <a:solidFill>
                <a:srgbClr val="22222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0D2E8-E69E-9043-5C65-D0F865F23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382F3A-6378-60B7-67D1-4A94CADC7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EF8FE7-BE6A-9E43-CB0B-628DB1EC69A9}"/>
              </a:ext>
            </a:extLst>
          </p:cNvPr>
          <p:cNvSpPr/>
          <p:nvPr/>
        </p:nvSpPr>
        <p:spPr>
          <a:xfrm>
            <a:off x="640080" y="1122044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상승장이 지속되면 조기에 끝나는 것 아닌가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목표수익 달성 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분배 후 재운용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으로 이어져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종료가 아니라 다음 수익 사이클로 연결됩니다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3BA374-4903-113F-1CEC-DEEFD69CAAA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B82EA581-A1C0-663A-BEB8-65BAEBD1A5AB}"/>
              </a:ext>
            </a:extLst>
          </p:cNvPr>
          <p:cNvSpPr/>
          <p:nvPr/>
        </p:nvSpPr>
        <p:spPr>
          <a:xfrm>
            <a:off x="640080" y="2305625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 줄어들면 수익을 못 내나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수익은 줄지만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방향 투자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(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롱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로 상승 수익을 확보합니다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현재는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역대급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변동성 국면입니다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189CEBE0-8A1D-7F91-B8FD-E0EB2A5251A9}"/>
              </a:ext>
            </a:extLst>
          </p:cNvPr>
          <p:cNvSpPr/>
          <p:nvPr/>
        </p:nvSpPr>
        <p:spPr>
          <a:xfrm>
            <a:off x="640080" y="3517206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란 무엇인가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미래에셋의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퀀트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운용 시스템으로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규칙 기반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리밸런싱을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진행합니다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매일 편입비를 계산해 자의적 판단을 배제합니다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D66611C7-745F-A213-102D-52AC20A5B14E}"/>
              </a:ext>
            </a:extLst>
          </p:cNvPr>
          <p:cNvSpPr/>
          <p:nvPr/>
        </p:nvSpPr>
        <p:spPr>
          <a:xfrm>
            <a:off x="640080" y="4728787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이 전략이고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</a:t>
            </a:r>
            <a:r>
              <a:rPr lang="ko-KR" altLang="en-US"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미래에셋인가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현재는 </a:t>
            </a:r>
            <a:r>
              <a:rPr lang="ko-KR" altLang="en-US" sz="1250" dirty="0" err="1">
                <a:solidFill>
                  <a:srgbClr val="222222"/>
                </a:solidFill>
                <a:cs typeface="KoPub돋움체_Pro Medium"/>
              </a:rPr>
              <a:t>역대급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 변동성 국면이기에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수확 전략을 고려하기 좋은 시기라고 판단합니다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더불어 베테랑 운용역과 검증된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QPMS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인프라를 활용할 수 있기 때문입니다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6908447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155074</TotalTime>
  <Words>3010</Words>
  <Application>Microsoft Office PowerPoint</Application>
  <PresentationFormat>A4 용지(210x297mm)</PresentationFormat>
  <Paragraphs>427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1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별첨 : 최근 3개월 급변동 구간 실측 — 목표 환매 없음 vs +15% 재운용</vt:lpstr>
      <vt:lpstr>수익률 확률분포 ① — 성장변동성펀드</vt:lpstr>
      <vt:lpstr>PowerPoint 프레젠테이션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3370</cp:revision>
  <cp:lastPrinted>2025-06-10T01:28:42Z</cp:lastPrinted>
  <dcterms:created xsi:type="dcterms:W3CDTF">2015-10-26T01:08:58Z</dcterms:created>
  <dcterms:modified xsi:type="dcterms:W3CDTF">2026-07-28T09:45:57Z</dcterms:modified>
</cp:coreProperties>
</file>