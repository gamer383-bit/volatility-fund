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4541" r:id="rId1"/>
  </p:sldMasterIdLst>
  <p:notesMasterIdLst>
    <p:notesMasterId r:id="rId25"/>
  </p:notesMasterIdLst>
  <p:handoutMasterIdLst>
    <p:handoutMasterId r:id="rId26"/>
  </p:handoutMasterIdLst>
  <p:sldIdLst>
    <p:sldId id="1029" r:id="rId2"/>
    <p:sldId id="1249" r:id="rId3"/>
    <p:sldId id="1250" r:id="rId4"/>
    <p:sldId id="1251" r:id="rId5"/>
    <p:sldId id="1252" r:id="rId6"/>
    <p:sldId id="1254" r:id="rId7"/>
    <p:sldId id="1253" r:id="rId8"/>
    <p:sldId id="1272" r:id="rId9"/>
    <p:sldId id="1273" r:id="rId10"/>
    <p:sldId id="1257" r:id="rId11"/>
    <p:sldId id="1261" r:id="rId12"/>
    <p:sldId id="1260" r:id="rId13"/>
    <p:sldId id="1275" r:id="rId14"/>
    <p:sldId id="1278" r:id="rId15"/>
    <p:sldId id="1264" r:id="rId16"/>
    <p:sldId id="1258" r:id="rId17"/>
    <p:sldId id="1259" r:id="rId18"/>
    <p:sldId id="1277" r:id="rId19"/>
    <p:sldId id="1262" r:id="rId20"/>
    <p:sldId id="1276" r:id="rId21"/>
    <p:sldId id="1279" r:id="rId32"/>
    <p:sldId id="1265" r:id="rId22"/>
    <p:sldId id="1271" r:id="rId23"/>
    <p:sldId id="1270" r:id="rId24"/>
  </p:sldIdLst>
  <p:sldSz cx="9906000" cy="6858000" type="A4"/>
  <p:notesSz cx="6669088" cy="9926638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04" userDrawn="1">
          <p15:clr>
            <a:srgbClr val="A4A3A4"/>
          </p15:clr>
        </p15:guide>
        <p15:guide id="2" pos="6046" userDrawn="1">
          <p15:clr>
            <a:srgbClr val="A4A3A4"/>
          </p15:clr>
        </p15:guide>
        <p15:guide id="3" orient="horz" pos="3135" userDrawn="1">
          <p15:clr>
            <a:srgbClr val="A4A3A4"/>
          </p15:clr>
        </p15:guide>
        <p15:guide id="4" orient="horz" pos="3475" userDrawn="1">
          <p15:clr>
            <a:srgbClr val="A4A3A4"/>
          </p15:clr>
        </p15:guide>
        <p15:guide id="5" orient="horz" pos="2999" userDrawn="1">
          <p15:clr>
            <a:srgbClr val="A4A3A4"/>
          </p15:clr>
        </p15:guide>
        <p15:guide id="6" orient="horz" pos="3045" userDrawn="1">
          <p15:clr>
            <a:srgbClr val="A4A3A4"/>
          </p15:clr>
        </p15:guide>
        <p15:guide id="7" pos="671" userDrawn="1">
          <p15:clr>
            <a:srgbClr val="A4A3A4"/>
          </p15:clr>
        </p15:guide>
        <p15:guide id="8" pos="6091" userDrawn="1">
          <p15:clr>
            <a:srgbClr val="A4A3A4"/>
          </p15:clr>
        </p15:guide>
        <p15:guide id="9" pos="739" userDrawn="1">
          <p15:clr>
            <a:srgbClr val="A4A3A4"/>
          </p15:clr>
        </p15:guide>
        <p15:guide id="10" pos="4095" userDrawn="1">
          <p15:clr>
            <a:srgbClr val="A4A3A4"/>
          </p15:clr>
        </p15:guide>
        <p15:guide id="11" pos="512" userDrawn="1">
          <p15:clr>
            <a:srgbClr val="A4A3A4"/>
          </p15:clr>
        </p15:guide>
        <p15:guide id="12" orient="horz" pos="2750" userDrawn="1">
          <p15:clr>
            <a:srgbClr val="A4A3A4"/>
          </p15:clr>
        </p15:guide>
        <p15:guide id="13" orient="horz" pos="3090" userDrawn="1">
          <p15:clr>
            <a:srgbClr val="A4A3A4"/>
          </p15:clr>
        </p15:guide>
        <p15:guide id="14" orient="horz" pos="349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01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4EF61DE-ABB9-9CC0-6B6B-BBC573CEFA82}" name="Jang, Soon Tack (장순택)" initials="장" userId="S::soontack.jang@m365.miraeasset.com::e44f2a39-a901-4c24-bf86-0fb869b33d5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8220"/>
    <a:srgbClr val="FFF8F0"/>
    <a:srgbClr val="043B72"/>
    <a:srgbClr val="E7E6E6"/>
    <a:srgbClr val="84888B"/>
    <a:srgbClr val="CDCECB"/>
    <a:srgbClr val="00A9CE"/>
    <a:srgbClr val="F0B26B"/>
    <a:srgbClr val="FFAA5F"/>
    <a:srgbClr val="FF99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391" autoAdjust="0"/>
  </p:normalViewPr>
  <p:slideViewPr>
    <p:cSldViewPr snapToGrid="0" snapToObjects="1">
      <p:cViewPr varScale="1">
        <p:scale>
          <a:sx n="155" d="100"/>
          <a:sy n="155" d="100"/>
        </p:scale>
        <p:origin x="1636" y="88"/>
      </p:cViewPr>
      <p:guideLst>
        <p:guide orient="horz" pos="2704"/>
        <p:guide pos="6046"/>
        <p:guide orient="horz" pos="3135"/>
        <p:guide orient="horz" pos="3475"/>
        <p:guide orient="horz" pos="2999"/>
        <p:guide orient="horz" pos="3045"/>
        <p:guide pos="671"/>
        <p:guide pos="6091"/>
        <p:guide pos="739"/>
        <p:guide pos="4095"/>
        <p:guide pos="512"/>
        <p:guide orient="horz" pos="2750"/>
        <p:guide orient="horz" pos="3090"/>
        <p:guide orient="horz" pos="349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5" d="100"/>
          <a:sy n="75" d="100"/>
        </p:scale>
        <p:origin x="4056" y="66"/>
      </p:cViewPr>
      <p:guideLst>
        <p:guide orient="horz" pos="3126"/>
        <p:guide pos="2101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microsoft.com/office/2018/10/relationships/authors" Target="authors.xml"/><Relationship Id="rId32" Type="http://schemas.openxmlformats.org/officeDocument/2006/relationships/slide" Target="slides/slide2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91287" cy="496253"/>
          </a:xfrm>
          <a:prstGeom prst="rect">
            <a:avLst/>
          </a:prstGeom>
        </p:spPr>
        <p:txBody>
          <a:bodyPr vert="horz" wrap="square" lIns="91130" tIns="45564" rIns="91130" bIns="4556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76247" y="1"/>
            <a:ext cx="2891287" cy="496253"/>
          </a:xfrm>
          <a:prstGeom prst="rect">
            <a:avLst/>
          </a:prstGeom>
        </p:spPr>
        <p:txBody>
          <a:bodyPr vert="horz" wrap="square" lIns="91130" tIns="45564" rIns="91130" bIns="4556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A1086D62-7092-4270-8E85-B25E76D0311F}" type="datetimeFigureOut">
              <a:rPr lang="en-US" altLang="ko-KR"/>
              <a:pPr>
                <a:defRPr/>
              </a:pPr>
              <a:t>7/28/2026</a:t>
            </a:fld>
            <a:endParaRPr lang="en-US" altLang="ko-K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800"/>
            <a:ext cx="2891287" cy="496252"/>
          </a:xfrm>
          <a:prstGeom prst="rect">
            <a:avLst/>
          </a:prstGeom>
        </p:spPr>
        <p:txBody>
          <a:bodyPr vert="horz" wrap="square" lIns="91130" tIns="45564" rIns="91130" bIns="4556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76247" y="9428800"/>
            <a:ext cx="2891287" cy="496252"/>
          </a:xfrm>
          <a:prstGeom prst="rect">
            <a:avLst/>
          </a:prstGeom>
        </p:spPr>
        <p:txBody>
          <a:bodyPr vert="horz" wrap="square" lIns="91130" tIns="45564" rIns="91130" bIns="4556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3604A4C2-D245-44B0-BA3D-8829337D57B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91287" cy="496253"/>
          </a:xfrm>
          <a:prstGeom prst="rect">
            <a:avLst/>
          </a:prstGeom>
        </p:spPr>
        <p:txBody>
          <a:bodyPr vert="horz" wrap="square" lIns="91130" tIns="45564" rIns="91130" bIns="4556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6247" y="1"/>
            <a:ext cx="2891287" cy="496253"/>
          </a:xfrm>
          <a:prstGeom prst="rect">
            <a:avLst/>
          </a:prstGeom>
        </p:spPr>
        <p:txBody>
          <a:bodyPr vert="horz" wrap="square" lIns="91130" tIns="45564" rIns="91130" bIns="4556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C591F7EA-F9D8-47C5-9A5E-E46AECD8E4DD}" type="datetimeFigureOut">
              <a:rPr lang="en-US" altLang="ko-KR"/>
              <a:pPr>
                <a:defRPr/>
              </a:pPr>
              <a:t>7/28/2026</a:t>
            </a:fld>
            <a:endParaRPr lang="en-US" altLang="ko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47700" y="746125"/>
            <a:ext cx="5373688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30" tIns="45564" rIns="91130" bIns="45564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7220" y="4715193"/>
            <a:ext cx="5334648" cy="4466274"/>
          </a:xfrm>
          <a:prstGeom prst="rect">
            <a:avLst/>
          </a:prstGeom>
        </p:spPr>
        <p:txBody>
          <a:bodyPr vert="horz" lIns="91130" tIns="45564" rIns="91130" bIns="45564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800"/>
            <a:ext cx="2891287" cy="496252"/>
          </a:xfrm>
          <a:prstGeom prst="rect">
            <a:avLst/>
          </a:prstGeom>
        </p:spPr>
        <p:txBody>
          <a:bodyPr vert="horz" wrap="square" lIns="91130" tIns="45564" rIns="91130" bIns="4556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6247" y="9428800"/>
            <a:ext cx="2891287" cy="496252"/>
          </a:xfrm>
          <a:prstGeom prst="rect">
            <a:avLst/>
          </a:prstGeom>
        </p:spPr>
        <p:txBody>
          <a:bodyPr vert="horz" wrap="square" lIns="91130" tIns="45564" rIns="91130" bIns="4556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ECF5700A-1F91-4CD5-8303-F47E19D2D7A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0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A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71" r="17059"/>
          <a:stretch/>
        </p:blipFill>
        <p:spPr>
          <a:xfrm>
            <a:off x="6483651" y="838799"/>
            <a:ext cx="3422349" cy="4039521"/>
          </a:xfrm>
          <a:prstGeom prst="rect">
            <a:avLst/>
          </a:prstGeom>
        </p:spPr>
      </p:pic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94071"/>
            <a:ext cx="5040000" cy="110800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8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548931" y="5655402"/>
            <a:ext cx="1975575" cy="789042"/>
          </a:xfrm>
          <a:prstGeom prst="rect">
            <a:avLst/>
          </a:prstGeom>
        </p:spPr>
      </p:pic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631825" y="5926540"/>
            <a:ext cx="6768000" cy="443198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</a:t>
            </a:r>
            <a:b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</a:b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및 정보로부터 얻어진 것이나 당사는 그 정확성이나 안정성을 보장할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sp>
        <p:nvSpPr>
          <p:cNvPr id="12" name="직사각형 11"/>
          <p:cNvSpPr/>
          <p:nvPr userDrawn="1"/>
        </p:nvSpPr>
        <p:spPr>
          <a:xfrm>
            <a:off x="-1" y="838799"/>
            <a:ext cx="6408000" cy="414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58220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631825" y="1264981"/>
            <a:ext cx="5220000" cy="49244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2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endParaRPr lang="en-US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2874353"/>
            <a:ext cx="5220000" cy="372410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10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</a:p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직사각형 17"/>
          <p:cNvSpPr/>
          <p:nvPr userDrawn="1"/>
        </p:nvSpPr>
        <p:spPr>
          <a:xfrm>
            <a:off x="6486000" y="4798799"/>
            <a:ext cx="3420000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cxnSp>
        <p:nvCxnSpPr>
          <p:cNvPr id="19" name="직선 연결선[R] 11"/>
          <p:cNvCxnSpPr/>
          <p:nvPr userDrawn="1"/>
        </p:nvCxnSpPr>
        <p:spPr>
          <a:xfrm>
            <a:off x="631942" y="3936742"/>
            <a:ext cx="73311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4214169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631825" y="4474323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  <p:sp>
        <p:nvSpPr>
          <p:cNvPr id="15" name="Text Box 15"/>
          <p:cNvSpPr txBox="1">
            <a:spLocks noChangeArrowheads="1"/>
          </p:cNvSpPr>
          <p:nvPr userDrawn="1"/>
        </p:nvSpPr>
        <p:spPr bwMode="auto">
          <a:xfrm>
            <a:off x="8799435" y="199404"/>
            <a:ext cx="900000" cy="2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12F00"/>
            </a:solidFill>
            <a:miter lim="800000"/>
            <a:headEnd/>
            <a:tailEnd/>
          </a:ln>
        </p:spPr>
        <p:txBody>
          <a:bodyPr rot="0" vert="horz" wrap="square" lIns="0" tIns="0" rIns="0" bIns="0" anchor="ctr" anchorCtr="0" upright="1">
            <a:noAutofit/>
          </a:bodyPr>
          <a:lstStyle/>
          <a:p>
            <a:pPr marL="0" marR="0" lvl="0" indent="0" algn="ctr" defTabSz="82954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판매사</a:t>
            </a:r>
            <a:r>
              <a:rPr kumimoji="0" lang="ko-KR" alt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 </a:t>
            </a: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사내한</a:t>
            </a:r>
            <a:endParaRPr kumimoji="0" lang="en-US" altLang="ko-KR" sz="1000" b="0" i="0" u="none" strike="noStrike" kern="1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45945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A-2_고객사 로고 추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94071"/>
            <a:ext cx="5040000" cy="110800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8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48931" y="5655402"/>
            <a:ext cx="1975575" cy="789042"/>
          </a:xfrm>
          <a:prstGeom prst="rect">
            <a:avLst/>
          </a:prstGeom>
        </p:spPr>
      </p:pic>
      <p:sp>
        <p:nvSpPr>
          <p:cNvPr id="12" name="직사각형 11"/>
          <p:cNvSpPr/>
          <p:nvPr userDrawn="1"/>
        </p:nvSpPr>
        <p:spPr>
          <a:xfrm>
            <a:off x="-1" y="838799"/>
            <a:ext cx="6408000" cy="414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58220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264981"/>
            <a:ext cx="5220000" cy="98488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2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2874353"/>
            <a:ext cx="5220000" cy="372410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10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</a:p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직사각형 17"/>
          <p:cNvSpPr/>
          <p:nvPr userDrawn="1"/>
        </p:nvSpPr>
        <p:spPr>
          <a:xfrm>
            <a:off x="6486000" y="4798799"/>
            <a:ext cx="3420000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cxnSp>
        <p:nvCxnSpPr>
          <p:cNvPr id="19" name="직선 연결선[R] 11"/>
          <p:cNvCxnSpPr/>
          <p:nvPr userDrawn="1"/>
        </p:nvCxnSpPr>
        <p:spPr>
          <a:xfrm>
            <a:off x="631942" y="3936742"/>
            <a:ext cx="73311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" name="Picture 2" descr="C:\Users\magi.mkt.design\Desktop\MAC 공유\shutterstock_732185581.jpg"/>
          <p:cNvPicPr>
            <a:picLocks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21" t="961" r="13951" b="18407"/>
          <a:stretch/>
        </p:blipFill>
        <p:spPr bwMode="auto">
          <a:xfrm>
            <a:off x="6486000" y="838799"/>
            <a:ext cx="3420000" cy="39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4214169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631825" y="4474323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409" y="5846822"/>
            <a:ext cx="1597168" cy="434578"/>
          </a:xfrm>
          <a:prstGeom prst="rect">
            <a:avLst/>
          </a:prstGeom>
        </p:spPr>
      </p:pic>
      <p:sp>
        <p:nvSpPr>
          <p:cNvPr id="23" name="Slide Number Placeholder 5"/>
          <p:cNvSpPr txBox="1">
            <a:spLocks/>
          </p:cNvSpPr>
          <p:nvPr userDrawn="1"/>
        </p:nvSpPr>
        <p:spPr>
          <a:xfrm>
            <a:off x="631824" y="5923719"/>
            <a:ext cx="4760063" cy="56143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및 정보로부터 얻어진 것이나 당사는 그 정확성이나 안정성을 보장할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cxnSp>
        <p:nvCxnSpPr>
          <p:cNvPr id="24" name="직선 연결선 23"/>
          <p:cNvCxnSpPr/>
          <p:nvPr userDrawn="1"/>
        </p:nvCxnSpPr>
        <p:spPr>
          <a:xfrm>
            <a:off x="7443435" y="5949950"/>
            <a:ext cx="0" cy="4371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15"/>
          <p:cNvSpPr txBox="1">
            <a:spLocks noChangeArrowheads="1"/>
          </p:cNvSpPr>
          <p:nvPr userDrawn="1"/>
        </p:nvSpPr>
        <p:spPr bwMode="auto">
          <a:xfrm>
            <a:off x="8799435" y="199404"/>
            <a:ext cx="900000" cy="2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12F00"/>
            </a:solidFill>
            <a:miter lim="800000"/>
            <a:headEnd/>
            <a:tailEnd/>
          </a:ln>
        </p:spPr>
        <p:txBody>
          <a:bodyPr rot="0" vert="horz" wrap="square" lIns="0" tIns="0" rIns="0" bIns="0" anchor="ctr" anchorCtr="0" upright="1">
            <a:noAutofit/>
          </a:bodyPr>
          <a:lstStyle/>
          <a:p>
            <a:pPr marL="0" marR="0" lvl="0" indent="0" algn="ctr" defTabSz="82954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판매사</a:t>
            </a:r>
            <a:r>
              <a:rPr kumimoji="0" lang="ko-KR" alt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 </a:t>
            </a: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사내한</a:t>
            </a:r>
            <a:endParaRPr kumimoji="0" lang="en-US" altLang="ko-KR" sz="1000" b="0" i="0" u="none" strike="noStrike" kern="1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688763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B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94071"/>
            <a:ext cx="5040000" cy="110800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8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48931" y="5655402"/>
            <a:ext cx="1975575" cy="789042"/>
          </a:xfrm>
          <a:prstGeom prst="rect">
            <a:avLst/>
          </a:prstGeom>
        </p:spPr>
      </p:pic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631825" y="5926540"/>
            <a:ext cx="6768000" cy="443198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</a:t>
            </a:r>
            <a:b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</a:b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및 정보로부터 얻어진 것이나 당사는 그 정확성이나 안정성을 보장할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sp>
        <p:nvSpPr>
          <p:cNvPr id="12" name="직사각형 11"/>
          <p:cNvSpPr/>
          <p:nvPr userDrawn="1"/>
        </p:nvSpPr>
        <p:spPr>
          <a:xfrm>
            <a:off x="-1" y="838799"/>
            <a:ext cx="6408000" cy="4140000"/>
          </a:xfrm>
          <a:prstGeom prst="rect">
            <a:avLst/>
          </a:prstGeom>
          <a:solidFill>
            <a:srgbClr val="EC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58220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264981"/>
            <a:ext cx="5220000" cy="98488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2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2874353"/>
            <a:ext cx="5220000" cy="372410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10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</a:p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직사각형 17"/>
          <p:cNvSpPr/>
          <p:nvPr userDrawn="1"/>
        </p:nvSpPr>
        <p:spPr>
          <a:xfrm>
            <a:off x="6486000" y="4798799"/>
            <a:ext cx="3420000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cxnSp>
        <p:nvCxnSpPr>
          <p:cNvPr id="19" name="직선 연결선[R] 11"/>
          <p:cNvCxnSpPr/>
          <p:nvPr userDrawn="1"/>
        </p:nvCxnSpPr>
        <p:spPr>
          <a:xfrm>
            <a:off x="631942" y="3936742"/>
            <a:ext cx="733111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" name="Picture 2" descr="C:\Users\magi.mkt.design\Desktop\MAC 공유\shutterstock_732185581.jpg"/>
          <p:cNvPicPr>
            <a:picLocks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21" t="961" r="13951" b="18407"/>
          <a:stretch/>
        </p:blipFill>
        <p:spPr bwMode="auto">
          <a:xfrm>
            <a:off x="6486000" y="838799"/>
            <a:ext cx="3420000" cy="39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4214169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631825" y="4474323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  <p:sp>
        <p:nvSpPr>
          <p:cNvPr id="15" name="Text Box 15"/>
          <p:cNvSpPr txBox="1">
            <a:spLocks noChangeArrowheads="1"/>
          </p:cNvSpPr>
          <p:nvPr userDrawn="1"/>
        </p:nvSpPr>
        <p:spPr bwMode="auto">
          <a:xfrm>
            <a:off x="8799435" y="199404"/>
            <a:ext cx="900000" cy="2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12F00"/>
            </a:solidFill>
            <a:miter lim="800000"/>
            <a:headEnd/>
            <a:tailEnd/>
          </a:ln>
        </p:spPr>
        <p:txBody>
          <a:bodyPr rot="0" vert="horz" wrap="square" lIns="0" tIns="0" rIns="0" bIns="0" anchor="ctr" anchorCtr="0" upright="1">
            <a:noAutofit/>
          </a:bodyPr>
          <a:lstStyle/>
          <a:p>
            <a:pPr marL="0" marR="0" lvl="0" indent="0" algn="ctr" defTabSz="82954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판매사</a:t>
            </a:r>
            <a:r>
              <a:rPr kumimoji="0" lang="ko-KR" alt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 </a:t>
            </a: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사내한</a:t>
            </a:r>
            <a:endParaRPr kumimoji="0" lang="en-US" altLang="ko-KR" sz="1000" b="0" i="0" u="none" strike="noStrike" kern="1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29227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B-2_고객사 로고 추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94071"/>
            <a:ext cx="5040000" cy="110800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8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sp>
        <p:nvSpPr>
          <p:cNvPr id="12" name="직사각형 11"/>
          <p:cNvSpPr/>
          <p:nvPr userDrawn="1"/>
        </p:nvSpPr>
        <p:spPr>
          <a:xfrm>
            <a:off x="-1" y="838799"/>
            <a:ext cx="6408000" cy="4140000"/>
          </a:xfrm>
          <a:prstGeom prst="rect">
            <a:avLst/>
          </a:prstGeom>
          <a:solidFill>
            <a:srgbClr val="EC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58220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264981"/>
            <a:ext cx="5220000" cy="98488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2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2874353"/>
            <a:ext cx="5220000" cy="372410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10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</a:p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직사각형 17"/>
          <p:cNvSpPr/>
          <p:nvPr userDrawn="1"/>
        </p:nvSpPr>
        <p:spPr>
          <a:xfrm>
            <a:off x="6486000" y="4798799"/>
            <a:ext cx="3420000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cxnSp>
        <p:nvCxnSpPr>
          <p:cNvPr id="19" name="직선 연결선[R] 11"/>
          <p:cNvCxnSpPr/>
          <p:nvPr userDrawn="1"/>
        </p:nvCxnSpPr>
        <p:spPr>
          <a:xfrm>
            <a:off x="631942" y="3936742"/>
            <a:ext cx="733111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" name="Picture 2" descr="C:\Users\magi.mkt.design\Desktop\MAC 공유\shutterstock_732185581.jpg"/>
          <p:cNvPicPr>
            <a:picLocks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21" t="961" r="13951" b="18407"/>
          <a:stretch/>
        </p:blipFill>
        <p:spPr bwMode="auto">
          <a:xfrm>
            <a:off x="6486000" y="838799"/>
            <a:ext cx="3420000" cy="39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4214169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631825" y="4474323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548931" y="5655402"/>
            <a:ext cx="1975575" cy="789042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409" y="5846822"/>
            <a:ext cx="1597168" cy="434578"/>
          </a:xfrm>
          <a:prstGeom prst="rect">
            <a:avLst/>
          </a:prstGeom>
        </p:spPr>
      </p:pic>
      <p:sp>
        <p:nvSpPr>
          <p:cNvPr id="23" name="Slide Number Placeholder 5"/>
          <p:cNvSpPr txBox="1">
            <a:spLocks/>
          </p:cNvSpPr>
          <p:nvPr userDrawn="1"/>
        </p:nvSpPr>
        <p:spPr>
          <a:xfrm>
            <a:off x="631824" y="5923719"/>
            <a:ext cx="4760063" cy="56143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및 정보로부터 얻어진 것이나 당사는 그 정확성이나 안정성을 보장할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cxnSp>
        <p:nvCxnSpPr>
          <p:cNvPr id="24" name="직선 연결선 23"/>
          <p:cNvCxnSpPr/>
          <p:nvPr userDrawn="1"/>
        </p:nvCxnSpPr>
        <p:spPr>
          <a:xfrm>
            <a:off x="7443435" y="5949950"/>
            <a:ext cx="0" cy="4371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15"/>
          <p:cNvSpPr txBox="1">
            <a:spLocks noChangeArrowheads="1"/>
          </p:cNvSpPr>
          <p:nvPr userDrawn="1"/>
        </p:nvSpPr>
        <p:spPr bwMode="auto">
          <a:xfrm>
            <a:off x="8799435" y="199404"/>
            <a:ext cx="900000" cy="2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12F00"/>
            </a:solidFill>
            <a:miter lim="800000"/>
            <a:headEnd/>
            <a:tailEnd/>
          </a:ln>
        </p:spPr>
        <p:txBody>
          <a:bodyPr rot="0" vert="horz" wrap="square" lIns="0" tIns="0" rIns="0" bIns="0" anchor="ctr" anchorCtr="0" upright="1">
            <a:noAutofit/>
          </a:bodyPr>
          <a:lstStyle/>
          <a:p>
            <a:pPr marL="0" marR="0" lvl="0" indent="0" algn="ctr" defTabSz="82954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판매사</a:t>
            </a:r>
            <a:r>
              <a:rPr kumimoji="0" lang="ko-KR" alt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 </a:t>
            </a: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사내한</a:t>
            </a:r>
            <a:endParaRPr kumimoji="0" lang="en-US" altLang="ko-KR" sz="1000" b="0" i="0" u="none" strike="noStrike" kern="1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25769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/>
          <p:cNvSpPr/>
          <p:nvPr userDrawn="1"/>
        </p:nvSpPr>
        <p:spPr>
          <a:xfrm>
            <a:off x="794" y="1"/>
            <a:ext cx="9904413" cy="949591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58220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34" name="직사각형 33"/>
          <p:cNvSpPr/>
          <p:nvPr userDrawn="1"/>
        </p:nvSpPr>
        <p:spPr>
          <a:xfrm flipV="1">
            <a:off x="794" y="946937"/>
            <a:ext cx="9904413" cy="45719"/>
          </a:xfrm>
          <a:prstGeom prst="rect">
            <a:avLst/>
          </a:prstGeom>
          <a:solidFill>
            <a:srgbClr val="004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58220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48931" y="5655402"/>
            <a:ext cx="1975575" cy="789042"/>
          </a:xfrm>
          <a:prstGeom prst="rect">
            <a:avLst/>
          </a:prstGeom>
        </p:spPr>
      </p:pic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631825" y="5926540"/>
            <a:ext cx="6768000" cy="443198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</a:t>
            </a:r>
            <a:b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</a:b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및 정보로부터 얻어진 것이나 당사는 그 정확성이나 안정성을 보장할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sp>
        <p:nvSpPr>
          <p:cNvPr id="17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626931"/>
            <a:ext cx="8605838" cy="98488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2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cxnSp>
        <p:nvCxnSpPr>
          <p:cNvPr id="16" name="직선 연결선[R] 11"/>
          <p:cNvCxnSpPr/>
          <p:nvPr userDrawn="1"/>
        </p:nvCxnSpPr>
        <p:spPr>
          <a:xfrm>
            <a:off x="631942" y="4553991"/>
            <a:ext cx="733111" cy="0"/>
          </a:xfrm>
          <a:prstGeom prst="line">
            <a:avLst/>
          </a:prstGeom>
          <a:ln w="38100">
            <a:solidFill>
              <a:srgbClr val="F5822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4848064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5108218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  <p:sp>
        <p:nvSpPr>
          <p:cNvPr id="11" name="Text Box 15"/>
          <p:cNvSpPr txBox="1">
            <a:spLocks noChangeArrowheads="1"/>
          </p:cNvSpPr>
          <p:nvPr userDrawn="1"/>
        </p:nvSpPr>
        <p:spPr bwMode="auto">
          <a:xfrm>
            <a:off x="8799435" y="199404"/>
            <a:ext cx="900000" cy="2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12F00"/>
            </a:solidFill>
            <a:miter lim="800000"/>
            <a:headEnd/>
            <a:tailEnd/>
          </a:ln>
        </p:spPr>
        <p:txBody>
          <a:bodyPr rot="0" vert="horz" wrap="square" lIns="0" tIns="0" rIns="0" bIns="0" anchor="ctr" anchorCtr="0" upright="1">
            <a:noAutofit/>
          </a:bodyPr>
          <a:lstStyle/>
          <a:p>
            <a:pPr marL="0" marR="0" lvl="0" indent="0" algn="ctr" defTabSz="82954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판매사</a:t>
            </a:r>
            <a:r>
              <a:rPr kumimoji="0" lang="ko-KR" alt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 </a:t>
            </a: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사내한</a:t>
            </a:r>
            <a:endParaRPr kumimoji="0" lang="en-US" altLang="ko-KR" sz="1000" b="0" i="0" u="none" strike="noStrike" kern="1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Times New Roman"/>
            </a:endParaRPr>
          </a:p>
        </p:txBody>
      </p:sp>
      <p:sp>
        <p:nvSpPr>
          <p:cNvPr id="14" name="텍스트 개체 틀 3"/>
          <p:cNvSpPr txBox="1">
            <a:spLocks/>
          </p:cNvSpPr>
          <p:nvPr userDrawn="1"/>
        </p:nvSpPr>
        <p:spPr bwMode="auto">
          <a:xfrm>
            <a:off x="631825" y="193675"/>
            <a:ext cx="8604250" cy="11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marL="0" indent="0" algn="l" defTabSz="912813" rtl="0" fontAlgn="base" latinLnBrk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  <a:cs typeface="+mn-cs"/>
              </a:defRPr>
            </a:lvl1pPr>
            <a:lvl2pPr marL="684213" indent="-227013" algn="l" defTabSz="912813" rtl="0" fontAlgn="base" latinLnBrk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1413" indent="-227013" algn="l" defTabSz="912813" rtl="0" fontAlgn="base" latinLnBrk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8613" indent="-227013" algn="l" defTabSz="912813" rtl="0" fontAlgn="base" latinLnBrk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5813" indent="-227013" algn="l" defTabSz="912813" rtl="0" fontAlgn="base" latinLnBrk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097" indent="-228554" algn="l" defTabSz="91421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206" indent="-228554" algn="l" defTabSz="91421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314" indent="-228554" algn="l" defTabSz="91421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423" indent="-228554" algn="l" defTabSz="91421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813" rtl="0" eaLnBrk="1" fontAlgn="base" latinLnBrk="1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itchFamily="18" charset="-127"/>
                <a:ea typeface="KoPub돋움체_Pro Medium" pitchFamily="18" charset="-127"/>
                <a:cs typeface="+mn-cs"/>
              </a:rPr>
              <a:t>자산운용 </a:t>
            </a: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itchFamily="18" charset="-127"/>
                <a:ea typeface="KoPub돋움체_Pro Medium" pitchFamily="18" charset="-127"/>
                <a:cs typeface="+mn-cs"/>
              </a:rPr>
              <a:t>컴플라이언스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itchFamily="18" charset="-127"/>
                <a:ea typeface="KoPub돋움체_Pro Medium" pitchFamily="18" charset="-127"/>
                <a:cs typeface="+mn-cs"/>
              </a:rPr>
              <a:t> 외부지출확인필 제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itchFamily="18" charset="-127"/>
                <a:ea typeface="KoPub돋움체_Pro Medium" pitchFamily="18" charset="-127"/>
                <a:cs typeface="+mn-cs"/>
              </a:rPr>
              <a:t>22-0383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itchFamily="18" charset="-127"/>
                <a:ea typeface="KoPub돋움체_Pro Medium" pitchFamily="18" charset="-127"/>
                <a:cs typeface="+mn-cs"/>
              </a:rPr>
              <a:t>호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itchFamily="18" charset="-127"/>
                <a:ea typeface="KoPub돋움체_Pro Medium" pitchFamily="18" charset="-127"/>
                <a:cs typeface="+mn-cs"/>
              </a:rPr>
              <a:t>(2022.06.07)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oPub돋움체_Pro Medium" pitchFamily="18" charset="-127"/>
              <a:ea typeface="KoPub돋움체_Pro Medium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8408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D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631825" y="5923846"/>
            <a:ext cx="6768000" cy="465640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및 정보로부터 얻어진 것이나 당사는 그 정확성이나 안정성을 보장할 수 없습니다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sp>
        <p:nvSpPr>
          <p:cNvPr id="15" name="직사각형 14"/>
          <p:cNvSpPr/>
          <p:nvPr userDrawn="1"/>
        </p:nvSpPr>
        <p:spPr>
          <a:xfrm flipV="1">
            <a:off x="794" y="946937"/>
            <a:ext cx="9904413" cy="3941769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58220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16" name="직사각형 15"/>
          <p:cNvSpPr/>
          <p:nvPr userDrawn="1"/>
        </p:nvSpPr>
        <p:spPr>
          <a:xfrm flipV="1">
            <a:off x="0" y="4866962"/>
            <a:ext cx="9904413" cy="45719"/>
          </a:xfrm>
          <a:prstGeom prst="rect">
            <a:avLst/>
          </a:prstGeom>
          <a:solidFill>
            <a:srgbClr val="004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58220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80222"/>
            <a:ext cx="5040000" cy="138499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456975" y="5629551"/>
            <a:ext cx="2124681" cy="848595"/>
          </a:xfrm>
          <a:prstGeom prst="rect">
            <a:avLst/>
          </a:prstGeom>
        </p:spPr>
      </p:pic>
      <p:sp>
        <p:nvSpPr>
          <p:cNvPr id="23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626931"/>
            <a:ext cx="8605838" cy="123110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40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cxnSp>
        <p:nvCxnSpPr>
          <p:cNvPr id="24" name="직선 연결선[R] 11"/>
          <p:cNvCxnSpPr/>
          <p:nvPr userDrawn="1"/>
        </p:nvCxnSpPr>
        <p:spPr>
          <a:xfrm>
            <a:off x="631942" y="3651543"/>
            <a:ext cx="73311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3945616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4231170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  <p:sp>
        <p:nvSpPr>
          <p:cNvPr id="18" name="TextBox 17"/>
          <p:cNvSpPr txBox="1">
            <a:spLocks noChangeArrowheads="1"/>
          </p:cNvSpPr>
          <p:nvPr userDrawn="1"/>
        </p:nvSpPr>
        <p:spPr bwMode="auto">
          <a:xfrm>
            <a:off x="631825" y="5610971"/>
            <a:ext cx="6768000" cy="1815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80" b="1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※ </a:t>
            </a:r>
            <a:r>
              <a:rPr kumimoji="1" lang="ko-KR" altLang="en-US" sz="1180" b="1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본 자료는 </a:t>
            </a:r>
            <a:r>
              <a:rPr kumimoji="1" lang="ko-KR" altLang="en-US" sz="1180" b="1" i="0" u="none" strike="noStrike" kern="12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판매사</a:t>
            </a:r>
            <a:r>
              <a:rPr kumimoji="1" lang="ko-KR" altLang="en-US" sz="1180" b="0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 </a:t>
            </a:r>
            <a:r>
              <a:rPr kumimoji="1" lang="ko-KR" altLang="en-US" sz="1180" b="1" i="0" u="none" strike="noStrike" kern="12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사내한</a:t>
            </a:r>
            <a:r>
              <a:rPr kumimoji="1" lang="ko-KR" altLang="en-US" sz="1180" b="1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 자료로 작성되었으며 투자자에게 배포될 수 없습니다</a:t>
            </a:r>
            <a:r>
              <a:rPr kumimoji="1" lang="en-US" altLang="ko-KR" sz="1180" b="1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. </a:t>
            </a:r>
            <a:r>
              <a:rPr kumimoji="1" lang="ko-KR" altLang="en-US" sz="1180" b="1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외부 유출에 유의해 주십시오</a:t>
            </a:r>
            <a:r>
              <a:rPr kumimoji="1" lang="en-US" altLang="ko-KR" sz="1180" b="1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.</a:t>
            </a:r>
            <a:endParaRPr kumimoji="1" lang="ko-KR" altLang="en-US" sz="1180" b="1" i="0" u="none" strike="noStrike" kern="12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itchFamily="18" charset="-127"/>
              <a:ea typeface="KoPub돋움체_Pro Bold" pitchFamily="18" charset="-127"/>
              <a:cs typeface="+mn-cs"/>
            </a:endParaRPr>
          </a:p>
        </p:txBody>
      </p:sp>
      <p:sp>
        <p:nvSpPr>
          <p:cNvPr id="12" name="Text Box 15"/>
          <p:cNvSpPr txBox="1">
            <a:spLocks noChangeArrowheads="1"/>
          </p:cNvSpPr>
          <p:nvPr userDrawn="1"/>
        </p:nvSpPr>
        <p:spPr bwMode="auto">
          <a:xfrm>
            <a:off x="8799435" y="199404"/>
            <a:ext cx="900000" cy="2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12F00"/>
            </a:solidFill>
            <a:miter lim="800000"/>
            <a:headEnd/>
            <a:tailEnd/>
          </a:ln>
        </p:spPr>
        <p:txBody>
          <a:bodyPr rot="0" vert="horz" wrap="square" lIns="0" tIns="0" rIns="0" bIns="0" anchor="ctr" anchorCtr="0" upright="1">
            <a:noAutofit/>
          </a:bodyPr>
          <a:lstStyle/>
          <a:p>
            <a:pPr marL="0" marR="0" lvl="0" indent="0" algn="ctr" defTabSz="82954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판매사</a:t>
            </a:r>
            <a:r>
              <a:rPr kumimoji="0" lang="ko-KR" alt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 </a:t>
            </a: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사내한</a:t>
            </a:r>
            <a:endParaRPr kumimoji="0" lang="en-US" altLang="ko-KR" sz="1000" b="0" i="0" u="none" strike="noStrike" kern="1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15522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D-2_고객사 로고 추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/>
          <p:cNvSpPr/>
          <p:nvPr userDrawn="1"/>
        </p:nvSpPr>
        <p:spPr>
          <a:xfrm flipV="1">
            <a:off x="794" y="946937"/>
            <a:ext cx="9904413" cy="3941769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58220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16" name="직사각형 15"/>
          <p:cNvSpPr/>
          <p:nvPr userDrawn="1"/>
        </p:nvSpPr>
        <p:spPr>
          <a:xfrm flipV="1">
            <a:off x="0" y="4866962"/>
            <a:ext cx="9904413" cy="45719"/>
          </a:xfrm>
          <a:prstGeom prst="rect">
            <a:avLst/>
          </a:prstGeom>
          <a:solidFill>
            <a:srgbClr val="004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58220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80222"/>
            <a:ext cx="5040000" cy="138499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456975" y="5629551"/>
            <a:ext cx="2124681" cy="848595"/>
          </a:xfrm>
          <a:prstGeom prst="rect">
            <a:avLst/>
          </a:prstGeom>
        </p:spPr>
      </p:pic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631824" y="5913437"/>
            <a:ext cx="4561693" cy="63145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및 정보로부터 얻어진 것이나 당사는 그 정확성이나 안정성을 보장할 수 없습니다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sp>
        <p:nvSpPr>
          <p:cNvPr id="23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626931"/>
            <a:ext cx="8605838" cy="123110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40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cxnSp>
        <p:nvCxnSpPr>
          <p:cNvPr id="24" name="직선 연결선[R] 11"/>
          <p:cNvCxnSpPr/>
          <p:nvPr userDrawn="1"/>
        </p:nvCxnSpPr>
        <p:spPr>
          <a:xfrm>
            <a:off x="631942" y="3651543"/>
            <a:ext cx="73311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3945616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4231170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  <p:sp>
        <p:nvSpPr>
          <p:cNvPr id="11" name="TextBox 10"/>
          <p:cNvSpPr txBox="1">
            <a:spLocks noChangeArrowheads="1"/>
          </p:cNvSpPr>
          <p:nvPr userDrawn="1"/>
        </p:nvSpPr>
        <p:spPr bwMode="auto">
          <a:xfrm>
            <a:off x="454358" y="5414729"/>
            <a:ext cx="4820011" cy="3750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80" b="0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※ </a:t>
            </a:r>
            <a:r>
              <a:rPr kumimoji="1" lang="ko-KR" altLang="en-US" sz="1180" b="0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본 자료는 </a:t>
            </a:r>
            <a:r>
              <a:rPr kumimoji="1" lang="ko-KR" altLang="en-US" sz="1180" b="0" i="0" u="none" strike="noStrike" kern="12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판매사</a:t>
            </a:r>
            <a:r>
              <a:rPr kumimoji="1" lang="ko-KR" altLang="en-US" sz="1180" b="0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 </a:t>
            </a:r>
            <a:r>
              <a:rPr kumimoji="1" lang="ko-KR" altLang="en-US" sz="1180" b="0" i="0" u="none" strike="noStrike" kern="12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사내한</a:t>
            </a:r>
            <a:r>
              <a:rPr kumimoji="1" lang="ko-KR" altLang="en-US" sz="1180" b="0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 자료로 작성되었으며 투자자에게 배포될 수 없습니다</a:t>
            </a:r>
            <a:r>
              <a:rPr kumimoji="1" lang="en-US" altLang="ko-KR" sz="1180" b="0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.</a:t>
            </a:r>
            <a:r>
              <a:rPr kumimoji="1" lang="ko-KR" altLang="en-US" sz="1180" b="0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 </a:t>
            </a:r>
            <a:endParaRPr kumimoji="1" lang="en-US" altLang="ko-KR" sz="1180" b="0" i="0" u="none" strike="noStrike" kern="12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itchFamily="18" charset="-127"/>
              <a:ea typeface="KoPub돋움체_Pro Bold" pitchFamily="18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80" b="0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    외부 유출에 유의해 주십시오</a:t>
            </a:r>
            <a:r>
              <a:rPr kumimoji="1" lang="en-US" altLang="ko-KR" sz="1180" b="0" i="0" u="none" strike="noStrike" kern="12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itchFamily="18" charset="-127"/>
                <a:ea typeface="KoPub돋움체_Pro Bold" pitchFamily="18" charset="-127"/>
                <a:cs typeface="+mn-cs"/>
              </a:rPr>
              <a:t>.</a:t>
            </a:r>
            <a:endParaRPr kumimoji="1" lang="ko-KR" altLang="en-US" sz="1180" b="0" i="0" u="none" strike="noStrike" kern="12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itchFamily="18" charset="-127"/>
              <a:ea typeface="KoPub돋움체_Pro Bold" pitchFamily="18" charset="-127"/>
              <a:cs typeface="+mn-cs"/>
            </a:endParaRPr>
          </a:p>
        </p:txBody>
      </p:sp>
      <p:sp>
        <p:nvSpPr>
          <p:cNvPr id="17" name="Text Box 15"/>
          <p:cNvSpPr txBox="1">
            <a:spLocks noChangeArrowheads="1"/>
          </p:cNvSpPr>
          <p:nvPr userDrawn="1"/>
        </p:nvSpPr>
        <p:spPr bwMode="auto">
          <a:xfrm>
            <a:off x="8799435" y="199404"/>
            <a:ext cx="900000" cy="2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12F00"/>
            </a:solidFill>
            <a:miter lim="800000"/>
            <a:headEnd/>
            <a:tailEnd/>
          </a:ln>
        </p:spPr>
        <p:txBody>
          <a:bodyPr rot="0" vert="horz" wrap="square" lIns="0" tIns="0" rIns="0" bIns="0" anchor="ctr" anchorCtr="0" upright="1">
            <a:noAutofit/>
          </a:bodyPr>
          <a:lstStyle/>
          <a:p>
            <a:pPr marL="0" marR="0" lvl="0" indent="0" algn="ctr" defTabSz="82954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판매사</a:t>
            </a:r>
            <a:r>
              <a:rPr kumimoji="0" lang="ko-KR" alt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 </a:t>
            </a: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사내한</a:t>
            </a:r>
            <a:endParaRPr kumimoji="0" lang="en-US" altLang="ko-KR" sz="1000" b="0" i="0" u="none" strike="noStrike" kern="1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043716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960438" y="1725714"/>
            <a:ext cx="8461375" cy="262096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52000" marR="0" indent="-252000" algn="l" defTabSz="457200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AutoNum type="romanUcPeriod"/>
              <a:tabLst/>
              <a:defRPr sz="1600" b="0" i="0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1pPr>
            <a:lvl2pPr marL="355600" indent="136525">
              <a:buFont typeface="+mj-lt"/>
              <a:buAutoNum type="arabicPeriod"/>
              <a:defRPr sz="1200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2pPr>
            <a:lvl3pPr>
              <a:defRPr sz="1200">
                <a:solidFill>
                  <a:srgbClr val="0D2D4F"/>
                </a:solidFill>
                <a:latin typeface="KoPub돋움체_Pro Medium"/>
                <a:ea typeface="KoPub돋움체_Pro Medium"/>
                <a:cs typeface="KoPub돋움체_Pro Medium"/>
              </a:defRPr>
            </a:lvl3pPr>
            <a:lvl4pPr>
              <a:defRPr sz="1000">
                <a:latin typeface="KoPub돋움체_Pro Medium"/>
                <a:ea typeface="KoPub돋움체_Pro Medium"/>
                <a:cs typeface="KoPub돋움체_Pro Medium"/>
              </a:defRPr>
            </a:lvl4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</p:txBody>
      </p:sp>
      <p:sp>
        <p:nvSpPr>
          <p:cNvPr id="5" name="직사각형 4"/>
          <p:cNvSpPr/>
          <p:nvPr userDrawn="1"/>
        </p:nvSpPr>
        <p:spPr>
          <a:xfrm flipV="1">
            <a:off x="0" y="1312414"/>
            <a:ext cx="9907587" cy="45719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58220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7" name="제목 1"/>
          <p:cNvSpPr txBox="1">
            <a:spLocks/>
          </p:cNvSpPr>
          <p:nvPr userDrawn="1"/>
        </p:nvSpPr>
        <p:spPr>
          <a:xfrm>
            <a:off x="939093" y="757517"/>
            <a:ext cx="130898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 defTabSz="4572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Noto Sans"/>
                <a:ea typeface="+mj-ea"/>
                <a:cs typeface="Noto Sans"/>
              </a:defRPr>
            </a:lvl1pPr>
          </a:lstStyle>
          <a:p>
            <a:pPr marL="0" marR="0" lvl="0" indent="0" algn="l" defTabSz="4572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43B72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Noto Sans"/>
              </a:rPr>
              <a:t>목차</a:t>
            </a:r>
            <a:endParaRPr kumimoji="0" lang="ko-KR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043B72"/>
              </a:solidFill>
              <a:effectLst/>
              <a:uLnTx/>
              <a:uFillTx/>
              <a:latin typeface="Noto Sans"/>
              <a:ea typeface="KoPub돋움체_Pro Bold"/>
              <a:cs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3326199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577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705970" y="3143390"/>
            <a:ext cx="8460000" cy="3323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KoPub돋움체_Pro Bold"/>
                <a:ea typeface="KoPub돋움체_Pro Bold"/>
                <a:cs typeface="KoPub돋움체_Pro Bold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8685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  <p:sp>
        <p:nvSpPr>
          <p:cNvPr id="14" name="Content Placeholder 2"/>
          <p:cNvSpPr>
            <a:spLocks noGrp="1"/>
          </p:cNvSpPr>
          <p:nvPr>
            <p:ph idx="1" hasCustomPrompt="1"/>
          </p:nvPr>
        </p:nvSpPr>
        <p:spPr>
          <a:xfrm>
            <a:off x="489000" y="1031108"/>
            <a:ext cx="8928000" cy="52686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+mn-ea"/>
                <a:ea typeface="+mn-ea"/>
                <a:cs typeface="KoPub돋움체_Pro Bold" pitchFamily="18" charset="-127"/>
              </a:defRPr>
            </a:lvl1pPr>
            <a:lvl2pPr marL="457200" indent="0">
              <a:buFontTx/>
              <a:buNone/>
              <a:defRPr sz="2000">
                <a:latin typeface="Noto Sans"/>
                <a:cs typeface="Noto Sans"/>
              </a:defRPr>
            </a:lvl2pPr>
            <a:lvl3pPr marL="914400" indent="0">
              <a:buFontTx/>
              <a:buNone/>
              <a:defRPr sz="1800">
                <a:latin typeface="Noto Sans"/>
                <a:cs typeface="Noto Sans"/>
              </a:defRPr>
            </a:lvl3pPr>
            <a:lvl4pPr marL="1371600" indent="0">
              <a:buFontTx/>
              <a:buNone/>
              <a:defRPr sz="1600">
                <a:latin typeface="Noto Sans"/>
                <a:cs typeface="Noto Sans"/>
              </a:defRPr>
            </a:lvl4pPr>
            <a:lvl5pPr marL="1828800" indent="0">
              <a:buFontTx/>
              <a:buNone/>
              <a:defRPr sz="1600">
                <a:latin typeface="Noto Sans"/>
                <a:cs typeface="Noto Sans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  <a:r>
              <a:rPr lang="en-US" altLang="ko-KR" dirty="0"/>
              <a:t>.</a:t>
            </a:r>
          </a:p>
        </p:txBody>
      </p:sp>
      <p:cxnSp>
        <p:nvCxnSpPr>
          <p:cNvPr id="12" name="Straight Connector 10"/>
          <p:cNvCxnSpPr/>
          <p:nvPr userDrawn="1"/>
        </p:nvCxnSpPr>
        <p:spPr>
          <a:xfrm>
            <a:off x="489000" y="896938"/>
            <a:ext cx="892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93790" y="567301"/>
            <a:ext cx="6480000" cy="27699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>
              <a:defRPr sz="2000">
                <a:solidFill>
                  <a:schemeClr val="tx1"/>
                </a:solidFill>
                <a:latin typeface="+mj-ea"/>
                <a:ea typeface="+mj-ea"/>
                <a:cs typeface="KoPub돋움체_Pro Bold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6452713" y="6494330"/>
            <a:ext cx="2964337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 </a:t>
            </a:r>
            <a:r>
              <a:rPr kumimoji="0" lang="en-US" sz="8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Mirae</a:t>
            </a:r>
            <a:r>
              <a:rPr kumimoji="0" lang="en-US" sz="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 Asset Global Investments</a:t>
            </a:r>
          </a:p>
        </p:txBody>
      </p:sp>
      <p:cxnSp>
        <p:nvCxnSpPr>
          <p:cNvPr id="9" name="Straight Connector 10"/>
          <p:cNvCxnSpPr/>
          <p:nvPr userDrawn="1"/>
        </p:nvCxnSpPr>
        <p:spPr>
          <a:xfrm>
            <a:off x="480000" y="6360160"/>
            <a:ext cx="894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489000" y="6494329"/>
            <a:ext cx="3662870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0989B7-FBDF-4BF5-AEF4-99B16632A252}" type="slidenum">
              <a:rPr kumimoji="0" lang="ko-KR" altLang="en-US" sz="800" b="0" i="0" u="none" strike="noStrike" kern="1200" cap="none" spc="2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 </a:t>
            </a:r>
            <a:r>
              <a:rPr kumimoji="0" lang="ko-KR" altLang="en-US" sz="8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미래에셋</a:t>
            </a:r>
            <a:r>
              <a:rPr kumimoji="0" lang="ko-KR" altLang="en-US" sz="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 </a:t>
            </a:r>
            <a:r>
              <a:rPr kumimoji="0" lang="ko-KR" altLang="en-US" sz="8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변동성 하베스트 AI Top2</a:t>
            </a:r>
            <a:r>
              <a:rPr kumimoji="0" lang="ko-KR" altLang="en-US" sz="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 일반사모투자신탁 제안서</a:t>
            </a:r>
            <a:endParaRPr kumimoji="0" lang="en-US" sz="8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oPub돋움체_Pro Medium" panose="02020603020101020101" pitchFamily="18" charset="-127"/>
              <a:ea typeface="KoPub돋움체_Pro Medium" panose="02020603020101020101" pitchFamily="18" charset="-127"/>
              <a:cs typeface="Noto Sans"/>
            </a:endParaRPr>
          </a:p>
        </p:txBody>
      </p:sp>
      <p:sp>
        <p:nvSpPr>
          <p:cNvPr id="16" name="Text Box 15"/>
          <p:cNvSpPr txBox="1">
            <a:spLocks noChangeArrowheads="1"/>
          </p:cNvSpPr>
          <p:nvPr userDrawn="1"/>
        </p:nvSpPr>
        <p:spPr bwMode="auto">
          <a:xfrm>
            <a:off x="8799435" y="199404"/>
            <a:ext cx="900000" cy="2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12F00"/>
            </a:solidFill>
            <a:miter lim="800000"/>
            <a:headEnd/>
            <a:tailEnd/>
          </a:ln>
        </p:spPr>
        <p:txBody>
          <a:bodyPr rot="0" vert="horz" wrap="square" lIns="0" tIns="0" rIns="0" bIns="0" anchor="ctr" anchorCtr="0" upright="1">
            <a:noAutofit/>
          </a:bodyPr>
          <a:lstStyle/>
          <a:p>
            <a:pPr marL="0" marR="0" lvl="0" indent="0" algn="ctr" defTabSz="82954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판매사</a:t>
            </a:r>
            <a:r>
              <a:rPr kumimoji="0" lang="ko-KR" alt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 </a:t>
            </a: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사내한</a:t>
            </a:r>
            <a:endParaRPr kumimoji="0" lang="en-US" altLang="ko-KR" sz="1000" b="0" i="0" u="none" strike="noStrike" kern="1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624925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(고객사 로고 추가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0"/>
          <p:cNvCxnSpPr/>
          <p:nvPr userDrawn="1"/>
        </p:nvCxnSpPr>
        <p:spPr>
          <a:xfrm>
            <a:off x="489000" y="896938"/>
            <a:ext cx="892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93790" y="567301"/>
            <a:ext cx="6480000" cy="27699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>
              <a:defRPr sz="2000">
                <a:solidFill>
                  <a:schemeClr val="tx1"/>
                </a:solidFill>
                <a:latin typeface="+mj-ea"/>
                <a:ea typeface="+mj-ea"/>
                <a:cs typeface="KoPub돋움체_Pro Bold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6452713" y="6494330"/>
            <a:ext cx="2964337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Mirae</a:t>
            </a:r>
            <a:r>
              <a:rPr kumimoji="0" lang="en-US" sz="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 Asset Global Investments</a:t>
            </a:r>
          </a:p>
        </p:txBody>
      </p:sp>
      <p:cxnSp>
        <p:nvCxnSpPr>
          <p:cNvPr id="9" name="Straight Connector 10"/>
          <p:cNvCxnSpPr/>
          <p:nvPr userDrawn="1"/>
        </p:nvCxnSpPr>
        <p:spPr>
          <a:xfrm>
            <a:off x="480000" y="6360160"/>
            <a:ext cx="894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Content Placeholder 2"/>
          <p:cNvSpPr>
            <a:spLocks noGrp="1"/>
          </p:cNvSpPr>
          <p:nvPr>
            <p:ph idx="1" hasCustomPrompt="1"/>
          </p:nvPr>
        </p:nvSpPr>
        <p:spPr>
          <a:xfrm>
            <a:off x="489000" y="1031108"/>
            <a:ext cx="8928000" cy="52686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+mn-ea"/>
                <a:ea typeface="+mn-ea"/>
                <a:cs typeface="KoPub돋움체_Pro Bold" pitchFamily="18" charset="-127"/>
              </a:defRPr>
            </a:lvl1pPr>
            <a:lvl2pPr marL="457200" indent="0">
              <a:buFontTx/>
              <a:buNone/>
              <a:defRPr sz="2000">
                <a:latin typeface="Noto Sans"/>
                <a:cs typeface="Noto Sans"/>
              </a:defRPr>
            </a:lvl2pPr>
            <a:lvl3pPr marL="914400" indent="0">
              <a:buFontTx/>
              <a:buNone/>
              <a:defRPr sz="1800">
                <a:latin typeface="Noto Sans"/>
                <a:cs typeface="Noto Sans"/>
              </a:defRPr>
            </a:lvl3pPr>
            <a:lvl4pPr marL="1371600" indent="0">
              <a:buFontTx/>
              <a:buNone/>
              <a:defRPr sz="1600">
                <a:latin typeface="Noto Sans"/>
                <a:cs typeface="Noto Sans"/>
              </a:defRPr>
            </a:lvl4pPr>
            <a:lvl5pPr marL="1828800" indent="0">
              <a:buFontTx/>
              <a:buNone/>
              <a:defRPr sz="1600">
                <a:latin typeface="Noto Sans"/>
                <a:cs typeface="Noto Sans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  <a:r>
              <a:rPr lang="en-US" altLang="ko-KR" dirty="0"/>
              <a:t>.</a:t>
            </a:r>
          </a:p>
        </p:txBody>
      </p:sp>
      <p:sp>
        <p:nvSpPr>
          <p:cNvPr id="11" name="Text Box 15"/>
          <p:cNvSpPr txBox="1">
            <a:spLocks noChangeArrowheads="1"/>
          </p:cNvSpPr>
          <p:nvPr userDrawn="1"/>
        </p:nvSpPr>
        <p:spPr bwMode="auto">
          <a:xfrm>
            <a:off x="8799435" y="199404"/>
            <a:ext cx="900000" cy="2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12F00"/>
            </a:solidFill>
            <a:miter lim="800000"/>
            <a:headEnd/>
            <a:tailEnd/>
          </a:ln>
        </p:spPr>
        <p:txBody>
          <a:bodyPr rot="0" vert="horz" wrap="square" lIns="0" tIns="0" rIns="0" bIns="0" anchor="ctr" anchorCtr="0" upright="1">
            <a:noAutofit/>
          </a:bodyPr>
          <a:lstStyle/>
          <a:p>
            <a:pPr marL="0" marR="0" lvl="0" indent="0" algn="ctr" defTabSz="82954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판매사</a:t>
            </a:r>
            <a:r>
              <a:rPr kumimoji="0" lang="ko-KR" altLang="en-US" sz="1000" b="0" i="0" u="none" strike="noStrike" kern="100" cap="none" spc="0" normalizeH="0" baseline="0" noProof="0" dirty="0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 </a:t>
            </a:r>
            <a:r>
              <a:rPr kumimoji="0" lang="ko-KR" altLang="en-US" sz="1000" b="0" i="0" u="none" strike="noStrike" kern="100" cap="none" spc="0" normalizeH="0" baseline="0" noProof="0" dirty="0" err="1">
                <a:ln>
                  <a:noFill/>
                </a:ln>
                <a:solidFill>
                  <a:srgbClr val="E12F00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사내한</a:t>
            </a:r>
            <a:endParaRPr kumimoji="0" lang="en-US" altLang="ko-KR" sz="1000" b="0" i="0" u="none" strike="noStrike" kern="100" cap="none" spc="0" normalizeH="0" baseline="0" noProof="0" dirty="0">
              <a:ln>
                <a:noFill/>
              </a:ln>
              <a:solidFill>
                <a:srgbClr val="E12F0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Times New Roman"/>
            </a:endParaRPr>
          </a:p>
        </p:txBody>
      </p:sp>
      <p:sp>
        <p:nvSpPr>
          <p:cNvPr id="18" name="Slide Number Placeholder 5"/>
          <p:cNvSpPr txBox="1">
            <a:spLocks/>
          </p:cNvSpPr>
          <p:nvPr userDrawn="1"/>
        </p:nvSpPr>
        <p:spPr>
          <a:xfrm>
            <a:off x="489000" y="6494329"/>
            <a:ext cx="3662870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0989B7-FBDF-4BF5-AEF4-99B16632A252}" type="slidenum">
              <a:rPr kumimoji="0" lang="ko-KR" altLang="en-US" sz="800" b="0" i="0" u="none" strike="noStrike" kern="1200" cap="none" spc="2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 </a:t>
            </a:r>
            <a:r>
              <a:rPr kumimoji="0" lang="ko-KR" altLang="en-US" sz="8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미래에셋멀티코어일반사모투자신탁</a:t>
            </a:r>
            <a:r>
              <a:rPr kumimoji="0" lang="en-US" altLang="ko-KR" sz="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2</a:t>
            </a:r>
            <a:r>
              <a:rPr kumimoji="0" lang="ko-KR" altLang="en-US" sz="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호 제안서</a:t>
            </a:r>
            <a:endParaRPr kumimoji="0" lang="en-US" altLang="ko-KR" sz="8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oPub돋움체_Pro Medium" panose="02020603020101020101" pitchFamily="18" charset="-127"/>
              <a:ea typeface="KoPub돋움체_Pro Medium" panose="02020603020101020101" pitchFamily="18" charset="-127"/>
              <a:cs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18578435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뒷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42950" y="2935288"/>
            <a:ext cx="8420100" cy="41537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buNone/>
              <a:defRPr sz="2999" b="0" i="0" baseline="0">
                <a:solidFill>
                  <a:schemeClr val="accent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Noto Sans" panose="020B0802040504020204" pitchFamily="34" charset="0"/>
              </a:defRPr>
            </a:lvl1pPr>
            <a:lvl2pPr marL="45710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32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43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5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6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7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86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감사합니다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00525" y="5648898"/>
            <a:ext cx="1709186" cy="682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309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페이지(오렌지 배경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_Pro Medium"/>
              <a:ea typeface="KoPub돋움체_Pro Medium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82312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페이지(화이트 배경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55648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표지_Type B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7588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그림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3175" y="5711825"/>
            <a:ext cx="1951038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439738" y="6026150"/>
            <a:ext cx="65405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본 자료는 미래에셋자산운용이 제작한 것이며</a:t>
            </a:r>
            <a:r>
              <a:rPr lang="en-US" altLang="ko-KR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ko-KR" altLang="en-US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투자권유를 위한 광고물로 활용될 수 없고</a:t>
            </a:r>
            <a:r>
              <a:rPr lang="en-US" altLang="ko-KR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ko-KR" altLang="en-US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투자자에게 배포될 수 없습니다</a:t>
            </a:r>
            <a:r>
              <a:rPr lang="en-US" altLang="ko-KR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ko-KR" altLang="en-US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본 자료에 수록된 내용은 신뢰할만한 자료 및 정보로부터 </a:t>
            </a:r>
            <a:endParaRPr lang="en-US" altLang="ko-KR" dirty="0">
              <a:solidFill>
                <a:srgbClr val="FFFFFF"/>
              </a:solidFill>
              <a:latin typeface="Arial" pitchFamily="34" charset="0"/>
              <a:cs typeface="Arial" pitchFamily="34" charset="0"/>
            </a:endParaRP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얻어진 것이나 당사는 그 정확상이나 안정성을 보장할 수 없습니다</a:t>
            </a:r>
            <a:r>
              <a:rPr lang="en-US" altLang="ko-KR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ko-KR" altLang="en-US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따라서 어떠한 경우에도 본 자료는 고객의 투자 결과에 대한 법적 책임소재에 대한 증빙자료로 사용될 수 없습니다</a:t>
            </a:r>
            <a:r>
              <a:rPr lang="en-US" altLang="ko-KR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solidFill>
                <a:srgbClr val="FFFF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439734" y="1828799"/>
            <a:ext cx="8424000" cy="568326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400">
                <a:solidFill>
                  <a:srgbClr val="0D2D4F"/>
                </a:solidFill>
                <a:latin typeface="Arial" pitchFamily="34" charset="0"/>
                <a:ea typeface="KoPub돋움체_Pro Bold"/>
                <a:cs typeface="Arial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439733" y="2442517"/>
            <a:ext cx="4629151" cy="365125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>
                <a:solidFill>
                  <a:srgbClr val="F58220"/>
                </a:solidFill>
                <a:latin typeface="Arial" pitchFamily="34" charset="0"/>
                <a:ea typeface="KoPub돋움체_Pro Bold"/>
                <a:cs typeface="Arial" pitchFamily="34" charset="0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39736" y="2727938"/>
            <a:ext cx="4629151" cy="36512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 b="0" i="0">
                <a:solidFill>
                  <a:srgbClr val="48535B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8545666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_Type B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7588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6837" y="884596"/>
            <a:ext cx="8424000" cy="568326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400">
                <a:solidFill>
                  <a:srgbClr val="F58220"/>
                </a:solidFill>
                <a:latin typeface="Arial" pitchFamily="34" charset="0"/>
                <a:ea typeface="KoPub돋움체_Pro Bold"/>
                <a:cs typeface="Arial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606425" y="1741636"/>
            <a:ext cx="8415338" cy="2620963"/>
          </a:xfrm>
          <a:prstGeom prst="rect">
            <a:avLst/>
          </a:prstGeom>
        </p:spPr>
        <p:txBody>
          <a:bodyPr>
            <a:normAutofit/>
          </a:bodyPr>
          <a:lstStyle>
            <a:lvl1pPr marL="252000" marR="0" indent="-252000" algn="l" defTabSz="457200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AutoNum type="romanUcPeriod"/>
              <a:tabLst/>
              <a:defRPr sz="1600" b="0" i="0">
                <a:solidFill>
                  <a:schemeClr val="bg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1pPr>
            <a:lvl2pPr marL="355600" indent="136525">
              <a:buFont typeface="+mj-lt"/>
              <a:buAutoNum type="arabicPeriod"/>
              <a:defRPr sz="1200">
                <a:solidFill>
                  <a:schemeClr val="bg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2pPr>
            <a:lvl3pPr>
              <a:defRPr sz="1200">
                <a:solidFill>
                  <a:srgbClr val="0D2D4F"/>
                </a:solidFill>
                <a:latin typeface="KoPub돋움체_Pro Medium"/>
                <a:ea typeface="KoPub돋움체_Pro Medium"/>
                <a:cs typeface="KoPub돋움체_Pro Medium"/>
              </a:defRPr>
            </a:lvl3pPr>
            <a:lvl4pPr>
              <a:defRPr sz="1000">
                <a:latin typeface="KoPub돋움체_Pro Medium"/>
                <a:ea typeface="KoPub돋움체_Pro Medium"/>
                <a:cs typeface="KoPub돋움체_Pro Medium"/>
              </a:defRPr>
            </a:lvl4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</p:txBody>
      </p:sp>
    </p:spTree>
    <p:extLst>
      <p:ext uri="{BB962C8B-B14F-4D97-AF65-F5344CB8AC3E}">
        <p14:creationId xmlns:p14="http://schemas.microsoft.com/office/powerpoint/2010/main" val="32184012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Type B_Regu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내지 Type A-2-02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5"/>
          <p:cNvSpPr txBox="1">
            <a:spLocks/>
          </p:cNvSpPr>
          <p:nvPr userDrawn="1"/>
        </p:nvSpPr>
        <p:spPr>
          <a:xfrm>
            <a:off x="6677025" y="6451600"/>
            <a:ext cx="2790825" cy="27463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1" dirty="0" err="1">
                <a:latin typeface="Arial" pitchFamily="34" charset="0"/>
                <a:cs typeface="Arial" pitchFamily="34" charset="0"/>
              </a:rPr>
              <a:t>Mirae</a:t>
            </a:r>
            <a:r>
              <a:rPr lang="en-US" sz="800" b="1" dirty="0">
                <a:latin typeface="Arial" pitchFamily="34" charset="0"/>
                <a:cs typeface="Arial" pitchFamily="34" charset="0"/>
              </a:rPr>
              <a:t> Asset Global Investments</a:t>
            </a: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411749" y="417792"/>
            <a:ext cx="8915400" cy="409433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2200">
                <a:solidFill>
                  <a:srgbClr val="0D2D4F"/>
                </a:solidFill>
                <a:latin typeface="Arial" pitchFamily="34" charset="0"/>
                <a:ea typeface="KoPub돋움체_Pro Bold"/>
                <a:cs typeface="Arial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411749" y="959321"/>
            <a:ext cx="8915400" cy="5166844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>
                <a:solidFill>
                  <a:srgbClr val="3C3C3B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 sz="2000">
                <a:latin typeface="Noto Sans"/>
                <a:cs typeface="Noto Sans"/>
              </a:defRPr>
            </a:lvl2pPr>
            <a:lvl3pPr marL="914400" indent="0">
              <a:buFontTx/>
              <a:buNone/>
              <a:defRPr sz="1800">
                <a:latin typeface="Noto Sans"/>
                <a:cs typeface="Noto Sans"/>
              </a:defRPr>
            </a:lvl3pPr>
            <a:lvl4pPr marL="1371600" indent="0">
              <a:buFontTx/>
              <a:buNone/>
              <a:defRPr sz="1600">
                <a:latin typeface="Noto Sans"/>
                <a:cs typeface="Noto Sans"/>
              </a:defRPr>
            </a:lvl4pPr>
            <a:lvl5pPr marL="1828800" indent="0">
              <a:buFontTx/>
              <a:buNone/>
              <a:defRPr sz="1600">
                <a:latin typeface="Noto Sans"/>
                <a:cs typeface="Noto Sans"/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379413" y="6451600"/>
            <a:ext cx="1990725" cy="365125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48535B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D86C853B-9730-4DF6-B6A6-7FBD3719BC33}" type="slidenum">
              <a:rPr lang="en-US"/>
              <a:pPr>
                <a:defRPr/>
              </a:pPr>
              <a:t>‹#›</a:t>
            </a:fld>
            <a:r>
              <a:rPr lang="en-US"/>
              <a:t> | Document name | </a:t>
            </a:r>
            <a:r>
              <a:rPr lang="en-US" altLang="ko-KR"/>
              <a:t>DD/MM/YYYY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054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뒷표지_Typ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750" y="5648325"/>
            <a:ext cx="1709738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3000" b="1" i="0" baseline="0">
                <a:solidFill>
                  <a:srgbClr val="0D2D4F"/>
                </a:solidFill>
                <a:latin typeface="Arial" pitchFamily="34" charset="0"/>
                <a:ea typeface="KoPub돋움체_Pro Bold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8196638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 txBox="1">
            <a:spLocks/>
          </p:cNvSpPr>
          <p:nvPr userDrawn="1"/>
        </p:nvSpPr>
        <p:spPr>
          <a:xfrm>
            <a:off x="6465888" y="6451600"/>
            <a:ext cx="2963862" cy="27463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1" spc="-50">
                <a:latin typeface="맑은 고딕" pitchFamily="50" charset="-127"/>
                <a:ea typeface="맑은 고딕" pitchFamily="50" charset="-127"/>
              </a:rPr>
              <a:t>Mirae Asset Global Investments</a:t>
            </a:r>
            <a:endParaRPr lang="en-US" sz="800" b="1" spc="-5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5" name="Straight Connector 10"/>
          <p:cNvCxnSpPr/>
          <p:nvPr userDrawn="1"/>
        </p:nvCxnSpPr>
        <p:spPr>
          <a:xfrm>
            <a:off x="484188" y="6354763"/>
            <a:ext cx="8877300" cy="0"/>
          </a:xfrm>
          <a:prstGeom prst="line">
            <a:avLst/>
          </a:prstGeom>
          <a:ln>
            <a:solidFill>
              <a:srgbClr val="83878A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10"/>
          <p:cNvCxnSpPr/>
          <p:nvPr userDrawn="1"/>
        </p:nvCxnSpPr>
        <p:spPr>
          <a:xfrm>
            <a:off x="484188" y="896938"/>
            <a:ext cx="8877300" cy="0"/>
          </a:xfrm>
          <a:prstGeom prst="line">
            <a:avLst/>
          </a:prstGeom>
          <a:ln>
            <a:solidFill>
              <a:srgbClr val="83878A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415769" y="427281"/>
            <a:ext cx="6303408" cy="409433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2400" b="1">
                <a:solidFill>
                  <a:srgbClr val="0D2D4F"/>
                </a:solidFill>
                <a:latin typeface="맑은 고딕" pitchFamily="50" charset="-127"/>
                <a:ea typeface="맑은 고딕" pitchFamily="50" charset="-127"/>
                <a:cs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703847" y="1044000"/>
            <a:ext cx="8915400" cy="526532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 i="0">
                <a:solidFill>
                  <a:srgbClr val="F58220"/>
                </a:solidFill>
                <a:latin typeface="맑은 고딕" pitchFamily="50" charset="-127"/>
                <a:ea typeface="맑은 고딕" pitchFamily="50" charset="-127"/>
                <a:cs typeface="맑은 고딕" pitchFamily="50" charset="-127"/>
              </a:defRPr>
            </a:lvl1pPr>
            <a:lvl2pPr marL="457200" indent="0">
              <a:buFontTx/>
              <a:buNone/>
              <a:defRPr sz="2000">
                <a:latin typeface="Noto Sans"/>
                <a:cs typeface="Noto Sans"/>
              </a:defRPr>
            </a:lvl2pPr>
            <a:lvl3pPr marL="914400" indent="0">
              <a:buFontTx/>
              <a:buNone/>
              <a:defRPr sz="1800">
                <a:latin typeface="Noto Sans"/>
                <a:cs typeface="Noto Sans"/>
              </a:defRPr>
            </a:lvl3pPr>
            <a:lvl4pPr marL="1371600" indent="0">
              <a:buFontTx/>
              <a:buNone/>
              <a:defRPr sz="1600">
                <a:latin typeface="Noto Sans"/>
                <a:cs typeface="Noto Sans"/>
              </a:defRPr>
            </a:lvl4pPr>
            <a:lvl5pPr marL="1828800" indent="0">
              <a:buFontTx/>
              <a:buNone/>
              <a:defRPr sz="1600">
                <a:latin typeface="Noto Sans"/>
                <a:cs typeface="Noto Sans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  <a:endParaRPr lang="en-US" altLang="ko-KR" dirty="0"/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489000" y="6494329"/>
            <a:ext cx="3662870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0989B7-FBDF-4BF5-AEF4-99B16632A252}" type="slidenum">
              <a:rPr kumimoji="0" lang="ko-KR" altLang="en-US" sz="800" b="0" i="0" u="none" strike="noStrike" kern="1200" cap="none" spc="2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 </a:t>
            </a:r>
            <a:r>
              <a:rPr kumimoji="0" lang="ko-KR" altLang="en-US" sz="8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미래에셋멀티코어일반사모투자신탁</a:t>
            </a:r>
            <a:r>
              <a:rPr kumimoji="0" lang="ko-KR" altLang="en-US" sz="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Noto Sans"/>
              </a:rPr>
              <a:t> 제안서     </a:t>
            </a:r>
            <a:endParaRPr kumimoji="0" lang="en-US" sz="8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oPub돋움체_Pro Medium" panose="02020603020101020101" pitchFamily="18" charset="-127"/>
              <a:ea typeface="KoPub돋움체_Pro Medium" panose="02020603020101020101" pitchFamily="18" charset="-127"/>
              <a:cs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304441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뒷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0525" y="5648325"/>
            <a:ext cx="1709738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950" y="2935288"/>
            <a:ext cx="8420100" cy="41537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buNone/>
              <a:defRPr sz="2999" b="0" i="0" baseline="0">
                <a:solidFill>
                  <a:schemeClr val="accent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Noto Sans" panose="020B0802040504020204" pitchFamily="34" charset="0"/>
              </a:defRPr>
            </a:lvl1pPr>
            <a:lvl2pPr marL="45710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32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43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5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6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7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86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970856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2542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42" r:id="rId1"/>
    <p:sldLayoutId id="2147484543" r:id="rId2"/>
    <p:sldLayoutId id="2147484544" r:id="rId3"/>
    <p:sldLayoutId id="2147484545" r:id="rId4"/>
    <p:sldLayoutId id="2147484546" r:id="rId5"/>
    <p:sldLayoutId id="2147484547" r:id="rId6"/>
    <p:sldLayoutId id="2147484548" r:id="rId7"/>
    <p:sldLayoutId id="2147484549" r:id="rId8"/>
    <p:sldLayoutId id="2147484550" r:id="rId9"/>
    <p:sldLayoutId id="2147484551" r:id="rId10"/>
    <p:sldLayoutId id="2147484552" r:id="rId11"/>
    <p:sldLayoutId id="2147484553" r:id="rId12"/>
    <p:sldLayoutId id="2147484554" r:id="rId13"/>
    <p:sldLayoutId id="2147484555" r:id="rId14"/>
    <p:sldLayoutId id="2147484533" r:id="rId15"/>
    <p:sldLayoutId id="2147484534" r:id="rId16"/>
    <p:sldLayoutId id="2147484535" r:id="rId17"/>
    <p:sldLayoutId id="2147484536" r:id="rId18"/>
    <p:sldLayoutId id="2147484537" r:id="rId19"/>
    <p:sldLayoutId id="2147484539" r:id="rId20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631825" y="1264981"/>
            <a:ext cx="5220000" cy="1477328"/>
          </a:xfrm>
        </p:spPr>
        <p:txBody>
          <a:bodyPr/>
          <a:lstStyle/>
          <a:p>
            <a:r>
              <a:rPr lang="ko-KR" altLang="en-US" dirty="0" err="1"/>
              <a:t>미래에셋</a:t>
            </a:r>
            <a:br>
              <a:rPr lang="en-US" altLang="ko-KR" dirty="0"/>
            </a:br>
            <a:r>
              <a:rPr lang="ko-KR" altLang="en-US" dirty="0" err="1"/>
              <a:t>변동성 하베스트 AI Top2</a:t>
            </a:r>
            <a:br>
              <a:rPr lang="en-US" altLang="ko-KR" dirty="0"/>
            </a:br>
            <a:r>
              <a:rPr lang="ko-KR" altLang="en-US" dirty="0"/>
              <a:t>일반사모투자신탁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미래에셋자산운용 AI금융공학운용부문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sz="11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2026.07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631825" y="244103"/>
            <a:ext cx="5040000" cy="12311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 err="1"/>
              <a:t>미래에셋자산운용</a:t>
            </a:r>
            <a:r>
              <a:rPr lang="ko-KR" altLang="en-US" dirty="0"/>
              <a:t> 컴플라이언스 외부제출 확인필 제 </a:t>
            </a:r>
            <a:r>
              <a:rPr lang="en-US" altLang="ko-KR" dirty="0"/>
              <a:t>00</a:t>
            </a:r>
            <a:r>
              <a:rPr lang="ko-KR" altLang="en-US" dirty="0"/>
              <a:t>호</a:t>
            </a:r>
            <a:r>
              <a:rPr lang="en-US" altLang="ko-KR" dirty="0"/>
              <a:t>(0000.00.00)</a:t>
            </a:r>
          </a:p>
        </p:txBody>
      </p:sp>
    </p:spTree>
    <p:extLst>
      <p:ext uri="{BB962C8B-B14F-4D97-AF65-F5344CB8AC3E}">
        <p14:creationId xmlns:p14="http://schemas.microsoft.com/office/powerpoint/2010/main" val="3031050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69264-9650-F876-7EDE-EABDE699E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2">
            <a:extLst>
              <a:ext uri="{FF2B5EF4-FFF2-40B4-BE49-F238E27FC236}">
                <a16:creationId xmlns:a16="http://schemas.microsoft.com/office/drawing/2014/main" id="{FBCAFBEB-4446-F8C4-241D-00A4D6798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90" y="523756"/>
            <a:ext cx="6480000" cy="276999"/>
          </a:xfrm>
        </p:spPr>
        <p:txBody>
          <a:bodyPr/>
          <a:lstStyle/>
          <a:p>
            <a:r>
              <a:rPr lang="ko-KR" altLang="en-US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변동성 </a:t>
            </a:r>
            <a:r>
              <a:rPr lang="ko-KR" altLang="en-US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하베스트</a:t>
            </a:r>
            <a:r>
              <a:rPr lang="ko-KR" altLang="en-US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투자포인트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28794CD-51D0-B4DA-6C14-958875D69648}"/>
              </a:ext>
            </a:extLst>
          </p:cNvPr>
          <p:cNvSpPr txBox="1"/>
          <p:nvPr/>
        </p:nvSpPr>
        <p:spPr>
          <a:xfrm>
            <a:off x="457199" y="5943508"/>
            <a:ext cx="88715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* 상기 수치는 자체 시뮬레이션 가정에 따른 예시이며 실제 성과를 보장하지 않습니다. 실현변동성은 삼성전자·SK하이닉스 최근 60영업일 기준(2026-07-10).</a:t>
            </a:r>
            <a:endParaRPr lang="ko-KR" altLang="en-US" sz="1000" dirty="0"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r>
              <a:rPr sz="800" dirty="0">
                <a:latin typeface="KoPub돋움체_Pro Medium"/>
              </a:rPr>
              <a:t>** </a:t>
            </a:r>
            <a:r>
              <a:rPr sz="800" dirty="0" err="1">
                <a:latin typeface="KoPub돋움체_Pro Medium"/>
              </a:rPr>
              <a:t>하락장</a:t>
            </a:r>
            <a:r>
              <a:rPr sz="800" dirty="0">
                <a:latin typeface="KoPub돋움체_Pro Medium"/>
              </a:rPr>
              <a:t> </a:t>
            </a:r>
            <a:r>
              <a:rPr sz="800" dirty="0" err="1">
                <a:latin typeface="KoPub돋움체_Pro Medium"/>
              </a:rPr>
              <a:t>손실</a:t>
            </a:r>
            <a:r>
              <a:rPr sz="800" dirty="0">
                <a:latin typeface="KoPub돋움체_Pro Medium"/>
              </a:rPr>
              <a:t> </a:t>
            </a:r>
            <a:r>
              <a:rPr sz="800" dirty="0" err="1">
                <a:latin typeface="KoPub돋움체_Pro Medium"/>
              </a:rPr>
              <a:t>완화</a:t>
            </a:r>
            <a:r>
              <a:rPr sz="800" dirty="0">
                <a:latin typeface="KoPub돋움체_Pro Medium"/>
              </a:rPr>
              <a:t> -5% </a:t>
            </a:r>
            <a:r>
              <a:rPr sz="800" dirty="0" err="1">
                <a:latin typeface="KoPub돋움체_Pro Medium"/>
              </a:rPr>
              <a:t>산출</a:t>
            </a:r>
            <a:r>
              <a:rPr sz="800" dirty="0">
                <a:latin typeface="KoPub돋움체_Pro Medium"/>
              </a:rPr>
              <a:t>: </a:t>
            </a:r>
            <a:r>
              <a:rPr sz="800" dirty="0" err="1">
                <a:latin typeface="KoPub돋움체_Pro Medium"/>
              </a:rPr>
              <a:t>안정변동성펀드</a:t>
            </a:r>
            <a:r>
              <a:rPr sz="800" dirty="0">
                <a:latin typeface="KoPub돋움체_Pro Medium"/>
              </a:rPr>
              <a:t> 1년 </a:t>
            </a:r>
            <a:r>
              <a:rPr sz="800" dirty="0" err="1">
                <a:latin typeface="KoPub돋움체_Pro Medium"/>
              </a:rPr>
              <a:t>시뮬레이션</a:t>
            </a:r>
            <a:r>
              <a:rPr sz="800" dirty="0">
                <a:latin typeface="KoPub돋움체_Pro Medium"/>
              </a:rPr>
              <a:t>(AI Top2 </a:t>
            </a:r>
            <a:r>
              <a:rPr sz="800" dirty="0" err="1">
                <a:latin typeface="KoPub돋움체_Pro Medium"/>
              </a:rPr>
              <a:t>동일가중</a:t>
            </a:r>
            <a:r>
              <a:rPr sz="800" dirty="0">
                <a:latin typeface="KoPub돋움체_Pro Medium"/>
              </a:rPr>
              <a:t> </a:t>
            </a:r>
            <a:r>
              <a:rPr sz="800" dirty="0" err="1">
                <a:latin typeface="KoPub돋움체_Pro Medium"/>
              </a:rPr>
              <a:t>최근</a:t>
            </a:r>
            <a:r>
              <a:rPr sz="800" dirty="0">
                <a:latin typeface="KoPub돋움체_Pro Medium"/>
              </a:rPr>
              <a:t> 3년 </a:t>
            </a:r>
            <a:r>
              <a:rPr sz="800" dirty="0" err="1">
                <a:latin typeface="KoPub돋움체_Pro Medium"/>
              </a:rPr>
              <a:t>블록</a:t>
            </a:r>
            <a:r>
              <a:rPr sz="800" dirty="0">
                <a:latin typeface="KoPub돋움체_Pro Medium"/>
              </a:rPr>
              <a:t> </a:t>
            </a:r>
            <a:r>
              <a:rPr sz="800" dirty="0" err="1">
                <a:latin typeface="KoPub돋움체_Pro Medium"/>
              </a:rPr>
              <a:t>부트스트랩</a:t>
            </a:r>
            <a:r>
              <a:rPr sz="800" dirty="0">
                <a:latin typeface="KoPub돋움체_Pro Medium"/>
              </a:rPr>
              <a:t> 3,000경로 · </a:t>
            </a:r>
            <a:r>
              <a:rPr sz="800" dirty="0" err="1">
                <a:latin typeface="KoPub돋움체_Pro Medium"/>
              </a:rPr>
              <a:t>변동성</a:t>
            </a:r>
            <a:r>
              <a:rPr sz="800" dirty="0">
                <a:latin typeface="KoPub돋움체_Pro Medium"/>
              </a:rPr>
              <a:t> 60% </a:t>
            </a:r>
            <a:r>
              <a:rPr sz="800" dirty="0" err="1">
                <a:latin typeface="KoPub돋움체_Pro Medium"/>
              </a:rPr>
              <a:t>재현</a:t>
            </a:r>
            <a:r>
              <a:rPr sz="800" dirty="0">
                <a:latin typeface="KoPub돋움체_Pro Medium"/>
              </a:rPr>
              <a:t> · </a:t>
            </a:r>
            <a:r>
              <a:rPr sz="800" dirty="0" err="1">
                <a:latin typeface="KoPub돋움체_Pro Medium"/>
              </a:rPr>
              <a:t>매매비용</a:t>
            </a:r>
            <a:r>
              <a:rPr sz="800" dirty="0">
                <a:latin typeface="KoPub돋움체_Pro Medium"/>
              </a:rPr>
              <a:t> </a:t>
            </a:r>
            <a:r>
              <a:rPr sz="800" dirty="0" err="1">
                <a:latin typeface="KoPub돋움체_Pro Medium"/>
              </a:rPr>
              <a:t>포함</a:t>
            </a:r>
            <a:r>
              <a:rPr sz="800" dirty="0">
                <a:latin typeface="KoPub돋움체_Pro Medium"/>
              </a:rPr>
              <a:t>) 중 </a:t>
            </a:r>
            <a:r>
              <a:rPr sz="800" dirty="0" err="1">
                <a:latin typeface="KoPub돋움체_Pro Medium"/>
              </a:rPr>
              <a:t>만기</a:t>
            </a:r>
            <a:r>
              <a:rPr sz="800" dirty="0">
                <a:latin typeface="KoPub돋움체_Pro Medium"/>
              </a:rPr>
              <a:t> </a:t>
            </a:r>
            <a:r>
              <a:rPr sz="800" dirty="0" err="1">
                <a:latin typeface="KoPub돋움체_Pro Medium"/>
              </a:rPr>
              <a:t>지수</a:t>
            </a:r>
            <a:r>
              <a:rPr sz="800" dirty="0">
                <a:latin typeface="KoPub돋움체_Pro Medium"/>
              </a:rPr>
              <a:t> -30%±5% </a:t>
            </a:r>
            <a:r>
              <a:rPr sz="800" dirty="0" err="1">
                <a:latin typeface="KoPub돋움체_Pro Medium"/>
              </a:rPr>
              <a:t>도달</a:t>
            </a:r>
            <a:r>
              <a:rPr sz="800" dirty="0">
                <a:latin typeface="KoPub돋움체_Pro Medium"/>
              </a:rPr>
              <a:t> 233개 </a:t>
            </a:r>
            <a:r>
              <a:rPr sz="800" dirty="0" err="1">
                <a:latin typeface="KoPub돋움체_Pro Medium"/>
              </a:rPr>
              <a:t>경로의</a:t>
            </a:r>
            <a:r>
              <a:rPr sz="800" dirty="0">
                <a:latin typeface="KoPub돋움체_Pro Medium"/>
              </a:rPr>
              <a:t> </a:t>
            </a:r>
            <a:r>
              <a:rPr sz="800" dirty="0" err="1">
                <a:latin typeface="KoPub돋움체_Pro Medium"/>
              </a:rPr>
              <a:t>수익률</a:t>
            </a:r>
            <a:r>
              <a:rPr sz="800" dirty="0">
                <a:latin typeface="KoPub돋움체_Pro Medium"/>
              </a:rPr>
              <a:t> </a:t>
            </a:r>
            <a:r>
              <a:rPr sz="800" dirty="0" err="1">
                <a:latin typeface="KoPub돋움체_Pro Medium"/>
              </a:rPr>
              <a:t>중앙값</a:t>
            </a:r>
            <a:r>
              <a:rPr sz="800" dirty="0">
                <a:latin typeface="KoPub돋움체_Pro Medium"/>
              </a:rPr>
              <a:t>. </a:t>
            </a:r>
            <a:r>
              <a:rPr sz="800" dirty="0" err="1">
                <a:latin typeface="KoPub돋움체_Pro Medium"/>
              </a:rPr>
              <a:t>경로별</a:t>
            </a:r>
            <a:r>
              <a:rPr sz="800" dirty="0">
                <a:latin typeface="KoPub돋움체_Pro Medium"/>
              </a:rPr>
              <a:t> p5~p95 -14%~+5% </a:t>
            </a:r>
            <a:r>
              <a:rPr sz="800" dirty="0" err="1">
                <a:latin typeface="KoPub돋움체_Pro Medium"/>
              </a:rPr>
              <a:t>분포</a:t>
            </a:r>
            <a:r>
              <a:rPr sz="800" dirty="0">
                <a:latin typeface="KoPub돋움체_Pro Medium"/>
              </a:rPr>
              <a:t>(</a:t>
            </a:r>
            <a:r>
              <a:rPr sz="800" dirty="0" err="1">
                <a:latin typeface="KoPub돋움체_Pro Medium"/>
              </a:rPr>
              <a:t>상세</a:t>
            </a:r>
            <a:r>
              <a:rPr sz="800" dirty="0">
                <a:latin typeface="KoPub돋움체_Pro Medium"/>
              </a:rPr>
              <a:t>: </a:t>
            </a:r>
            <a:r>
              <a:rPr sz="800" dirty="0" err="1">
                <a:latin typeface="KoPub돋움체_Pro Medium"/>
              </a:rPr>
              <a:t>수익</a:t>
            </a:r>
            <a:r>
              <a:rPr sz="800" dirty="0">
                <a:latin typeface="KoPub돋움체_Pro Medium"/>
              </a:rPr>
              <a:t> </a:t>
            </a:r>
            <a:r>
              <a:rPr sz="800" dirty="0" err="1">
                <a:latin typeface="KoPub돋움체_Pro Medium"/>
              </a:rPr>
              <a:t>구조</a:t>
            </a:r>
            <a:r>
              <a:rPr sz="800" dirty="0">
                <a:latin typeface="KoPub돋움체_Pro Medium"/>
              </a:rPr>
              <a:t> ② </a:t>
            </a:r>
            <a:r>
              <a:rPr sz="800" dirty="0" err="1">
                <a:latin typeface="KoPub돋움체_Pro Medium"/>
              </a:rPr>
              <a:t>보조</a:t>
            </a:r>
            <a:r>
              <a:rPr sz="800" dirty="0">
                <a:latin typeface="KoPub돋움체_Pro Medium"/>
              </a:rPr>
              <a:t> </a:t>
            </a:r>
            <a:r>
              <a:rPr sz="800" dirty="0" err="1">
                <a:latin typeface="KoPub돋움체_Pro Medium"/>
              </a:rPr>
              <a:t>슬라이드</a:t>
            </a:r>
            <a:r>
              <a:rPr sz="800" dirty="0">
                <a:latin typeface="KoPub돋움체_Pro Medium"/>
              </a:rPr>
              <a:t>), </a:t>
            </a:r>
            <a:r>
              <a:rPr sz="800" dirty="0" err="1">
                <a:latin typeface="KoPub돋움체_Pro Medium"/>
              </a:rPr>
              <a:t>원금</a:t>
            </a:r>
            <a:r>
              <a:rPr sz="800" dirty="0">
                <a:latin typeface="KoPub돋움체_Pro Medium"/>
              </a:rPr>
              <a:t> </a:t>
            </a:r>
            <a:r>
              <a:rPr sz="800" dirty="0" err="1">
                <a:latin typeface="KoPub돋움체_Pro Medium"/>
              </a:rPr>
              <a:t>보장</a:t>
            </a:r>
            <a:r>
              <a:rPr sz="800" dirty="0">
                <a:latin typeface="KoPub돋움체_Pro Medium"/>
              </a:rPr>
              <a:t> </a:t>
            </a:r>
            <a:r>
              <a:rPr sz="800" dirty="0" err="1">
                <a:latin typeface="KoPub돋움체_Pro Medium"/>
              </a:rPr>
              <a:t>아님</a:t>
            </a:r>
            <a:r>
              <a:rPr sz="800" dirty="0">
                <a:latin typeface="KoPub돋움체_Pro Medium"/>
              </a:rPr>
              <a:t>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02920" y="960120"/>
            <a:ext cx="8915400" cy="1146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1" dirty="0">
                <a:solidFill>
                  <a:srgbClr val="F58220"/>
                </a:solidFill>
                <a:latin typeface="KoPub돋움체_Pro Bold"/>
              </a:rPr>
              <a:t>▶  </a:t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>변동성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</a:t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>장세에서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</a:t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>수익을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</a:t>
            </a:r>
            <a:r>
              <a:rPr lang="ko-KR" altLang="en-US" sz="1300" b="1" dirty="0">
                <a:solidFill>
                  <a:srgbClr val="043B72"/>
                </a:solidFill>
                <a:latin typeface="KoPub돋움체_Pro Bold"/>
              </a:rPr>
              <a:t>낸다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 — 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역대급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변동성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(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삼성·SK하이닉스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실현변동성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85~99%)을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저가매수·고가매도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매매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수익으로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전환</a:t>
            </a:r>
            <a:endParaRPr sz="1150" b="0" dirty="0">
              <a:solidFill>
                <a:srgbClr val="333333"/>
              </a:solidFill>
              <a:latin typeface="KoPub돋움체_Pro Medium"/>
            </a:endParaRPr>
          </a:p>
          <a:p>
            <a:pPr>
              <a:spcAft>
                <a:spcPts val="700"/>
              </a:spcAft>
            </a:pPr>
            <a:r>
              <a:rPr sz="1300" b="1" dirty="0">
                <a:solidFill>
                  <a:srgbClr val="F58220"/>
                </a:solidFill>
                <a:latin typeface="KoPub돋움체_Pro Bold"/>
              </a:rPr>
              <a:t>▶</a:t>
            </a:r>
            <a:r>
              <a:rPr lang="en-US" sz="1300" b="1" dirty="0">
                <a:solidFill>
                  <a:srgbClr val="F58220"/>
                </a:solidFill>
                <a:latin typeface="KoPub돋움체_Pro Bold"/>
              </a:rPr>
              <a:t> </a:t>
            </a:r>
            <a:r>
              <a:rPr sz="1300" b="1" dirty="0">
                <a:solidFill>
                  <a:srgbClr val="F58220"/>
                </a:solidFill>
                <a:latin typeface="KoPub돋움체_Pro Bold"/>
              </a:rPr>
              <a:t> </a:t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>차별화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</a:t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>전략으로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</a:t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>하락을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</a:t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>방어</a:t>
            </a:r>
            <a:r>
              <a:rPr lang="ko-KR" altLang="en-US" sz="1300" b="1" dirty="0">
                <a:solidFill>
                  <a:srgbClr val="043B72"/>
                </a:solidFill>
                <a:latin typeface="KoPub돋움체_Pro Bold"/>
              </a:rPr>
              <a:t>한다</a:t>
            </a:r>
            <a:r>
              <a:rPr lang="en-US" altLang="ko-KR" sz="1300" b="1" dirty="0">
                <a:solidFill>
                  <a:srgbClr val="043B72"/>
                </a:solidFill>
                <a:latin typeface="KoPub돋움체_Pro Bold"/>
              </a:rPr>
              <a:t>.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 —</a:t>
            </a:r>
            <a:r>
              <a:rPr lang="ko-KR" altLang="en-US" sz="1300" b="1" dirty="0">
                <a:solidFill>
                  <a:srgbClr val="043B72"/>
                </a:solidFill>
                <a:latin typeface="KoPub돋움체_Pro Bold"/>
              </a:rPr>
              <a:t>  </a:t>
            </a:r>
            <a:r>
              <a:rPr lang="ko-KR" altLang="en-US" sz="1150" dirty="0">
                <a:solidFill>
                  <a:srgbClr val="333333"/>
                </a:solidFill>
                <a:latin typeface="KoPub돋움체_Pro Medium"/>
              </a:rPr>
              <a:t>변동성을 활용하여 하락 했을 때도 수익이 가능</a:t>
            </a:r>
            <a:endParaRPr lang="en-US" altLang="ko-KR" sz="1150" dirty="0">
              <a:solidFill>
                <a:srgbClr val="333333"/>
              </a:solidFill>
              <a:latin typeface="KoPub돋움체_Pro Medium"/>
            </a:endParaRPr>
          </a:p>
          <a:p>
            <a:pPr>
              <a:spcAft>
                <a:spcPts val="700"/>
              </a:spcAft>
            </a:pPr>
            <a:r>
              <a:rPr lang="ko-KR" altLang="en-US" sz="1200" b="1" dirty="0">
                <a:solidFill>
                  <a:srgbClr val="F58220"/>
                </a:solidFill>
                <a:latin typeface="KoPub돋움체_Pro Bold"/>
              </a:rPr>
              <a:t>▶  </a:t>
            </a:r>
            <a:r>
              <a:rPr lang="ko-KR" altLang="en-US" sz="1200" b="1" dirty="0">
                <a:solidFill>
                  <a:srgbClr val="043B72"/>
                </a:solidFill>
                <a:latin typeface="KoPub돋움체_Pro Bold"/>
              </a:rPr>
              <a:t>포트폴리오에 반드시 필요한 전략입니다</a:t>
            </a:r>
            <a:r>
              <a:rPr lang="en-US" altLang="ko-KR" sz="1200" b="1" dirty="0">
                <a:solidFill>
                  <a:srgbClr val="043B72"/>
                </a:solidFill>
                <a:latin typeface="KoPub돋움체_Pro Bold"/>
              </a:rPr>
              <a:t>.</a:t>
            </a:r>
            <a:r>
              <a:rPr lang="ko-KR" altLang="en-US" sz="1200" b="1" dirty="0">
                <a:solidFill>
                  <a:srgbClr val="043B72"/>
                </a:solidFill>
                <a:latin typeface="KoPub돋움체_Pro Bold"/>
              </a:rPr>
              <a:t> </a:t>
            </a:r>
            <a:r>
              <a:rPr lang="en-US" altLang="ko-KR" sz="1200" b="1" dirty="0">
                <a:solidFill>
                  <a:srgbClr val="043B72"/>
                </a:solidFill>
                <a:latin typeface="KoPub돋움체_Pro Bold"/>
              </a:rPr>
              <a:t>—</a:t>
            </a:r>
            <a:r>
              <a:rPr lang="ko-KR" altLang="en-US" sz="1200" b="1" dirty="0">
                <a:solidFill>
                  <a:srgbClr val="043B72"/>
                </a:solidFill>
                <a:latin typeface="KoPub돋움체_Pro Bold"/>
              </a:rPr>
              <a:t>  </a:t>
            </a:r>
            <a:r>
              <a:rPr lang="ko-KR" altLang="en-US" sz="1100" b="1" dirty="0">
                <a:solidFill>
                  <a:srgbClr val="333333"/>
                </a:solidFill>
                <a:latin typeface="KoPub돋움체_Pro Medium"/>
              </a:rPr>
              <a:t>대부분의 </a:t>
            </a:r>
            <a:r>
              <a:rPr lang="en-US" altLang="ko-KR" sz="1100" b="1" dirty="0">
                <a:solidFill>
                  <a:srgbClr val="333333"/>
                </a:solidFill>
                <a:latin typeface="KoPub돋움체_Pro Medium"/>
              </a:rPr>
              <a:t>ETF</a:t>
            </a:r>
            <a:r>
              <a:rPr lang="ko-KR" altLang="en-US" sz="1100" b="1" dirty="0">
                <a:solidFill>
                  <a:srgbClr val="333333"/>
                </a:solidFill>
                <a:latin typeface="KoPub돋움체_Pro Medium"/>
              </a:rPr>
              <a:t>및 펀드가 시장 변동성이 커졌을 때 손실이 커지는 반면 해당 운용은 추가수익이 발생</a:t>
            </a:r>
            <a:endParaRPr lang="ko-KR" altLang="en-US" sz="1100" dirty="0">
              <a:solidFill>
                <a:srgbClr val="333333"/>
              </a:solidFill>
              <a:latin typeface="KoPub돋움체_Pro Medium"/>
            </a:endParaRPr>
          </a:p>
          <a:p>
            <a:pPr>
              <a:spcAft>
                <a:spcPts val="700"/>
              </a:spcAft>
            </a:pPr>
            <a:r>
              <a:rPr sz="1300" b="1" dirty="0">
                <a:solidFill>
                  <a:srgbClr val="F58220"/>
                </a:solidFill>
                <a:latin typeface="KoPub돋움체_Pro Bold"/>
              </a:rPr>
              <a:t>▶  </a:t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>목표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15% </a:t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>달성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시 </a:t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>분배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후 </a:t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>원금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</a:t>
            </a:r>
            <a:r>
              <a:rPr sz="1300" b="1" dirty="0" err="1">
                <a:solidFill>
                  <a:srgbClr val="043B72"/>
                </a:solidFill>
                <a:latin typeface="KoPub돋움체_Pro Bold"/>
              </a:rPr>
              <a:t>재운용</a:t>
            </a:r>
            <a:r>
              <a:rPr sz="1300" b="1" dirty="0">
                <a:solidFill>
                  <a:srgbClr val="043B72"/>
                </a:solidFill>
                <a:latin typeface="KoPub돋움체_Pro Bold"/>
              </a:rPr>
              <a:t>  — 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수익은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분배하고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원금만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남겨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재운용하는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목표배당형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구조로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반복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수익</a:t>
            </a:r>
            <a:r>
              <a:rPr sz="115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KoPub돋움체_Pro Medium"/>
              </a:rPr>
              <a:t>실현</a:t>
            </a:r>
            <a:endParaRPr sz="1150" b="0" dirty="0">
              <a:solidFill>
                <a:srgbClr val="333333"/>
              </a:solidFill>
              <a:latin typeface="KoPub돋움체_Pro Medium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502920" y="2606040"/>
            <a:ext cx="2944368" cy="420624"/>
          </a:xfrm>
          <a:prstGeom prst="round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50" b="1" dirty="0" err="1">
                <a:solidFill>
                  <a:srgbClr val="FFFFFF"/>
                </a:solidFill>
                <a:latin typeface="KoPub돋움체_Pro Bold"/>
              </a:rPr>
              <a:t>변동성</a:t>
            </a:r>
            <a:r>
              <a:rPr sz="1150" b="1" dirty="0">
                <a:solidFill>
                  <a:srgbClr val="FFFFFF"/>
                </a:solidFill>
                <a:latin typeface="KoPub돋움체_Pro Bold"/>
              </a:rPr>
              <a:t> </a:t>
            </a:r>
            <a:r>
              <a:rPr sz="1150" b="1" dirty="0" err="1">
                <a:solidFill>
                  <a:srgbClr val="FFFFFF"/>
                </a:solidFill>
                <a:latin typeface="KoPub돋움체_Pro Bold"/>
              </a:rPr>
              <a:t>수확</a:t>
            </a:r>
            <a:endParaRPr sz="1150" b="1" dirty="0">
              <a:solidFill>
                <a:srgbClr val="FFFFFF"/>
              </a:solidFill>
              <a:latin typeface="KoPub돋움체_Pro Bold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502920" y="3081528"/>
            <a:ext cx="2944368" cy="2660904"/>
          </a:xfrm>
          <a:prstGeom prst="rect">
            <a:avLst/>
          </a:prstGeom>
          <a:solidFill>
            <a:srgbClr val="EF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3630168" y="2606040"/>
            <a:ext cx="2944368" cy="420624"/>
          </a:xfrm>
          <a:prstGeom prst="round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50" b="1" dirty="0" err="1">
                <a:solidFill>
                  <a:srgbClr val="FFFFFF"/>
                </a:solidFill>
                <a:latin typeface="KoPub돋움체_Pro Bold"/>
              </a:rPr>
              <a:t>하락</a:t>
            </a:r>
            <a:r>
              <a:rPr sz="1150" b="1" dirty="0">
                <a:solidFill>
                  <a:srgbClr val="FFFFFF"/>
                </a:solidFill>
                <a:latin typeface="KoPub돋움체_Pro Bold"/>
              </a:rPr>
              <a:t> </a:t>
            </a:r>
            <a:r>
              <a:rPr sz="1150" b="1" dirty="0" err="1">
                <a:solidFill>
                  <a:srgbClr val="FFFFFF"/>
                </a:solidFill>
                <a:latin typeface="KoPub돋움체_Pro Bold"/>
              </a:rPr>
              <a:t>방어</a:t>
            </a:r>
            <a:r>
              <a:rPr sz="1150" b="1" dirty="0">
                <a:solidFill>
                  <a:srgbClr val="FFFFFF"/>
                </a:solidFill>
                <a:latin typeface="KoPub돋움체_Pro Bold"/>
              </a:rPr>
              <a:t> — </a:t>
            </a:r>
            <a:r>
              <a:rPr sz="1150" b="1" dirty="0" err="1">
                <a:solidFill>
                  <a:srgbClr val="FFFFFF"/>
                </a:solidFill>
                <a:latin typeface="KoPub돋움체_Pro Bold"/>
              </a:rPr>
              <a:t>지수</a:t>
            </a:r>
            <a:r>
              <a:rPr sz="1150" b="1" dirty="0">
                <a:solidFill>
                  <a:srgbClr val="FFFFFF"/>
                </a:solidFill>
                <a:latin typeface="KoPub돋움체_Pro Bold"/>
              </a:rPr>
              <a:t> -30% </a:t>
            </a:r>
            <a:r>
              <a:rPr sz="1150" b="1" dirty="0" err="1">
                <a:solidFill>
                  <a:srgbClr val="FFFFFF"/>
                </a:solidFill>
                <a:latin typeface="KoPub돋움체_Pro Bold"/>
              </a:rPr>
              <a:t>도달</a:t>
            </a:r>
            <a:r>
              <a:rPr sz="1150" b="1" dirty="0">
                <a:solidFill>
                  <a:srgbClr val="FFFFFF"/>
                </a:solidFill>
                <a:latin typeface="KoPub돋움체_Pro Bold"/>
              </a:rPr>
              <a:t> 시 </a:t>
            </a:r>
            <a:r>
              <a:rPr sz="1150" b="1" dirty="0" err="1">
                <a:solidFill>
                  <a:srgbClr val="FFFFFF"/>
                </a:solidFill>
                <a:latin typeface="KoPub돋움체_Pro Bold"/>
              </a:rPr>
              <a:t>분포</a:t>
            </a:r>
            <a:endParaRPr sz="1150" b="1" dirty="0">
              <a:solidFill>
                <a:srgbClr val="FFFFFF"/>
              </a:solidFill>
              <a:latin typeface="KoPub돋움체_Pro Bold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3630168" y="3081528"/>
            <a:ext cx="2944368" cy="2660904"/>
          </a:xfrm>
          <a:prstGeom prst="rect">
            <a:avLst/>
          </a:prstGeom>
          <a:solidFill>
            <a:srgbClr val="EF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6757416" y="2606040"/>
            <a:ext cx="2944368" cy="420624"/>
          </a:xfrm>
          <a:prstGeom prst="round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150" b="1" dirty="0" err="1">
                <a:solidFill>
                  <a:srgbClr val="FFFFFF"/>
                </a:solidFill>
                <a:latin typeface="KoPub돋움체_Pro Bold"/>
              </a:rPr>
              <a:t>목표배당형</a:t>
            </a:r>
            <a:endParaRPr sz="1150" b="1" dirty="0">
              <a:solidFill>
                <a:srgbClr val="FFFFFF"/>
              </a:solidFill>
              <a:latin typeface="KoPub돋움체_Pro Bold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6757416" y="3081528"/>
            <a:ext cx="2944368" cy="2660904"/>
          </a:xfrm>
          <a:prstGeom prst="rect">
            <a:avLst/>
          </a:prstGeom>
          <a:solidFill>
            <a:srgbClr val="EF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94360" y="3310128"/>
            <a:ext cx="2761488" cy="1851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1" dirty="0" err="1">
                <a:solidFill>
                  <a:srgbClr val="043B72"/>
                </a:solidFill>
                <a:latin typeface="KoPub돋움체_Pro Bold"/>
              </a:rPr>
              <a:t>삼성·SK하이닉스</a:t>
            </a:r>
            <a:r>
              <a:rPr sz="1100" b="1" dirty="0">
                <a:solidFill>
                  <a:srgbClr val="043B72"/>
                </a:solidFill>
                <a:latin typeface="KoPub돋움체_Pro Bold"/>
              </a:rPr>
              <a:t> </a:t>
            </a:r>
            <a:r>
              <a:rPr sz="1100" b="1" dirty="0" err="1">
                <a:solidFill>
                  <a:srgbClr val="043B72"/>
                </a:solidFill>
                <a:latin typeface="KoPub돋움체_Pro Bold"/>
              </a:rPr>
              <a:t>실현변동성</a:t>
            </a:r>
            <a:endParaRPr sz="1100" b="1" dirty="0">
              <a:solidFill>
                <a:srgbClr val="043B72"/>
              </a:solidFill>
              <a:latin typeface="KoPub돋움체_Pro Bold"/>
            </a:endParaRPr>
          </a:p>
          <a:p>
            <a:pPr algn="ctr">
              <a:spcAft>
                <a:spcPts val="600"/>
              </a:spcAft>
            </a:pPr>
            <a:r>
              <a:rPr sz="3400" b="1" dirty="0">
                <a:solidFill>
                  <a:srgbClr val="F58220"/>
                </a:solidFill>
                <a:latin typeface="KoPub돋움체_Pro Bold"/>
              </a:rPr>
              <a:t>85~99%</a:t>
            </a:r>
          </a:p>
          <a:p>
            <a:pPr algn="ctr">
              <a:spcAft>
                <a:spcPts val="1000"/>
              </a:spcAft>
            </a:pPr>
            <a:r>
              <a:rPr sz="1050" b="0" dirty="0">
                <a:solidFill>
                  <a:srgbClr val="555555"/>
                </a:solidFill>
                <a:latin typeface="KoPub돋움체_Pro Medium"/>
              </a:rPr>
              <a:t>vs 5년평균 32~47%</a:t>
            </a:r>
            <a:endParaRPr lang="en-US" sz="1050" b="0" dirty="0">
              <a:solidFill>
                <a:srgbClr val="555555"/>
              </a:solidFill>
              <a:latin typeface="KoPub돋움체_Pro Medium"/>
            </a:endParaRPr>
          </a:p>
          <a:p>
            <a:pPr algn="ctr">
              <a:spcAft>
                <a:spcPts val="1000"/>
              </a:spcAft>
            </a:pPr>
            <a:endParaRPr sz="1050" b="0" dirty="0">
              <a:solidFill>
                <a:srgbClr val="555555"/>
              </a:solidFill>
              <a:latin typeface="KoPub돋움체_Pro Medium"/>
            </a:endParaRPr>
          </a:p>
          <a:p>
            <a:pPr algn="ctr"/>
            <a:r>
              <a:rPr sz="1000" b="0" dirty="0" err="1">
                <a:solidFill>
                  <a:srgbClr val="333333"/>
                </a:solidFill>
                <a:latin typeface="KoPub돋움체_Pro Medium"/>
              </a:rPr>
              <a:t>변동성이</a:t>
            </a:r>
            <a:r>
              <a:rPr sz="100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000" b="0" dirty="0" err="1">
                <a:solidFill>
                  <a:srgbClr val="333333"/>
                </a:solidFill>
                <a:latin typeface="KoPub돋움체_Pro Medium"/>
              </a:rPr>
              <a:t>클수록</a:t>
            </a:r>
            <a:r>
              <a:rPr sz="100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000" b="0" dirty="0" err="1">
                <a:solidFill>
                  <a:srgbClr val="333333"/>
                </a:solidFill>
                <a:latin typeface="KoPub돋움체_Pro Medium"/>
              </a:rPr>
              <a:t>저가매수·고가매도</a:t>
            </a:r>
            <a:r>
              <a:rPr sz="1000" b="0" dirty="0">
                <a:solidFill>
                  <a:srgbClr val="333333"/>
                </a:solidFill>
                <a:latin typeface="KoPub돋움체_Pro Medium"/>
              </a:rPr>
              <a:t>
</a:t>
            </a:r>
            <a:r>
              <a:rPr sz="1000" b="0" dirty="0" err="1">
                <a:solidFill>
                  <a:srgbClr val="333333"/>
                </a:solidFill>
                <a:latin typeface="KoPub돋움체_Pro Medium"/>
              </a:rPr>
              <a:t>매매</a:t>
            </a:r>
            <a:r>
              <a:rPr sz="100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000" b="0" dirty="0" err="1">
                <a:solidFill>
                  <a:srgbClr val="333333"/>
                </a:solidFill>
                <a:latin typeface="KoPub돋움체_Pro Medium"/>
              </a:rPr>
              <a:t>수익</a:t>
            </a:r>
            <a:r>
              <a:rPr sz="100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000" b="0" dirty="0" err="1">
                <a:solidFill>
                  <a:srgbClr val="333333"/>
                </a:solidFill>
                <a:latin typeface="KoPub돋움체_Pro Medium"/>
              </a:rPr>
              <a:t>기회가</a:t>
            </a:r>
            <a:r>
              <a:rPr sz="100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000" b="0" dirty="0" err="1">
                <a:solidFill>
                  <a:srgbClr val="333333"/>
                </a:solidFill>
                <a:latin typeface="KoPub돋움체_Pro Medium"/>
              </a:rPr>
              <a:t>커집니다</a:t>
            </a:r>
            <a:endParaRPr sz="1000" b="0" dirty="0">
              <a:solidFill>
                <a:srgbClr val="333333"/>
              </a:solidFill>
              <a:latin typeface="KoPub돋움체_Pro Medium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3721608" y="4490308"/>
            <a:ext cx="2761488" cy="1142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dirty="0" err="1">
                <a:solidFill>
                  <a:srgbClr val="043B72"/>
                </a:solidFill>
                <a:latin typeface="KoPub돋움체_Pro Bold"/>
              </a:rPr>
              <a:t>수익률</a:t>
            </a:r>
            <a:r>
              <a:rPr sz="1600" b="1" dirty="0">
                <a:solidFill>
                  <a:srgbClr val="043B72"/>
                </a:solidFill>
                <a:latin typeface="KoPub돋움체_Pro Bold"/>
              </a:rPr>
              <a:t> </a:t>
            </a:r>
            <a:r>
              <a:rPr sz="1600" b="1" dirty="0" err="1">
                <a:solidFill>
                  <a:srgbClr val="043B72"/>
                </a:solidFill>
                <a:latin typeface="KoPub돋움체_Pro Bold"/>
              </a:rPr>
              <a:t>중앙값</a:t>
            </a:r>
            <a:r>
              <a:rPr sz="1600" b="1" dirty="0">
                <a:solidFill>
                  <a:srgbClr val="043B72"/>
                </a:solidFill>
                <a:latin typeface="KoPub돋움체_Pro Bold"/>
              </a:rPr>
              <a:t> -5%</a:t>
            </a:r>
          </a:p>
          <a:p>
            <a:pPr algn="ctr">
              <a:spcAft>
                <a:spcPts val="400"/>
              </a:spcAft>
            </a:pPr>
            <a:r>
              <a:rPr sz="950" b="0" dirty="0">
                <a:solidFill>
                  <a:srgbClr val="555555"/>
                </a:solidFill>
                <a:latin typeface="KoPub돋움체_Pro Medium"/>
              </a:rPr>
              <a:t>p5~p95  -14% ~ +5%  ·  </a:t>
            </a:r>
            <a:r>
              <a:rPr sz="950" b="0" dirty="0" err="1">
                <a:solidFill>
                  <a:srgbClr val="555555"/>
                </a:solidFill>
                <a:latin typeface="KoPub돋움체_Pro Medium"/>
              </a:rPr>
              <a:t>안정변동성펀드</a:t>
            </a:r>
            <a:r>
              <a:rPr sz="950" b="0" dirty="0">
                <a:solidFill>
                  <a:srgbClr val="555555"/>
                </a:solidFill>
                <a:latin typeface="KoPub돋움체_Pro Medium"/>
              </a:rPr>
              <a:t>**</a:t>
            </a:r>
          </a:p>
          <a:p>
            <a:pPr algn="ctr"/>
            <a:r>
              <a:rPr sz="1000" b="0" dirty="0">
                <a:solidFill>
                  <a:srgbClr val="333333"/>
                </a:solidFill>
                <a:latin typeface="KoPub돋움체_Pro Medium"/>
              </a:rPr>
              <a:t>한 점 </a:t>
            </a:r>
            <a:r>
              <a:rPr sz="1000" b="0" dirty="0" err="1">
                <a:solidFill>
                  <a:srgbClr val="333333"/>
                </a:solidFill>
                <a:latin typeface="KoPub돋움체_Pro Medium"/>
              </a:rPr>
              <a:t>수치가</a:t>
            </a:r>
            <a:r>
              <a:rPr sz="100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000" b="0" dirty="0" err="1">
                <a:solidFill>
                  <a:srgbClr val="333333"/>
                </a:solidFill>
                <a:latin typeface="KoPub돋움체_Pro Medium"/>
              </a:rPr>
              <a:t>아닌</a:t>
            </a:r>
            <a:r>
              <a:rPr sz="100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000" b="0" dirty="0" err="1">
                <a:solidFill>
                  <a:srgbClr val="333333"/>
                </a:solidFill>
                <a:latin typeface="KoPub돋움체_Pro Medium"/>
              </a:rPr>
              <a:t>분포로</a:t>
            </a:r>
            <a:r>
              <a:rPr sz="100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000" b="0" dirty="0" err="1">
                <a:solidFill>
                  <a:srgbClr val="333333"/>
                </a:solidFill>
                <a:latin typeface="KoPub돋움체_Pro Medium"/>
              </a:rPr>
              <a:t>하락</a:t>
            </a:r>
            <a:r>
              <a:rPr sz="100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000" b="0" dirty="0" err="1">
                <a:solidFill>
                  <a:srgbClr val="333333"/>
                </a:solidFill>
                <a:latin typeface="KoPub돋움체_Pro Medium"/>
              </a:rPr>
              <a:t>방어를</a:t>
            </a:r>
            <a:r>
              <a:rPr sz="1000" b="0" dirty="0">
                <a:solidFill>
                  <a:srgbClr val="333333"/>
                </a:solidFill>
                <a:latin typeface="KoPub돋움체_Pro Medium"/>
              </a:rPr>
              <a:t> </a:t>
            </a:r>
            <a:r>
              <a:rPr sz="1000" b="0" dirty="0" err="1">
                <a:solidFill>
                  <a:srgbClr val="333333"/>
                </a:solidFill>
                <a:latin typeface="KoPub돋움체_Pro Medium"/>
              </a:rPr>
              <a:t>제시</a:t>
            </a:r>
            <a:endParaRPr sz="1000" b="0" dirty="0">
              <a:solidFill>
                <a:srgbClr val="333333"/>
              </a:solidFill>
              <a:latin typeface="KoPub돋움체_Pro Medium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6848855" y="3310128"/>
            <a:ext cx="2761488" cy="22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043B72"/>
                </a:solidFill>
                <a:latin typeface="KoPub돋움체_Pro Bold"/>
              </a:rPr>
              <a:t>목표 수익률</a:t>
            </a:r>
          </a:p>
          <a:p>
            <a:pPr algn="ctr">
              <a:spcAft>
                <a:spcPts val="600"/>
              </a:spcAft>
            </a:pPr>
            <a:r>
              <a:rPr sz="3400" b="1">
                <a:solidFill>
                  <a:srgbClr val="F58220"/>
                </a:solidFill>
                <a:latin typeface="KoPub돋움체_Pro Bold"/>
              </a:rPr>
              <a:t>연 15%</a:t>
            </a:r>
          </a:p>
          <a:p>
            <a:pPr algn="ctr">
              <a:spcAft>
                <a:spcPts val="1000"/>
              </a:spcAft>
            </a:pPr>
            <a:r>
              <a:rPr sz="1050" b="0">
                <a:solidFill>
                  <a:srgbClr val="555555"/>
                </a:solidFill>
                <a:latin typeface="KoPub돋움체_Pro Medium"/>
              </a:rPr>
              <a:t>달성 시 분배 · 원금 재운용</a:t>
            </a:r>
          </a:p>
          <a:p>
            <a:pPr algn="ctr"/>
            <a:r>
              <a:rPr sz="1000" b="0">
                <a:solidFill>
                  <a:srgbClr val="333333"/>
                </a:solidFill>
                <a:latin typeface="KoPub돋움체_Pro Medium"/>
              </a:rPr>
              <a:t>'수익은 챙기고 원금은 굴린다'
다음 사이클로 반복 수익 실현</a:t>
            </a:r>
          </a:p>
        </p:txBody>
      </p:sp>
    </p:spTree>
    <p:extLst>
      <p:ext uri="{BB962C8B-B14F-4D97-AF65-F5344CB8AC3E}">
        <p14:creationId xmlns:p14="http://schemas.microsoft.com/office/powerpoint/2010/main" val="1036046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ko-KR" alt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투자포인트 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① </a:t>
            </a:r>
            <a:r>
              <a:rPr lang="ko-KR" altLang="en-US" sz="2200" b="1" dirty="0">
                <a:solidFill>
                  <a:srgbClr val="222222"/>
                </a:solidFill>
              </a:rPr>
              <a:t>변동성 장세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217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삼성전자·SK하이닉스 변동성이 최근 5년 중 최고 수준 — 변동성이 클수록 변동성 매매의 수익 기회가 커집니다.</a:t>
            </a:r>
          </a:p>
        </p:txBody>
      </p:sp>
      <p:pic>
        <p:nvPicPr>
          <p:cNvPr id="5" name="Picture 4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00200"/>
            <a:ext cx="8412480" cy="378561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5577840"/>
            <a:ext cx="9052560" cy="457200"/>
          </a:xfrm>
          <a:prstGeom prst="roundRect">
            <a:avLst>
              <a:gd name="adj" fmla="val 12000"/>
            </a:avLst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지금은 변동성을 '피할' 때가 아니라 '수확'하기 가장 유리한 국면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ko-KR" altLang="en-US" sz="2200" b="1" dirty="0">
                <a:solidFill>
                  <a:srgbClr val="222222"/>
                </a:solidFill>
              </a:rPr>
              <a:t>투자포인트 ②</a:t>
            </a:r>
            <a:r>
              <a:rPr sz="2200" b="1" dirty="0">
                <a:solidFill>
                  <a:srgbClr val="222222"/>
                </a:solidFill>
              </a:rPr>
              <a:t> </a:t>
            </a:r>
            <a:r>
              <a:rPr lang="ko-KR" altLang="en-US" sz="2200" b="1" dirty="0">
                <a:solidFill>
                  <a:srgbClr val="222222"/>
                </a:solidFill>
              </a:rPr>
              <a:t>변동성 장세 지속</a:t>
            </a:r>
            <a:r>
              <a:rPr lang="en-US" altLang="ko-KR" sz="2200" b="1" dirty="0">
                <a:solidFill>
                  <a:srgbClr val="222222"/>
                </a:solidFill>
              </a:rPr>
              <a:t>.</a:t>
            </a:r>
            <a:r>
              <a:rPr lang="ko-KR" altLang="en-US" sz="2200" b="1" dirty="0">
                <a:solidFill>
                  <a:srgbClr val="222222"/>
                </a:solidFill>
              </a:rPr>
              <a:t> </a:t>
            </a:r>
            <a:r>
              <a:rPr sz="2200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상방을</a:t>
            </a:r>
            <a:r>
              <a:rPr sz="2200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누르는</a:t>
            </a:r>
            <a:r>
              <a:rPr sz="2200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수급</a:t>
            </a:r>
            <a:endParaRPr sz="2200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217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 err="1">
                <a:latin typeface="+mn-lt"/>
                <a:ea typeface="KoPub돋움체_Pro Bold"/>
                <a:cs typeface="KoPub돋움체_Pro Bold"/>
              </a:rPr>
              <a:t>국민연금·외국인·개인</a:t>
            </a:r>
            <a:r>
              <a:rPr sz="1400" b="1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+mn-lt"/>
                <a:ea typeface="KoPub돋움체_Pro Bold"/>
                <a:cs typeface="KoPub돋움체_Pro Bold"/>
              </a:rPr>
              <a:t>모두</a:t>
            </a:r>
            <a:r>
              <a:rPr sz="1400" b="1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+mn-lt"/>
                <a:ea typeface="KoPub돋움체_Pro Bold"/>
                <a:cs typeface="KoPub돋움체_Pro Bold"/>
              </a:rPr>
              <a:t>지수</a:t>
            </a:r>
            <a:r>
              <a:rPr sz="1400" b="1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+mn-lt"/>
                <a:ea typeface="KoPub돋움체_Pro Bold"/>
                <a:cs typeface="KoPub돋움체_Pro Bold"/>
              </a:rPr>
              <a:t>상단에서</a:t>
            </a:r>
            <a:r>
              <a:rPr sz="1400" b="1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+mn-lt"/>
                <a:ea typeface="KoPub돋움체_Pro Bold"/>
                <a:cs typeface="KoPub돋움체_Pro Bold"/>
              </a:rPr>
              <a:t>매도</a:t>
            </a:r>
            <a:r>
              <a:rPr sz="1400" b="1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+mn-lt"/>
                <a:ea typeface="KoPub돋움체_Pro Bold"/>
                <a:cs typeface="KoPub돋움체_Pro Bold"/>
              </a:rPr>
              <a:t>우위</a:t>
            </a:r>
            <a:r>
              <a:rPr sz="1400" b="1" i="0" dirty="0">
                <a:latin typeface="+mn-lt"/>
                <a:ea typeface="KoPub돋움체_Pro Bold"/>
                <a:cs typeface="KoPub돋움체_Pro Bold"/>
              </a:rPr>
              <a:t> — </a:t>
            </a:r>
            <a:r>
              <a:rPr sz="1400" b="1" i="0" dirty="0" err="1">
                <a:latin typeface="+mn-lt"/>
                <a:ea typeface="KoPub돋움체_Pro Bold"/>
                <a:cs typeface="KoPub돋움체_Pro Bold"/>
              </a:rPr>
              <a:t>반등</a:t>
            </a:r>
            <a:r>
              <a:rPr sz="1400" b="1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+mn-lt"/>
                <a:ea typeface="KoPub돋움체_Pro Bold"/>
                <a:cs typeface="KoPub돋움체_Pro Bold"/>
              </a:rPr>
              <a:t>시마다</a:t>
            </a:r>
            <a:r>
              <a:rPr sz="1400" b="1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+mn-lt"/>
                <a:ea typeface="KoPub돋움체_Pro Bold"/>
                <a:cs typeface="KoPub돋움체_Pro Bold"/>
              </a:rPr>
              <a:t>매물벽이</a:t>
            </a:r>
            <a:r>
              <a:rPr sz="1400" b="1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+mn-lt"/>
                <a:ea typeface="KoPub돋움체_Pro Bold"/>
                <a:cs typeface="KoPub돋움체_Pro Bold"/>
              </a:rPr>
              <a:t>형성되는</a:t>
            </a:r>
            <a:r>
              <a:rPr sz="1400" b="1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+mn-lt"/>
                <a:ea typeface="KoPub돋움체_Pro Bold"/>
                <a:cs typeface="KoPub돋움체_Pro Bold"/>
              </a:rPr>
              <a:t>구조입니다</a:t>
            </a:r>
            <a:r>
              <a:rPr sz="1400" b="1" i="0" dirty="0">
                <a:latin typeface="+mn-lt"/>
                <a:ea typeface="KoPub돋움체_Pro Bold"/>
                <a:cs typeface="KoPub돋움체_Pro Bold"/>
              </a:rPr>
              <a:t>.</a:t>
            </a:r>
          </a:p>
        </p:txBody>
      </p:sp>
      <p:pic>
        <p:nvPicPr>
          <p:cNvPr id="5" name="Picture 4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74" y="3578132"/>
            <a:ext cx="8560051" cy="199970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5577840"/>
            <a:ext cx="9052560" cy="457200"/>
          </a:xfrm>
          <a:prstGeom prst="roundRect">
            <a:avLst>
              <a:gd name="adj" fmla="val 12000"/>
            </a:avLst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국민연금·외국인 매도 우위 + 반등 시 개인 차익실현 → 상방이 구조적으로 제한된다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  <p:sp>
        <p:nvSpPr>
          <p:cNvPr id="36" name="Rectangle 7">
            <a:extLst>
              <a:ext uri="{FF2B5EF4-FFF2-40B4-BE49-F238E27FC236}">
                <a16:creationId xmlns:a16="http://schemas.microsoft.com/office/drawing/2014/main" id="{0E03F60E-3F6B-E78A-3CC5-F98DD97813D0}"/>
              </a:ext>
            </a:extLst>
          </p:cNvPr>
          <p:cNvSpPr/>
          <p:nvPr/>
        </p:nvSpPr>
        <p:spPr>
          <a:xfrm>
            <a:off x="672974" y="1674766"/>
            <a:ext cx="2697480" cy="17830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8">
            <a:extLst>
              <a:ext uri="{FF2B5EF4-FFF2-40B4-BE49-F238E27FC236}">
                <a16:creationId xmlns:a16="http://schemas.microsoft.com/office/drawing/2014/main" id="{DCE0490B-777D-0993-878A-BC195A1A7CF9}"/>
              </a:ext>
            </a:extLst>
          </p:cNvPr>
          <p:cNvSpPr/>
          <p:nvPr/>
        </p:nvSpPr>
        <p:spPr>
          <a:xfrm>
            <a:off x="672974" y="1674766"/>
            <a:ext cx="2697480" cy="45720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24A35E6-4826-CC97-1C8B-BE151F0813CB}"/>
              </a:ext>
            </a:extLst>
          </p:cNvPr>
          <p:cNvSpPr txBox="1"/>
          <p:nvPr/>
        </p:nvSpPr>
        <p:spPr>
          <a:xfrm>
            <a:off x="810134" y="1720486"/>
            <a:ext cx="246888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국민연금 매도 대기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F2A00F4-F3EC-C3AA-4B4C-5F31B6204331}"/>
              </a:ext>
            </a:extLst>
          </p:cNvPr>
          <p:cNvSpPr txBox="1"/>
          <p:nvPr/>
        </p:nvSpPr>
        <p:spPr>
          <a:xfrm>
            <a:off x="837566" y="2278270"/>
            <a:ext cx="2377440" cy="1143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3A3A3A"/>
                </a:solidFill>
                <a:latin typeface="맑은 고딕"/>
              </a:rPr>
              <a:t>목표비중 상향(14.9→20.8%, 5/28 기금위)에도 지수 반등 시 허용상단(28.8%) 재접근 — KOSPI 8,200선부터 대기 매도 물량 출회 추정.</a:t>
            </a:r>
          </a:p>
        </p:txBody>
      </p:sp>
      <p:sp>
        <p:nvSpPr>
          <p:cNvPr id="44" name="Rectangle 11">
            <a:extLst>
              <a:ext uri="{FF2B5EF4-FFF2-40B4-BE49-F238E27FC236}">
                <a16:creationId xmlns:a16="http://schemas.microsoft.com/office/drawing/2014/main" id="{A32AE51A-A90C-46FE-29F2-002B8D00362A}"/>
              </a:ext>
            </a:extLst>
          </p:cNvPr>
          <p:cNvSpPr/>
          <p:nvPr/>
        </p:nvSpPr>
        <p:spPr>
          <a:xfrm>
            <a:off x="3553334" y="1674766"/>
            <a:ext cx="2697480" cy="17830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12">
            <a:extLst>
              <a:ext uri="{FF2B5EF4-FFF2-40B4-BE49-F238E27FC236}">
                <a16:creationId xmlns:a16="http://schemas.microsoft.com/office/drawing/2014/main" id="{022A618D-CEFC-BEBB-8F08-7F0DD329BF05}"/>
              </a:ext>
            </a:extLst>
          </p:cNvPr>
          <p:cNvSpPr/>
          <p:nvPr/>
        </p:nvSpPr>
        <p:spPr>
          <a:xfrm>
            <a:off x="3553334" y="1674766"/>
            <a:ext cx="2697480" cy="45720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AA60B63-A258-6F61-0816-697EBAC51F13}"/>
              </a:ext>
            </a:extLst>
          </p:cNvPr>
          <p:cNvSpPr txBox="1"/>
          <p:nvPr/>
        </p:nvSpPr>
        <p:spPr>
          <a:xfrm>
            <a:off x="3690494" y="1720486"/>
            <a:ext cx="246888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외국인 리밸런싱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BF9B3A0-5309-9E47-CC19-B1C2532172FE}"/>
              </a:ext>
            </a:extLst>
          </p:cNvPr>
          <p:cNvSpPr txBox="1"/>
          <p:nvPr/>
        </p:nvSpPr>
        <p:spPr>
          <a:xfrm>
            <a:off x="3717926" y="2278270"/>
            <a:ext cx="2377440" cy="1143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dirty="0" err="1">
                <a:solidFill>
                  <a:srgbClr val="3A3A3A"/>
                </a:solidFill>
                <a:latin typeface="맑은 고딕"/>
              </a:rPr>
              <a:t>반도체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3A3A3A"/>
                </a:solidFill>
                <a:latin typeface="맑은 고딕"/>
              </a:rPr>
              <a:t>쏠림에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3A3A3A"/>
                </a:solidFill>
                <a:latin typeface="맑은 고딕"/>
              </a:rPr>
              <a:t>따른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3A3A3A"/>
                </a:solidFill>
                <a:latin typeface="맑은 고딕"/>
              </a:rPr>
              <a:t>편입비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3A3A3A"/>
                </a:solidFill>
                <a:latin typeface="맑은 고딕"/>
              </a:rPr>
              <a:t>조정·차익실현으로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3A3A3A"/>
                </a:solidFill>
                <a:latin typeface="맑은 고딕"/>
              </a:rPr>
              <a:t>상승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3A3A3A"/>
                </a:solidFill>
                <a:latin typeface="맑은 고딕"/>
              </a:rPr>
              <a:t>국면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3A3A3A"/>
                </a:solidFill>
                <a:latin typeface="맑은 고딕"/>
              </a:rPr>
              <a:t>매도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3A3A3A"/>
                </a:solidFill>
                <a:latin typeface="맑은 고딕"/>
              </a:rPr>
              <a:t>우위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 — </a:t>
            </a:r>
            <a:r>
              <a:rPr sz="1150" b="0" dirty="0" err="1">
                <a:solidFill>
                  <a:srgbClr val="3A3A3A"/>
                </a:solidFill>
                <a:latin typeface="맑은 고딕"/>
              </a:rPr>
              <a:t>연초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3A3A3A"/>
                </a:solidFill>
                <a:latin typeface="맑은 고딕"/>
              </a:rPr>
              <a:t>이후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 KOSPI200 159조원 </a:t>
            </a:r>
            <a:r>
              <a:rPr sz="1150" b="0" dirty="0" err="1">
                <a:solidFill>
                  <a:srgbClr val="3A3A3A"/>
                </a:solidFill>
                <a:latin typeface="맑은 고딕"/>
              </a:rPr>
              <a:t>순매도</a:t>
            </a:r>
            <a:r>
              <a:rPr sz="1150" b="0" dirty="0">
                <a:solidFill>
                  <a:srgbClr val="3A3A3A"/>
                </a:solidFill>
                <a:latin typeface="맑은 고딕"/>
              </a:rPr>
              <a:t>.</a:t>
            </a:r>
          </a:p>
        </p:txBody>
      </p:sp>
      <p:sp>
        <p:nvSpPr>
          <p:cNvPr id="52" name="Rectangle 15">
            <a:extLst>
              <a:ext uri="{FF2B5EF4-FFF2-40B4-BE49-F238E27FC236}">
                <a16:creationId xmlns:a16="http://schemas.microsoft.com/office/drawing/2014/main" id="{9E7E2BEE-0DD4-329F-E1B6-6E0EF28000B5}"/>
              </a:ext>
            </a:extLst>
          </p:cNvPr>
          <p:cNvSpPr/>
          <p:nvPr/>
        </p:nvSpPr>
        <p:spPr>
          <a:xfrm>
            <a:off x="6433694" y="1674766"/>
            <a:ext cx="2697480" cy="17830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16">
            <a:extLst>
              <a:ext uri="{FF2B5EF4-FFF2-40B4-BE49-F238E27FC236}">
                <a16:creationId xmlns:a16="http://schemas.microsoft.com/office/drawing/2014/main" id="{3598453F-26CA-11B4-1D57-47B2215CAA9E}"/>
              </a:ext>
            </a:extLst>
          </p:cNvPr>
          <p:cNvSpPr/>
          <p:nvPr/>
        </p:nvSpPr>
        <p:spPr>
          <a:xfrm>
            <a:off x="6433694" y="1674766"/>
            <a:ext cx="2697480" cy="45720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B1505D4-EB47-4C7E-0259-94A451A2453A}"/>
              </a:ext>
            </a:extLst>
          </p:cNvPr>
          <p:cNvSpPr txBox="1"/>
          <p:nvPr/>
        </p:nvSpPr>
        <p:spPr>
          <a:xfrm>
            <a:off x="6570854" y="1720486"/>
            <a:ext cx="246888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개인 순응매도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744D9AB-E86A-8267-24F8-03B1F88B429D}"/>
              </a:ext>
            </a:extLst>
          </p:cNvPr>
          <p:cNvSpPr txBox="1"/>
          <p:nvPr/>
        </p:nvSpPr>
        <p:spPr>
          <a:xfrm>
            <a:off x="6598286" y="2278270"/>
            <a:ext cx="2377440" cy="1143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3A3A3A"/>
                </a:solidFill>
                <a:latin typeface="맑은 고딕"/>
              </a:rPr>
              <a:t>연초 이후 109조원 순매수로 하방을 받쳤으나, 반등 시마다 차익실현(상승 시 매도)으로 전환.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93790" y="567301"/>
            <a:ext cx="8307310" cy="276999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ko-KR" altLang="en-US" sz="2200" b="1" dirty="0">
                <a:solidFill>
                  <a:srgbClr val="222222"/>
                </a:solidFill>
              </a:rPr>
              <a:t>투자포인트 ③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lang="ko-KR" altLang="en-US" sz="2200" b="1" dirty="0">
                <a:solidFill>
                  <a:srgbClr val="222222"/>
                </a:solidFill>
              </a:rPr>
              <a:t>변동성 장세 지속</a:t>
            </a:r>
            <a:r>
              <a:rPr lang="en-US" altLang="ko-KR" sz="2200" b="1" dirty="0">
                <a:solidFill>
                  <a:srgbClr val="222222"/>
                </a:solidFill>
              </a:rPr>
              <a:t>.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하방을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받치는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밸류에이션·실적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1051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latin typeface="+mn-ea"/>
                <a:cs typeface="KoPub돋움체_Pro Bold"/>
              </a:rPr>
              <a:t>12M </a:t>
            </a:r>
            <a:r>
              <a:rPr sz="1400" b="1" i="0" dirty="0" err="1">
                <a:latin typeface="+mn-ea"/>
                <a:cs typeface="KoPub돋움체_Pro Bold"/>
              </a:rPr>
              <a:t>Fwd</a:t>
            </a:r>
            <a:r>
              <a:rPr sz="1400" b="1" i="0" dirty="0">
                <a:latin typeface="+mn-ea"/>
                <a:cs typeface="KoPub돋움체_Pro Bold"/>
              </a:rPr>
              <a:t> PER 5.8배로 '21년 </a:t>
            </a:r>
            <a:r>
              <a:rPr sz="1400" b="1" i="0" dirty="0" err="1">
                <a:latin typeface="+mn-ea"/>
                <a:cs typeface="KoPub돋움체_Pro Bold"/>
              </a:rPr>
              <a:t>이후</a:t>
            </a:r>
            <a:r>
              <a:rPr sz="1400" b="1" i="0" dirty="0">
                <a:latin typeface="+mn-ea"/>
                <a:cs typeface="KoPub돋움체_Pro Bold"/>
              </a:rPr>
              <a:t> </a:t>
            </a:r>
            <a:r>
              <a:rPr sz="1400" b="1" i="0" dirty="0" err="1">
                <a:latin typeface="+mn-ea"/>
                <a:cs typeface="KoPub돋움체_Pro Bold"/>
              </a:rPr>
              <a:t>최저권</a:t>
            </a:r>
            <a:r>
              <a:rPr sz="1400" b="1" i="0" dirty="0">
                <a:latin typeface="+mn-ea"/>
                <a:cs typeface="KoPub돋움체_Pro Bold"/>
              </a:rPr>
              <a:t> — </a:t>
            </a:r>
            <a:r>
              <a:rPr sz="1400" b="1" i="0" dirty="0" err="1">
                <a:latin typeface="+mn-ea"/>
                <a:cs typeface="KoPub돋움체_Pro Bold"/>
              </a:rPr>
              <a:t>이익</a:t>
            </a:r>
            <a:r>
              <a:rPr sz="1400" b="1" i="0" dirty="0">
                <a:latin typeface="+mn-ea"/>
                <a:cs typeface="KoPub돋움체_Pro Bold"/>
              </a:rPr>
              <a:t> </a:t>
            </a:r>
            <a:r>
              <a:rPr sz="1400" b="1" i="0" dirty="0" err="1">
                <a:latin typeface="+mn-ea"/>
                <a:cs typeface="KoPub돋움체_Pro Bold"/>
              </a:rPr>
              <a:t>추정치는</a:t>
            </a:r>
            <a:r>
              <a:rPr sz="1400" b="1" i="0" dirty="0">
                <a:latin typeface="+mn-ea"/>
                <a:cs typeface="KoPub돋움체_Pro Bold"/>
              </a:rPr>
              <a:t> </a:t>
            </a:r>
            <a:r>
              <a:rPr sz="1400" b="1" i="0" dirty="0" err="1">
                <a:latin typeface="+mn-ea"/>
                <a:cs typeface="KoPub돋움체_Pro Bold"/>
              </a:rPr>
              <a:t>사상</a:t>
            </a:r>
            <a:r>
              <a:rPr sz="1400" b="1" i="0" dirty="0">
                <a:latin typeface="+mn-ea"/>
                <a:cs typeface="KoPub돋움체_Pro Bold"/>
              </a:rPr>
              <a:t> </a:t>
            </a:r>
            <a:r>
              <a:rPr sz="1400" b="1" i="0" dirty="0" err="1">
                <a:latin typeface="+mn-ea"/>
                <a:cs typeface="KoPub돋움체_Pro Bold"/>
              </a:rPr>
              <a:t>최고</a:t>
            </a:r>
            <a:r>
              <a:rPr sz="1400" b="1" i="0" dirty="0">
                <a:latin typeface="+mn-ea"/>
                <a:cs typeface="KoPub돋움체_Pro Bold"/>
              </a:rPr>
              <a:t> </a:t>
            </a:r>
            <a:r>
              <a:rPr sz="1400" b="1" i="0" dirty="0" err="1">
                <a:latin typeface="+mn-ea"/>
                <a:cs typeface="KoPub돋움체_Pro Bold"/>
              </a:rPr>
              <a:t>수준으로</a:t>
            </a:r>
            <a:r>
              <a:rPr sz="1400" b="1" i="0" dirty="0">
                <a:latin typeface="+mn-ea"/>
                <a:cs typeface="KoPub돋움체_Pro Bold"/>
              </a:rPr>
              <a:t> </a:t>
            </a:r>
            <a:r>
              <a:rPr sz="1400" b="1" i="0" dirty="0" err="1">
                <a:latin typeface="+mn-ea"/>
                <a:cs typeface="KoPub돋움체_Pro Bold"/>
              </a:rPr>
              <a:t>상향</a:t>
            </a:r>
            <a:r>
              <a:rPr sz="1400" b="1" i="0" dirty="0">
                <a:latin typeface="+mn-ea"/>
                <a:cs typeface="KoPub돋움체_Pro Bold"/>
              </a:rPr>
              <a:t> </a:t>
            </a:r>
            <a:r>
              <a:rPr sz="1400" b="1" i="0" dirty="0" err="1">
                <a:latin typeface="+mn-ea"/>
                <a:cs typeface="KoPub돋움체_Pro Bold"/>
              </a:rPr>
              <a:t>중입니다</a:t>
            </a:r>
            <a:r>
              <a:rPr sz="1400" b="1" i="0" dirty="0">
                <a:latin typeface="+mn-ea"/>
                <a:cs typeface="KoPub돋움체_Pro Bold"/>
              </a:rPr>
              <a:t>.</a:t>
            </a:r>
            <a:endParaRPr lang="en-US" sz="1400" b="1" i="0" dirty="0">
              <a:latin typeface="+mn-ea"/>
              <a:cs typeface="KoPub돋움체_Pro Bold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400" b="1" dirty="0" err="1">
                <a:latin typeface="+mn-ea"/>
              </a:rPr>
              <a:t>하방을</a:t>
            </a:r>
            <a:r>
              <a:rPr lang="ko-KR" altLang="en-US" sz="1400" b="1" dirty="0">
                <a:latin typeface="+mn-ea"/>
              </a:rPr>
              <a:t> 받치는 밸류에이션 및 </a:t>
            </a:r>
            <a:r>
              <a:rPr lang="ko-KR" altLang="en-US" sz="1400" b="1" dirty="0" err="1">
                <a:latin typeface="+mn-ea"/>
              </a:rPr>
              <a:t>실적상향</a:t>
            </a:r>
            <a:r>
              <a:rPr lang="en-US" altLang="ko-KR" sz="1400" b="1" dirty="0">
                <a:latin typeface="+mn-ea"/>
              </a:rPr>
              <a:t>: 12M </a:t>
            </a:r>
            <a:r>
              <a:rPr lang="en-US" altLang="ko-KR" sz="1400" b="1" dirty="0" err="1">
                <a:latin typeface="+mn-ea"/>
              </a:rPr>
              <a:t>Fwd</a:t>
            </a:r>
            <a:r>
              <a:rPr lang="en-US" altLang="ko-KR" sz="1400" b="1" dirty="0">
                <a:latin typeface="+mn-ea"/>
              </a:rPr>
              <a:t> PER 5.8</a:t>
            </a:r>
            <a:r>
              <a:rPr lang="ko-KR" altLang="en-US" sz="1400" b="1" dirty="0">
                <a:latin typeface="+mn-ea"/>
              </a:rPr>
              <a:t>배</a:t>
            </a:r>
            <a:r>
              <a:rPr lang="en-US" altLang="ko-KR" sz="1400" b="1" dirty="0">
                <a:latin typeface="+mn-ea"/>
              </a:rPr>
              <a:t>('21</a:t>
            </a:r>
            <a:r>
              <a:rPr lang="ko-KR" altLang="en-US" sz="1400" b="1" dirty="0">
                <a:latin typeface="+mn-ea"/>
              </a:rPr>
              <a:t>년 이후 </a:t>
            </a:r>
            <a:r>
              <a:rPr lang="ko-KR" altLang="en-US" sz="1400" b="1" dirty="0" err="1">
                <a:latin typeface="+mn-ea"/>
              </a:rPr>
              <a:t>최저권</a:t>
            </a:r>
            <a:r>
              <a:rPr lang="en-US" altLang="ko-KR" sz="1400" b="1" dirty="0">
                <a:latin typeface="+mn-ea"/>
              </a:rPr>
              <a:t>·</a:t>
            </a:r>
            <a:r>
              <a:rPr lang="ko-KR" altLang="en-US" sz="1400" b="1" dirty="0">
                <a:latin typeface="+mn-ea"/>
              </a:rPr>
              <a:t>하위 </a:t>
            </a:r>
            <a:r>
              <a:rPr lang="en-US" altLang="ko-KR" sz="1400" b="1" dirty="0">
                <a:latin typeface="+mn-ea"/>
              </a:rPr>
              <a:t>0.2%)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ko-KR" sz="1400" b="1" dirty="0">
                <a:latin typeface="+mn-ea"/>
              </a:rPr>
              <a:t>FY26/27 </a:t>
            </a:r>
            <a:r>
              <a:rPr lang="ko-KR" altLang="en-US" sz="1400" b="1" dirty="0">
                <a:latin typeface="+mn-ea"/>
              </a:rPr>
              <a:t>이익 컨센서스 추가 상향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 sz="1400" b="1" i="0" dirty="0">
              <a:latin typeface="+mn-ea"/>
              <a:cs typeface="KoPub돋움체_Pro Bold"/>
            </a:endParaRPr>
          </a:p>
        </p:txBody>
      </p:sp>
      <p:pic>
        <p:nvPicPr>
          <p:cNvPr id="5" name="Picture 4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35" y="2653821"/>
            <a:ext cx="9001765" cy="235220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5577840"/>
            <a:ext cx="9052560" cy="457200"/>
          </a:xfrm>
          <a:prstGeom prst="roundRect">
            <a:avLst>
              <a:gd name="adj" fmla="val 12000"/>
            </a:avLst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상방 제한 + 하방 지지 = 등락 반복 → 방향성 투자에 '변동성 수확'을 더한다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3B9FA2-1339-755E-46EE-50E3067C887F}"/>
              </a:ext>
            </a:extLst>
          </p:cNvPr>
          <p:cNvSpPr txBox="1"/>
          <p:nvPr/>
        </p:nvSpPr>
        <p:spPr>
          <a:xfrm>
            <a:off x="502920" y="5134041"/>
            <a:ext cx="8869680" cy="169277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00" dirty="0" err="1">
                <a:solidFill>
                  <a:srgbClr val="888888"/>
                </a:solidFill>
              </a:rPr>
              <a:t>자료</a:t>
            </a:r>
            <a:r>
              <a:rPr sz="800" dirty="0">
                <a:solidFill>
                  <a:srgbClr val="888888"/>
                </a:solidFill>
              </a:rPr>
              <a:t>: </a:t>
            </a:r>
            <a:r>
              <a:rPr sz="800" dirty="0" err="1">
                <a:solidFill>
                  <a:srgbClr val="888888"/>
                </a:solidFill>
              </a:rPr>
              <a:t>FnGuide</a:t>
            </a:r>
            <a:r>
              <a:rPr sz="800" dirty="0">
                <a:solidFill>
                  <a:srgbClr val="888888"/>
                </a:solidFill>
              </a:rPr>
              <a:t> </a:t>
            </a:r>
            <a:r>
              <a:rPr sz="800" dirty="0" err="1">
                <a:solidFill>
                  <a:srgbClr val="888888"/>
                </a:solidFill>
              </a:rPr>
              <a:t>DataGuide</a:t>
            </a:r>
            <a:r>
              <a:rPr sz="800" dirty="0">
                <a:solidFill>
                  <a:srgbClr val="888888"/>
                </a:solidFill>
              </a:rPr>
              <a:t>, IBES </a:t>
            </a:r>
            <a:r>
              <a:rPr sz="800" dirty="0" err="1">
                <a:solidFill>
                  <a:srgbClr val="888888"/>
                </a:solidFill>
              </a:rPr>
              <a:t>컨센서스</a:t>
            </a:r>
            <a:r>
              <a:rPr sz="800" dirty="0">
                <a:solidFill>
                  <a:srgbClr val="888888"/>
                </a:solidFill>
              </a:rPr>
              <a:t> (2026.7.14 </a:t>
            </a:r>
            <a:r>
              <a:rPr sz="800" dirty="0" err="1">
                <a:solidFill>
                  <a:srgbClr val="888888"/>
                </a:solidFill>
              </a:rPr>
              <a:t>기준</a:t>
            </a:r>
            <a:r>
              <a:rPr sz="800" dirty="0">
                <a:solidFill>
                  <a:srgbClr val="888888"/>
                </a:solidFill>
              </a:rPr>
              <a:t>, 1개월 전=6/12)  |  주: PER·PBR </a:t>
            </a:r>
            <a:r>
              <a:rPr sz="800" dirty="0" err="1">
                <a:solidFill>
                  <a:srgbClr val="888888"/>
                </a:solidFill>
              </a:rPr>
              <a:t>평균은</a:t>
            </a:r>
            <a:r>
              <a:rPr sz="800" dirty="0">
                <a:solidFill>
                  <a:srgbClr val="888888"/>
                </a:solidFill>
              </a:rPr>
              <a:t> '21년 </a:t>
            </a:r>
            <a:r>
              <a:rPr sz="800" dirty="0" err="1">
                <a:solidFill>
                  <a:srgbClr val="888888"/>
                </a:solidFill>
              </a:rPr>
              <a:t>이후</a:t>
            </a:r>
            <a:r>
              <a:rPr sz="800" dirty="0">
                <a:solidFill>
                  <a:srgbClr val="888888"/>
                </a:solidFill>
              </a:rPr>
              <a:t> · 2Q26 </a:t>
            </a:r>
            <a:r>
              <a:rPr sz="800" dirty="0" err="1">
                <a:solidFill>
                  <a:srgbClr val="888888"/>
                </a:solidFill>
              </a:rPr>
              <a:t>삼성전자는</a:t>
            </a:r>
            <a:r>
              <a:rPr sz="800" dirty="0">
                <a:solidFill>
                  <a:srgbClr val="888888"/>
                </a:solidFill>
              </a:rPr>
              <a:t> </a:t>
            </a:r>
            <a:r>
              <a:rPr sz="800" dirty="0" err="1">
                <a:solidFill>
                  <a:srgbClr val="888888"/>
                </a:solidFill>
              </a:rPr>
              <a:t>잠정실적</a:t>
            </a:r>
            <a:r>
              <a:rPr sz="800" dirty="0">
                <a:solidFill>
                  <a:srgbClr val="888888"/>
                </a:solidFill>
              </a:rPr>
              <a:t>(7/7), </a:t>
            </a:r>
            <a:r>
              <a:rPr sz="800" dirty="0" err="1">
                <a:solidFill>
                  <a:srgbClr val="888888"/>
                </a:solidFill>
              </a:rPr>
              <a:t>빗금</a:t>
            </a:r>
            <a:r>
              <a:rPr sz="800" dirty="0">
                <a:solidFill>
                  <a:srgbClr val="888888"/>
                </a:solidFill>
              </a:rPr>
              <a:t>=</a:t>
            </a:r>
            <a:r>
              <a:rPr sz="800" dirty="0" err="1">
                <a:solidFill>
                  <a:srgbClr val="888888"/>
                </a:solidFill>
              </a:rPr>
              <a:t>추정치</a:t>
            </a:r>
            <a:endParaRPr sz="800" dirty="0"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ko-KR" altLang="en-US" sz="2200" b="1" dirty="0">
                <a:solidFill>
                  <a:srgbClr val="222222"/>
                </a:solidFill>
              </a:rPr>
              <a:t>투자포인트 ④ 레버리지가 키운 변동성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4883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350" b="1" i="0" dirty="0">
                <a:latin typeface="+mn-lt"/>
                <a:ea typeface="KoPub돋움체_Pro Bold"/>
                <a:cs typeface="KoPub돋움체_Pro Bold"/>
              </a:rPr>
              <a:t>레버리지는 구조적으로 변동성을 키우게 됨</a:t>
            </a:r>
            <a:r>
              <a:rPr lang="en-US" altLang="ko-KR" sz="1350" b="1" i="0" dirty="0">
                <a:latin typeface="+mn-lt"/>
                <a:ea typeface="KoPub돋움체_Pro Bold"/>
                <a:cs typeface="KoPub돋움체_Pro Bold"/>
              </a:rPr>
              <a:t>. </a:t>
            </a:r>
            <a:r>
              <a:rPr lang="ko-KR" altLang="en-US" sz="1400" b="1" dirty="0">
                <a:latin typeface="+mn-lt"/>
                <a:ea typeface="KoPub돋움체_Pro Bold"/>
                <a:cs typeface="KoPub돋움체_Pro Bold"/>
              </a:rPr>
              <a:t> </a:t>
            </a:r>
            <a:endParaRPr lang="en-US" altLang="ko-KR" sz="1400" b="1" dirty="0">
              <a:latin typeface="+mn-lt"/>
              <a:ea typeface="KoPub돋움체_Pro Bold"/>
              <a:cs typeface="KoPub돋움체_Pro Bold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dirty="0" err="1">
                <a:latin typeface="+mn-lt"/>
                <a:ea typeface="KoPub돋움체_Pro Bold"/>
                <a:cs typeface="KoPub돋움체_Pro Bold"/>
              </a:rPr>
              <a:t>레버리지</a:t>
            </a:r>
            <a:r>
              <a:rPr sz="1350" b="1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+mn-lt"/>
                <a:ea typeface="KoPub돋움체_Pro Bold"/>
                <a:cs typeface="KoPub돋움체_Pro Bold"/>
              </a:rPr>
              <a:t>ETF가</a:t>
            </a:r>
            <a:r>
              <a:rPr sz="1350" b="1" i="0" dirty="0">
                <a:latin typeface="+mn-lt"/>
                <a:ea typeface="KoPub돋움체_Pro Bold"/>
                <a:cs typeface="KoPub돋움체_Pro Bold"/>
              </a:rPr>
              <a:t> '</a:t>
            </a:r>
            <a:r>
              <a:rPr sz="1350" b="1" i="0" dirty="0" err="1">
                <a:latin typeface="+mn-lt"/>
                <a:ea typeface="KoPub돋움체_Pro Bold"/>
                <a:cs typeface="KoPub돋움체_Pro Bold"/>
              </a:rPr>
              <a:t>잃는</a:t>
            </a:r>
            <a:r>
              <a:rPr sz="1350" b="1" i="0" dirty="0">
                <a:latin typeface="+mn-lt"/>
                <a:ea typeface="KoPub돋움체_Pro Bold"/>
                <a:cs typeface="KoPub돋움체_Pro Bold"/>
              </a:rPr>
              <a:t>' 그 </a:t>
            </a:r>
            <a:r>
              <a:rPr sz="1350" b="1" i="0" dirty="0" err="1">
                <a:latin typeface="+mn-lt"/>
                <a:ea typeface="KoPub돋움체_Pro Bold"/>
                <a:cs typeface="KoPub돋움체_Pro Bold"/>
              </a:rPr>
              <a:t>변동성을</a:t>
            </a:r>
            <a:r>
              <a:rPr sz="1350" b="1" i="0" dirty="0">
                <a:latin typeface="+mn-lt"/>
                <a:ea typeface="KoPub돋움체_Pro Bold"/>
                <a:cs typeface="KoPub돋움체_Pro Bold"/>
              </a:rPr>
              <a:t> 본 </a:t>
            </a:r>
            <a:r>
              <a:rPr sz="1350" b="1" i="0" dirty="0" err="1">
                <a:latin typeface="+mn-lt"/>
                <a:ea typeface="KoPub돋움체_Pro Bold"/>
                <a:cs typeface="KoPub돋움체_Pro Bold"/>
              </a:rPr>
              <a:t>펀드는</a:t>
            </a:r>
            <a:r>
              <a:rPr sz="1350" b="1" i="0" dirty="0">
                <a:latin typeface="+mn-lt"/>
                <a:ea typeface="KoPub돋움체_Pro Bold"/>
                <a:cs typeface="KoPub돋움체_Pro Bold"/>
              </a:rPr>
              <a:t> '</a:t>
            </a:r>
            <a:r>
              <a:rPr sz="1350" b="1" i="0" dirty="0" err="1">
                <a:latin typeface="+mn-lt"/>
                <a:ea typeface="KoPub돋움체_Pro Bold"/>
                <a:cs typeface="KoPub돋움체_Pro Bold"/>
              </a:rPr>
              <a:t>수익'으로</a:t>
            </a:r>
            <a:r>
              <a:rPr sz="1350" b="1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+mn-lt"/>
                <a:ea typeface="KoPub돋움체_Pro Bold"/>
                <a:cs typeface="KoPub돋움체_Pro Bold"/>
              </a:rPr>
              <a:t>전환</a:t>
            </a:r>
            <a:endParaRPr sz="1350" b="1" i="0" dirty="0">
              <a:latin typeface="+mn-lt"/>
              <a:ea typeface="KoPub돋움체_Pro Bold"/>
              <a:cs typeface="KoPub돋움체_Pro Bold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219776" y="1974049"/>
            <a:ext cx="4160520" cy="1420490"/>
          </a:xfrm>
          <a:prstGeom prst="roundRect">
            <a:avLst>
              <a:gd name="adj" fmla="val 5000"/>
            </a:avLst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 dirty="0" err="1">
                <a:solidFill>
                  <a:srgbClr val="C0392B"/>
                </a:solidFill>
                <a:latin typeface="KoPub돋움체_Pro Bold"/>
                <a:ea typeface="KoPub돋움체_Pro Bold"/>
                <a:cs typeface="KoPub돋움체_Pro Bold"/>
              </a:rPr>
              <a:t>레버리지</a:t>
            </a:r>
            <a:r>
              <a:rPr sz="1200" b="1" i="0" dirty="0">
                <a:solidFill>
                  <a:srgbClr val="C0392B"/>
                </a:solidFill>
                <a:latin typeface="KoPub돋움체_Pro Bold"/>
                <a:ea typeface="KoPub돋움체_Pro Bold"/>
                <a:cs typeface="KoPub돋움체_Pro Bold"/>
              </a:rPr>
              <a:t> ETF — </a:t>
            </a:r>
            <a:r>
              <a:rPr sz="1200" b="1" i="0" dirty="0" err="1">
                <a:solidFill>
                  <a:srgbClr val="C0392B"/>
                </a:solidFill>
                <a:latin typeface="KoPub돋움체_Pro Bold"/>
                <a:ea typeface="KoPub돋움체_Pro Bold"/>
                <a:cs typeface="KoPub돋움체_Pro Bold"/>
              </a:rPr>
              <a:t>변동성에</a:t>
            </a:r>
            <a:r>
              <a:rPr sz="1200" b="1" i="0" dirty="0">
                <a:solidFill>
                  <a:srgbClr val="C0392B"/>
                </a:solidFill>
                <a:latin typeface="KoPub돋움체_Pro Bold"/>
                <a:ea typeface="KoPub돋움체_Pro Bold"/>
                <a:cs typeface="KoPub돋움체_Pro Bold"/>
              </a:rPr>
              <a:t> '</a:t>
            </a:r>
            <a:r>
              <a:rPr sz="1200" b="1" i="0" dirty="0" err="1">
                <a:solidFill>
                  <a:srgbClr val="C0392B"/>
                </a:solidFill>
                <a:latin typeface="KoPub돋움체_Pro Bold"/>
                <a:ea typeface="KoPub돋움체_Pro Bold"/>
                <a:cs typeface="KoPub돋움체_Pro Bold"/>
              </a:rPr>
              <a:t>잠식</a:t>
            </a:r>
            <a:r>
              <a:rPr sz="1200" b="1" i="0" dirty="0">
                <a:solidFill>
                  <a:srgbClr val="C0392B"/>
                </a:solidFill>
                <a:latin typeface="KoPub돋움체_Pro Bold"/>
                <a:ea typeface="KoPub돋움체_Pro Bold"/>
                <a:cs typeface="KoPub돋움체_Pro Bold"/>
              </a:rPr>
              <a:t>'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매일</a:t>
            </a:r>
            <a:r>
              <a:rPr sz="1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고가매수·저가매도</a:t>
            </a:r>
            <a:r>
              <a:rPr sz="1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
(</a:t>
            </a:r>
            <a:r>
              <a:rPr sz="1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추세</a:t>
            </a:r>
            <a:r>
              <a:rPr sz="1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순응</a:t>
            </a:r>
            <a:r>
              <a:rPr sz="1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리밸런싱)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→ </a:t>
            </a:r>
            <a:r>
              <a:rPr sz="1200" b="0" i="0" dirty="0" err="1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변동성이</a:t>
            </a:r>
            <a:r>
              <a:rPr sz="1200" b="0" i="0" dirty="0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클수록</a:t>
            </a:r>
            <a:r>
              <a:rPr sz="1200" b="0" i="0" dirty="0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자산이</a:t>
            </a:r>
            <a:r>
              <a:rPr sz="1200" b="0" i="0" dirty="0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녹는다</a:t>
            </a:r>
            <a:r>
              <a:rPr lang="en-US" sz="1200" b="0" i="0" dirty="0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 (1month</a:t>
            </a:r>
            <a:r>
              <a:rPr lang="ko-KR" altLang="en-US" sz="1200" b="0" i="0" dirty="0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가 조금 </a:t>
            </a:r>
            <a:r>
              <a:rPr lang="ko-KR" altLang="en-US" sz="1200" b="0" i="0" dirty="0" err="1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넘는기간</a:t>
            </a:r>
            <a:r>
              <a:rPr lang="ko-KR" altLang="en-US" sz="1200" b="0" i="0" dirty="0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 동안 </a:t>
            </a:r>
            <a:r>
              <a:rPr lang="en-US" altLang="ko-KR" sz="1200" b="0" i="0" dirty="0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18%</a:t>
            </a:r>
            <a:r>
              <a:rPr lang="ko-KR" altLang="en-US" sz="1200" b="0" i="0" dirty="0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의 변동성 잠식 손실이 나타남</a:t>
            </a:r>
            <a:r>
              <a:rPr lang="en-US" altLang="ko-KR" sz="1200" b="0" i="0" dirty="0">
                <a:solidFill>
                  <a:srgbClr val="C0392B"/>
                </a:solidFill>
                <a:latin typeface="KoPub돋움체_Pro Medium"/>
                <a:ea typeface="KoPub돋움체_Pro Medium"/>
                <a:cs typeface="KoPub돋움체_Pro Medium"/>
              </a:rPr>
              <a:t>)</a:t>
            </a:r>
            <a:endParaRPr sz="1200" b="0" i="0" dirty="0">
              <a:solidFill>
                <a:srgbClr val="C0392B"/>
              </a:solidFill>
              <a:latin typeface="KoPub돋움체_Pro Medium"/>
              <a:ea typeface="KoPub돋움체_Pro Medium"/>
              <a:cs typeface="KoPub돋움체_Pro Medium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170571" y="3751623"/>
            <a:ext cx="4160520" cy="1420489"/>
          </a:xfrm>
          <a:prstGeom prst="roundRect">
            <a:avLst>
              <a:gd name="adj" fmla="val 5000"/>
            </a:avLst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ko-KR" altLang="en-US" sz="12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레버리지의 변동성 확대 구조</a:t>
            </a:r>
            <a:endParaRPr sz="1200" b="1" i="0" dirty="0">
              <a:solidFill>
                <a:srgbClr val="F58220"/>
              </a:solidFill>
              <a:latin typeface="KoPub돋움체_Pro Bold"/>
              <a:ea typeface="KoPub돋움체_Pro Bold"/>
              <a:cs typeface="KoPub돋움체_Pro Bold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주가</a:t>
            </a:r>
            <a:r>
              <a:rPr lang="ko-KR" altLang="en-US" sz="1200" b="1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↑ </a:t>
            </a:r>
            <a:r>
              <a:rPr sz="1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비중</a:t>
            </a:r>
            <a:r>
              <a:rPr sz="1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↑ (</a:t>
            </a:r>
            <a:r>
              <a:rPr lang="ko-KR" altLang="en-US" sz="1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상승시</a:t>
            </a:r>
            <a:r>
              <a:rPr lang="ko-KR" altLang="en-US" sz="1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매수</a:t>
            </a:r>
            <a:r>
              <a:rPr sz="1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)
</a:t>
            </a:r>
            <a:r>
              <a:rPr sz="1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주가</a:t>
            </a:r>
            <a:r>
              <a:rPr lang="ko-KR" altLang="en-US" sz="1200" b="1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↓ </a:t>
            </a:r>
            <a:r>
              <a:rPr sz="1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비중</a:t>
            </a:r>
            <a:r>
              <a:rPr sz="1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↓ (</a:t>
            </a:r>
            <a:r>
              <a:rPr lang="ko-KR" altLang="en-US" sz="1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하락시</a:t>
            </a:r>
            <a:r>
              <a:rPr lang="ko-KR" altLang="en-US" sz="1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매도</a:t>
            </a:r>
            <a:r>
              <a:rPr sz="1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→ </a:t>
            </a:r>
            <a:r>
              <a:rPr lang="en-US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SK</a:t>
            </a:r>
            <a:r>
              <a:rPr lang="ko-KR" altLang="en-US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하이닉스 </a:t>
            </a:r>
            <a:r>
              <a:rPr lang="en-US" altLang="ko-KR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40</a:t>
            </a:r>
            <a:r>
              <a:rPr lang="ko-KR" altLang="en-US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조 </a:t>
            </a:r>
            <a:r>
              <a:rPr lang="ko-KR" altLang="en-US" sz="1200" b="0" i="0" dirty="0" err="1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가정시</a:t>
            </a:r>
            <a:r>
              <a:rPr lang="ko-KR" altLang="en-US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lang="en-US" altLang="ko-KR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10% </a:t>
            </a:r>
            <a:r>
              <a:rPr lang="ko-KR" altLang="en-US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상승시에 편입비를 맞추기 위해 약 </a:t>
            </a:r>
            <a:r>
              <a:rPr lang="en-US" altLang="ko-KR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8</a:t>
            </a:r>
            <a:r>
              <a:rPr lang="ko-KR" altLang="en-US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조 순매수</a:t>
            </a:r>
            <a:r>
              <a:rPr lang="en-US" altLang="ko-KR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, 10% </a:t>
            </a:r>
            <a:r>
              <a:rPr lang="ko-KR" altLang="en-US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하락시에 </a:t>
            </a:r>
            <a:r>
              <a:rPr lang="en-US" altLang="ko-KR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8</a:t>
            </a:r>
            <a:r>
              <a:rPr lang="ko-KR" altLang="en-US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조 순매도</a:t>
            </a:r>
            <a:r>
              <a:rPr lang="en-US" altLang="ko-KR" sz="1200" b="0" i="0" dirty="0">
                <a:solidFill>
                  <a:srgbClr val="1E8E5A"/>
                </a:solidFill>
                <a:latin typeface="KoPub돋움체_Pro Medium"/>
                <a:ea typeface="KoPub돋움체_Pro Medium"/>
                <a:cs typeface="KoPub돋움체_Pro Medium"/>
              </a:rPr>
              <a:t>. </a:t>
            </a:r>
            <a:endParaRPr sz="1200" b="0" i="0" dirty="0">
              <a:solidFill>
                <a:srgbClr val="1E8E5A"/>
              </a:solidFill>
              <a:latin typeface="KoPub돋움체_Pro Medium"/>
              <a:ea typeface="KoPub돋움체_Pro Medium"/>
              <a:cs typeface="KoPub돋움체_Pro Medium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5529197"/>
            <a:ext cx="9052560" cy="502920"/>
          </a:xfrm>
          <a:prstGeom prst="roundRect">
            <a:avLst>
              <a:gd name="adj" fmla="val 12000"/>
            </a:avLst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변동성이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클수록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(=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잠식이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클수록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) 본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펀드의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수익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기회는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오히려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커진다</a:t>
            </a:r>
            <a:endParaRPr sz="1300" b="1" i="0" dirty="0">
              <a:solidFill>
                <a:srgbClr val="F58220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  <p:pic>
        <p:nvPicPr>
          <p:cNvPr id="12" name="Picture 20" descr="lev_rebal_hynix.png">
            <a:extLst>
              <a:ext uri="{FF2B5EF4-FFF2-40B4-BE49-F238E27FC236}">
                <a16:creationId xmlns:a16="http://schemas.microsoft.com/office/drawing/2014/main" id="{30EF6221-CA1D-EB96-D316-1E51C5192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79450"/>
            <a:ext cx="4526280" cy="36484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ko-KR" altLang="en-US" sz="2200" b="1" dirty="0">
                <a:solidFill>
                  <a:srgbClr val="222222"/>
                </a:solidFill>
              </a:rPr>
              <a:t>투자포인트 ④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레버리지가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키운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변동성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773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레버리지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ETF 약 40조원(6/30)이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삼성전자·SK하이닉스와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지수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변동성을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구조적으로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키우고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있습니다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.</a:t>
            </a:r>
            <a:endParaRPr lang="en-US" sz="1400" b="1" i="0" dirty="0">
              <a:latin typeface="KoPub돋움체_Pro Bold"/>
              <a:ea typeface="KoPub돋움체_Pro Bold"/>
              <a:cs typeface="KoPub돋움체_Pro Bold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400" b="1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변동성이 변동성을 부르는 되먹임 </a:t>
            </a:r>
            <a:r>
              <a:rPr lang="en-US" altLang="ko-KR" sz="1400" b="1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— </a:t>
            </a:r>
            <a:r>
              <a:rPr lang="ko-KR" altLang="en-US" sz="1400" b="1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두 종목이 </a:t>
            </a:r>
            <a:r>
              <a:rPr lang="en-US" altLang="ko-KR" sz="1400" b="1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KOSPI200</a:t>
            </a:r>
            <a:r>
              <a:rPr lang="ko-KR" altLang="en-US" sz="1400" b="1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의 </a:t>
            </a:r>
            <a:r>
              <a:rPr lang="en-US" altLang="ko-KR" sz="1400" b="1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65.6% </a:t>
            </a:r>
            <a:r>
              <a:rPr lang="ko-KR" altLang="en-US" sz="1400" b="1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차지</a:t>
            </a:r>
            <a:r>
              <a:rPr lang="ko-KR" altLang="en-US" sz="1400" dirty="0">
                <a:solidFill>
                  <a:srgbClr val="222222"/>
                </a:solidFill>
                <a:latin typeface="KoPub돋움체_Pro Medium"/>
                <a:cs typeface="KoPub돋움체_Pro Medium"/>
              </a:rPr>
              <a:t> </a:t>
            </a:r>
            <a:r>
              <a:rPr lang="en-US" altLang="ko-KR" sz="1400" dirty="0">
                <a:solidFill>
                  <a:srgbClr val="222222"/>
                </a:solidFill>
                <a:latin typeface="KoPub돋움체_Pro Medium"/>
                <a:cs typeface="KoPub돋움체_Pro Medium"/>
              </a:rPr>
              <a:t>(</a:t>
            </a:r>
            <a:r>
              <a:rPr lang="ko-KR" altLang="en-US" sz="1400" dirty="0">
                <a:solidFill>
                  <a:srgbClr val="222222"/>
                </a:solidFill>
                <a:latin typeface="KoPub돋움체_Pro Medium"/>
                <a:cs typeface="KoPub돋움체_Pro Medium"/>
              </a:rPr>
              <a:t>연초 </a:t>
            </a:r>
            <a:r>
              <a:rPr lang="en-US" altLang="ko-KR" sz="1400" dirty="0">
                <a:solidFill>
                  <a:srgbClr val="222222"/>
                </a:solidFill>
                <a:latin typeface="KoPub돋움체_Pro Medium"/>
                <a:cs typeface="KoPub돋움체_Pro Medium"/>
              </a:rPr>
              <a:t>38.7% → 6/30 65.6%, KRX)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 sz="1400" b="1" i="0" dirty="0">
              <a:solidFill>
                <a:srgbClr val="043B7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1791" y="4269850"/>
            <a:ext cx="1965960" cy="1179974"/>
          </a:xfrm>
          <a:prstGeom prst="roundRect">
            <a:avLst>
              <a:gd name="adj" fmla="val 6000"/>
            </a:avLst>
          </a:prstGeom>
          <a:solidFill>
            <a:srgbClr val="043B72"/>
          </a:solidFill>
          <a:ln>
            <a:noFill/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①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지수·종목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흔들림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24326" y="4624339"/>
            <a:ext cx="283464" cy="548640"/>
          </a:xfrm>
          <a:prstGeom prst="rightArrow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907791" y="4269850"/>
            <a:ext cx="1965960" cy="1179974"/>
          </a:xfrm>
          <a:prstGeom prst="roundRect">
            <a:avLst>
              <a:gd name="adj" fmla="val 6000"/>
            </a:avLst>
          </a:prstGeom>
          <a:solidFill>
            <a:srgbClr val="043B72"/>
          </a:solidFill>
          <a:ln>
            <a:noFill/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②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지수의 절반인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두 종목 급등락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910326" y="4624339"/>
            <a:ext cx="283464" cy="548640"/>
          </a:xfrm>
          <a:prstGeom prst="rightArrow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93791" y="4269850"/>
            <a:ext cx="1965960" cy="1179974"/>
          </a:xfrm>
          <a:prstGeom prst="roundRect">
            <a:avLst>
              <a:gd name="adj" fmla="val 6000"/>
            </a:avLst>
          </a:prstGeom>
          <a:solidFill>
            <a:srgbClr val="043B72"/>
          </a:solidFill>
          <a:ln>
            <a:noFill/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③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레버리지 종가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순응매매 확대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96326" y="4624339"/>
            <a:ext cx="283464" cy="548640"/>
          </a:xfrm>
          <a:prstGeom prst="rightArrow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79790" y="4269850"/>
            <a:ext cx="1965960" cy="1179974"/>
          </a:xfrm>
          <a:prstGeom prst="roundRect">
            <a:avLst>
              <a:gd name="adj" fmla="val 6000"/>
            </a:avLst>
          </a:prstGeom>
          <a:solidFill>
            <a:srgbClr val="043B72"/>
          </a:solidFill>
          <a:ln>
            <a:noFill/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④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지수 변동성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재확대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577840"/>
            <a:ext cx="9052560" cy="457200"/>
          </a:xfrm>
          <a:prstGeom prst="roundRect">
            <a:avLst>
              <a:gd name="adj" fmla="val 12000"/>
            </a:avLst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구조적으로 커진 변동성 → 변동성 매매 전략의 '원재료'가 풍부해진다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  <p:pic>
        <p:nvPicPr>
          <p:cNvPr id="19" name="Picture 23" descr="slide5_left_size.png">
            <a:extLst>
              <a:ext uri="{FF2B5EF4-FFF2-40B4-BE49-F238E27FC236}">
                <a16:creationId xmlns:a16="http://schemas.microsoft.com/office/drawing/2014/main" id="{A01DB162-DC4F-D378-9914-A539399A4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1832959"/>
            <a:ext cx="3796318" cy="2334717"/>
          </a:xfrm>
          <a:prstGeom prst="rect">
            <a:avLst/>
          </a:prstGeom>
        </p:spPr>
      </p:pic>
      <p:pic>
        <p:nvPicPr>
          <p:cNvPr id="21" name="Picture 24" descr="slide5_right_pie.png">
            <a:extLst>
              <a:ext uri="{FF2B5EF4-FFF2-40B4-BE49-F238E27FC236}">
                <a16:creationId xmlns:a16="http://schemas.microsoft.com/office/drawing/2014/main" id="{7F40DA46-7187-B4A3-9397-99BC27CE4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1" y="1765832"/>
            <a:ext cx="3796318" cy="23347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ko-KR" altLang="en-US" sz="2200" dirty="0"/>
              <a:t>변동성 </a:t>
            </a:r>
            <a:r>
              <a:rPr lang="ko-KR" altLang="en-US" sz="2200" dirty="0" err="1"/>
              <a:t>하베스트</a:t>
            </a:r>
            <a:r>
              <a:rPr lang="ko-KR" altLang="en-US" sz="2200" dirty="0"/>
              <a:t> </a:t>
            </a:r>
            <a:r>
              <a:rPr sz="2200" b="1" i="0" dirty="0" err="1">
                <a:solidFill>
                  <a:srgbClr val="222222"/>
                </a:solidFill>
                <a:cs typeface="KoPub돋움체_Pro Bold"/>
              </a:rPr>
              <a:t>전략</a:t>
            </a:r>
            <a:endParaRPr sz="2200" b="1" i="0" dirty="0">
              <a:solidFill>
                <a:srgbClr val="222222"/>
              </a:solidFill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7020" y="1024128"/>
            <a:ext cx="9052560" cy="4961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altLang="ko-KR" sz="1400" b="1" dirty="0">
                <a:latin typeface="KoPub돋움체_Pro Bold"/>
                <a:ea typeface="KoPub돋움체_Pro Bold"/>
                <a:cs typeface="KoPub돋움체_Pro Bold"/>
              </a:rPr>
              <a:t>QPMS Vol Trading </a:t>
            </a:r>
            <a:r>
              <a:rPr lang="ko-KR" altLang="en-US" sz="1400" b="1" dirty="0">
                <a:latin typeface="KoPub돋움체_Pro Bold"/>
                <a:ea typeface="KoPub돋움체_Pro Bold"/>
                <a:cs typeface="KoPub돋움체_Pro Bold"/>
              </a:rPr>
              <a:t>시스템을 활용해 만기 목표수익에 도달하도록 편입비율을 계산합니다</a:t>
            </a:r>
            <a:r>
              <a:rPr lang="en-US" altLang="ko-KR" sz="1400" b="1" dirty="0">
                <a:latin typeface="KoPub돋움체_Pro Bold"/>
                <a:ea typeface="KoPub돋움체_Pro Bold"/>
                <a:cs typeface="KoPub돋움체_Pro Bold"/>
              </a:rPr>
              <a:t>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400" b="1" dirty="0">
                <a:latin typeface="KoPub돋움체_Pro Bold"/>
                <a:ea typeface="KoPub돋움체_Pro Bold"/>
                <a:cs typeface="KoPub돋움체_Pro Bold"/>
              </a:rPr>
              <a:t>현재 </a:t>
            </a:r>
            <a:r>
              <a:rPr lang="ko-KR" altLang="en-US" sz="1400" b="1" i="0" dirty="0">
                <a:latin typeface="KoPub돋움체_Pro Bold"/>
                <a:ea typeface="KoPub돋움체_Pro Bold"/>
                <a:cs typeface="KoPub돋움체_Pro Bold"/>
              </a:rPr>
              <a:t>수익</a:t>
            </a:r>
            <a:r>
              <a:rPr lang="en-US" altLang="ko-KR" sz="1400" b="1" i="0" dirty="0">
                <a:latin typeface="KoPub돋움체_Pro Bold"/>
                <a:ea typeface="KoPub돋움체_Pro Bold"/>
                <a:cs typeface="KoPub돋움체_Pro Bold"/>
              </a:rPr>
              <a:t>, </a:t>
            </a:r>
            <a:r>
              <a:rPr lang="ko-KR" altLang="en-US" sz="1400" b="1" i="0" dirty="0">
                <a:latin typeface="KoPub돋움체_Pro Bold"/>
                <a:ea typeface="KoPub돋움체_Pro Bold"/>
                <a:cs typeface="KoPub돋움체_Pro Bold"/>
              </a:rPr>
              <a:t>지수</a:t>
            </a:r>
            <a:r>
              <a:rPr lang="en-US" altLang="ko-KR" sz="1400" b="1" i="0" dirty="0">
                <a:latin typeface="KoPub돋움체_Pro Bold"/>
                <a:ea typeface="KoPub돋움체_Pro Bold"/>
                <a:cs typeface="KoPub돋움체_Pro Bold"/>
              </a:rPr>
              <a:t>, </a:t>
            </a:r>
            <a:r>
              <a:rPr lang="ko-KR" altLang="en-US" sz="1400" b="1" i="0" dirty="0">
                <a:latin typeface="KoPub돋움체_Pro Bold"/>
                <a:ea typeface="KoPub돋움체_Pro Bold"/>
                <a:cs typeface="KoPub돋움체_Pro Bold"/>
              </a:rPr>
              <a:t>만기시점 및 변동성과 같은 시장 상황을 고려하고 </a:t>
            </a:r>
            <a:r>
              <a:rPr lang="ko-KR" altLang="en-US" sz="1400" b="1" dirty="0">
                <a:latin typeface="KoPub돋움체_Pro Bold"/>
                <a:ea typeface="KoPub돋움체_Pro Bold"/>
                <a:cs typeface="KoPub돋움체_Pro Bold"/>
              </a:rPr>
              <a:t>목표 수익에 도달하도록 포트폴리오를 관리합니다</a:t>
            </a:r>
            <a:r>
              <a:rPr lang="en-US" altLang="ko-KR" sz="1400" b="1" dirty="0">
                <a:latin typeface="KoPub돋움체_Pro Bold"/>
                <a:ea typeface="KoPub돋움체_Pro Bold"/>
                <a:cs typeface="KoPub돋움체_Pro Bold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8160" y="2849507"/>
            <a:ext cx="2743200" cy="162253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43B72"/>
            </a:solidFill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56032" rIns="201168" bIns="0" rtlCol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01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 dirty="0" err="1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변동성</a:t>
            </a:r>
            <a:r>
              <a:rPr sz="1400" b="1" i="0" dirty="0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매매</a:t>
            </a:r>
            <a:endParaRPr lang="ko-KR" altLang="en-US" sz="1400" b="1" i="0" dirty="0">
              <a:solidFill>
                <a:srgbClr val="043B72"/>
              </a:solidFill>
              <a:latin typeface="KoPub돋움체_Pro Bold"/>
              <a:ea typeface="KoPub돋움체_Pro Bold"/>
              <a:cs typeface="KoPub돋움체_Pro Bold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20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저가매수</a:t>
            </a:r>
            <a:r>
              <a:rPr lang="en-US" altLang="ko-KR" sz="120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·</a:t>
            </a:r>
            <a:r>
              <a:rPr lang="ko-KR" altLang="en-US" sz="120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고가매도를 반복하여 높아진 변동성을 수익으로 전환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81400" y="2849507"/>
            <a:ext cx="2743200" cy="162253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43B72"/>
            </a:solidFill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56032" rIns="201168" bIns="0" rtlCol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02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 dirty="0" err="1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방향</a:t>
            </a:r>
            <a:r>
              <a:rPr sz="1400" b="1" i="0" dirty="0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투자</a:t>
            </a:r>
            <a:endParaRPr lang="ko-KR" altLang="en-US" sz="1400" b="1" i="0" dirty="0">
              <a:solidFill>
                <a:srgbClr val="043B72"/>
              </a:solidFill>
              <a:latin typeface="KoPub돋움체_Pro Bold"/>
              <a:ea typeface="KoPub돋움체_Pro Bold"/>
              <a:cs typeface="KoPub돋움체_Pro Bold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20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실적 상향으로 상승 여력 유효</a:t>
            </a:r>
            <a:r>
              <a:rPr lang="en-US" altLang="ko-KR" sz="120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20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상승 구간에서 추가 수익 참여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44640" y="2849507"/>
            <a:ext cx="2743200" cy="162253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43B72"/>
            </a:solidFill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56032" rIns="201168" bIns="0" rtlCol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03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lang="en-US" sz="1400" b="1" i="0" dirty="0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QPMS Vol Trading </a:t>
            </a:r>
            <a:r>
              <a:rPr lang="ko-KR" altLang="en-US" sz="1400" b="1" i="0" dirty="0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시스템</a:t>
            </a:r>
            <a:endParaRPr sz="1400" b="1" i="0" dirty="0">
              <a:solidFill>
                <a:srgbClr val="043B72"/>
              </a:solidFill>
              <a:latin typeface="KoPub돋움체_Pro Bold"/>
              <a:ea typeface="KoPub돋움체_Pro Bold"/>
              <a:cs typeface="KoPub돋움체_Pro Bold"/>
            </a:endParaRP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200" dirty="0" err="1">
                <a:solidFill>
                  <a:srgbClr val="222222"/>
                </a:solidFill>
                <a:cs typeface="KoPub돋움체_Pro Medium"/>
              </a:rPr>
              <a:t>미래에셋</a:t>
            </a:r>
            <a:r>
              <a:rPr lang="ko-KR" altLang="en-US" sz="1200" dirty="0">
                <a:solidFill>
                  <a:srgbClr val="222222"/>
                </a:solidFill>
                <a:cs typeface="KoPub돋움체_Pro Medium"/>
              </a:rPr>
              <a:t> </a:t>
            </a:r>
            <a:r>
              <a:rPr lang="en-US" altLang="ko-KR" sz="1200" dirty="0">
                <a:solidFill>
                  <a:srgbClr val="222222"/>
                </a:solidFill>
                <a:cs typeface="KoPub돋움체_Pro Medium"/>
              </a:rPr>
              <a:t>QPMS Vol Trading </a:t>
            </a:r>
            <a:r>
              <a:rPr lang="ko-KR" altLang="en-US" sz="1200" dirty="0">
                <a:solidFill>
                  <a:srgbClr val="222222"/>
                </a:solidFill>
                <a:cs typeface="KoPub돋움체_Pro Medium"/>
              </a:rPr>
              <a:t>시스템으로 규칙 기반</a:t>
            </a:r>
            <a:r>
              <a:rPr lang="en-US" altLang="ko-KR" sz="1200" dirty="0">
                <a:solidFill>
                  <a:srgbClr val="222222"/>
                </a:solidFill>
                <a:cs typeface="KoPub돋움체_Pro Medium"/>
              </a:rPr>
              <a:t>·</a:t>
            </a:r>
            <a:r>
              <a:rPr lang="ko-KR" altLang="en-US" sz="1200" dirty="0">
                <a:solidFill>
                  <a:srgbClr val="222222"/>
                </a:solidFill>
                <a:cs typeface="KoPub돋움체_Pro Medium"/>
              </a:rPr>
              <a:t>검증된 운용</a:t>
            </a:r>
            <a:endParaRPr sz="1200" b="0" i="0" dirty="0">
              <a:solidFill>
                <a:srgbClr val="222222"/>
              </a:solidFill>
              <a:latin typeface="KoPub돋움체_Pro Medium"/>
              <a:ea typeface="KoPub돋움체_Pro Medium"/>
              <a:cs typeface="KoPub돋움체_Pro Medium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5575217"/>
            <a:ext cx="9052560" cy="502920"/>
          </a:xfrm>
          <a:prstGeom prst="roundRect">
            <a:avLst>
              <a:gd name="adj" fmla="val 12000"/>
            </a:avLst>
          </a:prstGeom>
          <a:solidFill>
            <a:srgbClr val="FC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변동성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매매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(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수익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엔진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) +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방향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투자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(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상승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참여</a:t>
            </a:r>
            <a:r>
              <a:rPr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) + </a:t>
            </a:r>
            <a:r>
              <a:rPr lang="en-US" altLang="ko-KR" sz="1300" b="1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QPMS Vol Trading </a:t>
            </a:r>
            <a:r>
              <a:rPr lang="ko-KR" altLang="en-US" sz="1300" b="1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시스템</a:t>
            </a:r>
            <a:endParaRPr sz="1300" b="1" i="0" dirty="0">
              <a:solidFill>
                <a:srgbClr val="F58220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전략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상세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①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변동성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매매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(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저가매수·고가매도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4961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시장이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빠지면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편입을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늘리고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(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저가매수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),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오르면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줄입니다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(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고가매도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).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등락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(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변동성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)을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매매로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수취합니다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.</a:t>
            </a:r>
            <a:endParaRPr lang="en-US" sz="1400" b="1" i="0" dirty="0">
              <a:latin typeface="KoPub돋움체_Pro Bold"/>
              <a:ea typeface="KoPub돋움체_Pro Bold"/>
              <a:cs typeface="KoPub돋움체_Pro Bold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 sz="1400" b="1" i="0" dirty="0">
              <a:latin typeface="KoPub돋움체_Pro Bold"/>
              <a:ea typeface="KoPub돋움체_Pro Bold"/>
              <a:cs typeface="KoPub돋움체_Pro Bold"/>
            </a:endParaRPr>
          </a:p>
        </p:txBody>
      </p:sp>
      <p:pic>
        <p:nvPicPr>
          <p:cNvPr id="5" name="Picture 4" descr="imag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85787"/>
            <a:ext cx="5118180" cy="289587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6820" y="2237695"/>
            <a:ext cx="3766877" cy="3192053"/>
          </a:xfrm>
          <a:prstGeom prst="roundRect">
            <a:avLst>
              <a:gd name="adj" fmla="val 4000"/>
            </a:avLst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01168" rIns="182880" bIns="0" rtlCol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포트폴리오</a:t>
            </a:r>
            <a:r>
              <a:rPr sz="12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내 </a:t>
            </a:r>
            <a:r>
              <a:rPr sz="12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역할</a:t>
            </a:r>
            <a:endParaRPr sz="1200" b="1" i="0" dirty="0">
              <a:solidFill>
                <a:srgbClr val="F58220"/>
              </a:solidFill>
              <a:latin typeface="KoPub돋움체_Pro Bold"/>
              <a:ea typeface="KoPub돋움체_Pro Bold"/>
              <a:cs typeface="KoPub돋움체_Pro Bold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·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정의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: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기초자산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편입비를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조절해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변동성을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수익으로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전환</a:t>
            </a:r>
            <a:endParaRPr sz="1200" b="0" i="0" dirty="0">
              <a:solidFill>
                <a:srgbClr val="FFFFFF"/>
              </a:solidFill>
              <a:latin typeface="KoPub돋움체_Pro Medium"/>
              <a:ea typeface="KoPub돋움체_Pro Medium"/>
              <a:cs typeface="KoPub돋움체_Pro Medium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·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상황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: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변동성이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높은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등락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반복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장세에서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lang="ko-KR" altLang="en-US"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수익 극대화</a:t>
            </a:r>
            <a:endParaRPr sz="1200" b="0" i="0" dirty="0">
              <a:solidFill>
                <a:srgbClr val="FFFFFF"/>
              </a:solidFill>
              <a:latin typeface="KoPub돋움체_Pro Medium"/>
              <a:ea typeface="KoPub돋움체_Pro Medium"/>
              <a:cs typeface="KoPub돋움체_Pro Medium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·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역할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: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펀드의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핵심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수익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엔진</a:t>
            </a:r>
            <a:endParaRPr sz="1200" b="0" i="0" dirty="0">
              <a:solidFill>
                <a:srgbClr val="FFFFFF"/>
              </a:solidFill>
              <a:latin typeface="KoPub돋움체_Pro Medium"/>
              <a:ea typeface="KoPub돋움체_Pro Medium"/>
              <a:cs typeface="KoPub돋움체_Pro Medium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· 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사례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: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레버리지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ETF의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'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고가매수·저가매도'와</a:t>
            </a:r>
            <a:r>
              <a:rPr sz="1200" b="0" i="0" dirty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정반대</a:t>
            </a:r>
            <a:endParaRPr sz="1200" b="0" i="0" dirty="0">
              <a:solidFill>
                <a:srgbClr val="FFFFFF"/>
              </a:solidFill>
              <a:latin typeface="KoPub돋움체_Pro Medium"/>
              <a:ea typeface="KoPub돋움체_Pro Medium"/>
              <a:cs typeface="KoPub돋움체_Pro Mediu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전략 상세 ② 방향 투자 (상승 참여)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21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변동성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매매에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더해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,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상승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방향에도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참여하여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추가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수익을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latin typeface="KoPub돋움체_Pro Bold"/>
                <a:ea typeface="KoPub돋움체_Pro Bold"/>
                <a:cs typeface="KoPub돋움체_Pro Bold"/>
              </a:rPr>
              <a:t>노립니다</a:t>
            </a:r>
            <a:r>
              <a:rPr sz="1400" b="1" i="0" dirty="0">
                <a:latin typeface="KoPub돋움체_Pro Bold"/>
                <a:ea typeface="KoPub돋움체_Pro Bold"/>
                <a:cs typeface="KoPub돋움체_Pro Bold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331720" cy="749808"/>
          </a:xfrm>
          <a:prstGeom prst="roundRect">
            <a:avLst>
              <a:gd name="adj" fmla="val 6000"/>
            </a:avLst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1883664"/>
            <a:ext cx="63093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변동성 매매 위에 순매수(롱) 방향 포지션을 얹어 상승 구간 수익을 함께 취득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70048"/>
            <a:ext cx="2331720" cy="749808"/>
          </a:xfrm>
          <a:prstGeom prst="roundRect">
            <a:avLst>
              <a:gd name="adj" fmla="val 6000"/>
            </a:avLst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활용 상황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724912"/>
            <a:ext cx="63093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실적 컨센서스가 상향되고 밸류에이션이 낮은 국면 — 상승 여력이 유효할 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11296"/>
            <a:ext cx="2331720" cy="749808"/>
          </a:xfrm>
          <a:prstGeom prst="roundRect">
            <a:avLst>
              <a:gd name="adj" fmla="val 6000"/>
            </a:avLst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포트폴리오 내 역할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3566160"/>
            <a:ext cx="63093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'등락은 수확, 방향은 위' — 변동성 매매의 보완 수익원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352544"/>
            <a:ext cx="2331720" cy="749808"/>
          </a:xfrm>
          <a:prstGeom prst="roundRect">
            <a:avLst>
              <a:gd name="adj" fmla="val 6000"/>
            </a:avLst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작동 논리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4407407"/>
            <a:ext cx="63093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하락 시 편입 확대(저가매수)가 곧 상승 참여 비중이 되어 반등을 수취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193792"/>
            <a:ext cx="2331720" cy="749808"/>
          </a:xfrm>
          <a:prstGeom prst="roundRect">
            <a:avLst>
              <a:gd name="adj" fmla="val 6000"/>
            </a:avLst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투자 사례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5248655"/>
            <a:ext cx="63093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dirty="0" err="1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성장변동성펀드</a:t>
            </a:r>
            <a:r>
              <a:rPr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: -40% </a:t>
            </a:r>
            <a:r>
              <a:rPr sz="1250" b="0" i="0" dirty="0" err="1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미도달</a:t>
            </a:r>
            <a:r>
              <a:rPr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50" b="0" i="0" dirty="0" err="1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구간은</a:t>
            </a:r>
            <a:r>
              <a:rPr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50" b="0" i="0" dirty="0" err="1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변동성+상승</a:t>
            </a:r>
            <a:r>
              <a:rPr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50" b="0" i="0" dirty="0" err="1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참여</a:t>
            </a:r>
            <a:r>
              <a:rPr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, </a:t>
            </a:r>
            <a:r>
              <a:rPr sz="1250" b="0" i="0" dirty="0" err="1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도달</a:t>
            </a:r>
            <a:r>
              <a:rPr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 시 </a:t>
            </a:r>
            <a:r>
              <a:rPr sz="1250" b="0" i="0" dirty="0" err="1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주식형과</a:t>
            </a:r>
            <a:r>
              <a:rPr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50" b="0" i="0" dirty="0" err="1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유사</a:t>
            </a:r>
            <a:r>
              <a:rPr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1250" b="0" i="0" dirty="0" err="1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운용</a:t>
            </a:r>
            <a:endParaRPr sz="1250" b="0" i="0" dirty="0">
              <a:solidFill>
                <a:srgbClr val="222222"/>
              </a:solidFill>
              <a:latin typeface="KoPub돋움체_Pro Medium"/>
              <a:ea typeface="KoPub돋움체_Pro Medium"/>
              <a:cs typeface="KoPub돋움체_Pro Medium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수익 구조 ① 성장변동성펀드 (변동성 매매 + 상승 참여)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210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-40%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미도달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구간은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변동성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매매+상승에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참여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, -40%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도달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시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주식형과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유사하게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상승에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집중합니다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.</a:t>
            </a:r>
          </a:p>
        </p:txBody>
      </p:sp>
      <p:pic>
        <p:nvPicPr>
          <p:cNvPr id="5" name="Picture 4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360"/>
            <a:ext cx="4434840" cy="3581986"/>
          </a:xfrm>
          <a:prstGeom prst="rect">
            <a:avLst/>
          </a:prstGeom>
        </p:spPr>
      </p:pic>
      <p:pic>
        <p:nvPicPr>
          <p:cNvPr id="6" name="Picture 5" descr="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737360"/>
            <a:ext cx="4434840" cy="35819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486400"/>
            <a:ext cx="9052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변동성 60% 가정 · 점=시뮬 1회 · 노란선=구간 평균 · 자체 시뮬레이션(매매비용 매수 5bp/매도 30bp·운용오차 포함)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-40%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도달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시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변동성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매매를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멈추고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상승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수취를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위해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주식형과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유사하게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운용됩니다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지수대별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실제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편입비·예상수익률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—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성장변동성펀드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210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dirty="0" err="1">
                <a:latin typeface="+mn-ea"/>
                <a:cs typeface="KoPub돋움체_Pro Bold"/>
              </a:rPr>
              <a:t>리밸런싱일</a:t>
            </a:r>
            <a:r>
              <a:rPr sz="1350" b="1" i="0" dirty="0">
                <a:latin typeface="+mn-ea"/>
                <a:cs typeface="KoPub돋움체_Pro Bold"/>
              </a:rPr>
              <a:t> </a:t>
            </a:r>
            <a:r>
              <a:rPr sz="1350" b="1" i="0" dirty="0" err="1">
                <a:latin typeface="+mn-ea"/>
                <a:cs typeface="KoPub돋움체_Pro Bold"/>
              </a:rPr>
              <a:t>지수</a:t>
            </a:r>
            <a:r>
              <a:rPr sz="1350" b="1" i="0" dirty="0">
                <a:latin typeface="+mn-ea"/>
                <a:cs typeface="KoPub돋움체_Pro Bold"/>
              </a:rPr>
              <a:t>=100 </a:t>
            </a:r>
            <a:r>
              <a:rPr sz="1350" b="1" i="0" dirty="0" err="1">
                <a:latin typeface="+mn-ea"/>
                <a:cs typeface="KoPub돋움체_Pro Bold"/>
              </a:rPr>
              <a:t>기준</a:t>
            </a:r>
            <a:r>
              <a:rPr sz="1350" b="1" i="0" dirty="0">
                <a:latin typeface="+mn-ea"/>
                <a:cs typeface="KoPub돋움체_Pro Bold"/>
              </a:rPr>
              <a:t> · </a:t>
            </a:r>
            <a:r>
              <a:rPr sz="1350" b="1" i="0" dirty="0" err="1">
                <a:latin typeface="+mn-ea"/>
                <a:cs typeface="KoPub돋움체_Pro Bold"/>
              </a:rPr>
              <a:t>잔존만기별</a:t>
            </a:r>
            <a:r>
              <a:rPr sz="1350" b="1" i="0" dirty="0">
                <a:latin typeface="+mn-ea"/>
                <a:cs typeface="KoPub돋움체_Pro Bold"/>
              </a:rPr>
              <a:t> </a:t>
            </a:r>
            <a:r>
              <a:rPr sz="1350" b="1" i="0" dirty="0" err="1">
                <a:latin typeface="+mn-ea"/>
                <a:cs typeface="KoPub돋움체_Pro Bold"/>
              </a:rPr>
              <a:t>편입비와</a:t>
            </a:r>
            <a:r>
              <a:rPr sz="1350" b="1" i="0" dirty="0">
                <a:latin typeface="+mn-ea"/>
                <a:cs typeface="KoPub돋움체_Pro Bold"/>
              </a:rPr>
              <a:t> </a:t>
            </a:r>
            <a:r>
              <a:rPr sz="1350" b="1" i="0" dirty="0" err="1">
                <a:latin typeface="+mn-ea"/>
                <a:cs typeface="KoPub돋움체_Pro Bold"/>
              </a:rPr>
              <a:t>원금</a:t>
            </a:r>
            <a:r>
              <a:rPr sz="1350" b="1" i="0" dirty="0">
                <a:latin typeface="+mn-ea"/>
                <a:cs typeface="KoPub돋움체_Pro Bold"/>
              </a:rPr>
              <a:t> </a:t>
            </a:r>
            <a:r>
              <a:rPr sz="1350" b="1" i="0" dirty="0" err="1">
                <a:latin typeface="+mn-ea"/>
                <a:cs typeface="KoPub돋움체_Pro Bold"/>
              </a:rPr>
              <a:t>대비</a:t>
            </a:r>
            <a:r>
              <a:rPr sz="1350" b="1" i="0" dirty="0">
                <a:latin typeface="+mn-ea"/>
                <a:cs typeface="KoPub돋움체_Pro Bold"/>
              </a:rPr>
              <a:t> </a:t>
            </a:r>
            <a:r>
              <a:rPr sz="1350" b="1" i="0" dirty="0" err="1">
                <a:latin typeface="+mn-ea"/>
                <a:cs typeface="KoPub돋움체_Pro Bold"/>
              </a:rPr>
              <a:t>예상수익률</a:t>
            </a:r>
            <a:r>
              <a:rPr sz="1350" b="1" i="0" dirty="0">
                <a:latin typeface="+mn-ea"/>
                <a:cs typeface="KoPub돋움체_Pro Bold"/>
              </a:rPr>
              <a:t> (</a:t>
            </a:r>
            <a:r>
              <a:rPr sz="1350" b="1" i="0" dirty="0" err="1">
                <a:latin typeface="+mn-ea"/>
                <a:cs typeface="KoPub돋움체_Pro Bold"/>
              </a:rPr>
              <a:t>최대</a:t>
            </a:r>
            <a:r>
              <a:rPr sz="1350" b="1" i="0" dirty="0">
                <a:latin typeface="+mn-ea"/>
                <a:cs typeface="KoPub돋움체_Pro Bold"/>
              </a:rPr>
              <a:t> </a:t>
            </a:r>
            <a:r>
              <a:rPr sz="1350" b="1" i="0" dirty="0" err="1">
                <a:latin typeface="+mn-ea"/>
                <a:cs typeface="KoPub돋움체_Pro Bold"/>
              </a:rPr>
              <a:t>편입비</a:t>
            </a:r>
            <a:r>
              <a:rPr sz="1350" b="1" i="0" dirty="0">
                <a:latin typeface="+mn-ea"/>
                <a:cs typeface="KoPub돋움체_Pro Bold"/>
              </a:rPr>
              <a:t> 180%)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73351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dirty="0" err="1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실제</a:t>
            </a:r>
            <a:r>
              <a:rPr sz="1200" b="1" i="0" dirty="0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200" b="1" i="0" dirty="0" err="1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편입비</a:t>
            </a:r>
            <a:endParaRPr sz="1200" b="1" i="0" dirty="0">
              <a:solidFill>
                <a:srgbClr val="043B7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965960"/>
          <a:ext cx="42062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지수/만기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12개월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9개월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6개월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3개월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만기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140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36%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36%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36%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38%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96%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130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41%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42%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42%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43%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120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47%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48%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49%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47%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99%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110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53%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56%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57%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53%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51%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100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60%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64%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67%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61%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90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68%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73%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79%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77%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80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76%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83%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93%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102%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70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84%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93%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106%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134%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60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82%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86%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91%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96%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74920" y="1673351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예상수익률 (원금 대비 · 15%↑ 음영)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12537795"/>
              </p:ext>
            </p:extLst>
          </p:nvPr>
        </p:nvGraphicFramePr>
        <p:xfrm>
          <a:off x="5074920" y="1965960"/>
          <a:ext cx="42062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지수/만기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12개월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9개월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6개월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3개월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만기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140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+18.8%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+22.8%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+27.2%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+31.5%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+39.9%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130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+15.0%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+18.9%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+23.3%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+27.5%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+29.9%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120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+10.6%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+14.4%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+18.8%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+23.0%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+19.9%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110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+5.6%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+9.2%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+13.5%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+18.0%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+9.9%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100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+0.0%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+3.2%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+7.3%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+12.4%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+9.9%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90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-6.4%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-3.6%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+0.0%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+5.5%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+9.9%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80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-13.5%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-11.5%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-8.6%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-3.3%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+9.9%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70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-21.5%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-20.3%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-18.6%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-15.1%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+9.9%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60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-30.2%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-29.9%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-29.7%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-29.7%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-30.1%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669280"/>
            <a:ext cx="9052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· 변동성 60%·매매비용 매수 5bp/매도 30bp 가정 · 지수 60 도달 시 하방 완충 소멸로 주식형과 유사 운용 · 만기 편입비는 만기 1영업일 전 기준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· 변동성이 변하면 예상 편입비·예상수익률은 달라질 수 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수익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구조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②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안정변동성펀드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773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400" dirty="0">
                <a:latin typeface="+mn-lt"/>
                <a:ea typeface="KoPub돋움체_Pro Bold"/>
                <a:cs typeface="KoPub돋움체_Pro Bold"/>
              </a:rPr>
              <a:t>지수가 크게 하락할수록</a:t>
            </a:r>
            <a:r>
              <a:rPr lang="en-US" altLang="ko-KR" sz="1400" dirty="0">
                <a:latin typeface="+mn-lt"/>
                <a:ea typeface="KoPub돋움체_Pro Bold"/>
                <a:cs typeface="KoPub돋움체_Pro Bold"/>
              </a:rPr>
              <a:t>, </a:t>
            </a:r>
            <a:r>
              <a:rPr lang="ko-KR" altLang="en-US" sz="1400" dirty="0">
                <a:latin typeface="+mn-lt"/>
                <a:ea typeface="KoPub돋움체_Pro Bold"/>
                <a:cs typeface="KoPub돋움체_Pro Bold"/>
              </a:rPr>
              <a:t>저가매수 편입 구조가 손실 폭을 지수보다 완화시킴</a:t>
            </a:r>
            <a:r>
              <a:rPr lang="en-US" altLang="ko-KR" sz="1400" dirty="0">
                <a:latin typeface="+mn-lt"/>
                <a:ea typeface="KoPub돋움체_Pro Bold"/>
                <a:cs typeface="KoPub돋움체_Pro Bold"/>
              </a:rPr>
              <a:t>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400" dirty="0">
                <a:latin typeface="+mn-lt"/>
                <a:ea typeface="KoPub돋움체_Pro Bold"/>
                <a:cs typeface="KoPub돋움체_Pro Bold"/>
              </a:rPr>
              <a:t>지수가 </a:t>
            </a:r>
            <a:r>
              <a:rPr lang="en-US" altLang="ko-KR" sz="1400" dirty="0">
                <a:latin typeface="+mn-lt"/>
                <a:ea typeface="KoPub돋움체_Pro Bold"/>
                <a:cs typeface="KoPub돋움체_Pro Bold"/>
              </a:rPr>
              <a:t>-20%</a:t>
            </a:r>
            <a:r>
              <a:rPr lang="ko-KR" altLang="en-US" sz="1400" dirty="0">
                <a:latin typeface="+mn-lt"/>
                <a:ea typeface="KoPub돋움체_Pro Bold"/>
                <a:cs typeface="KoPub돋움체_Pro Bold"/>
              </a:rPr>
              <a:t> 수준의 하락하더라도 원금 보존을 추구하고 </a:t>
            </a:r>
            <a:endParaRPr lang="en-US" altLang="ko-KR" sz="1400" dirty="0">
              <a:latin typeface="+mn-lt"/>
              <a:ea typeface="KoPub돋움체_Pro Bold"/>
              <a:cs typeface="KoPub돋움체_Pro Bold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i="0" dirty="0" err="1">
                <a:latin typeface="+mn-lt"/>
                <a:ea typeface="KoPub돋움체_Pro Bold"/>
                <a:cs typeface="KoPub돋움체_Pro Bold"/>
              </a:rPr>
              <a:t>보합·상승</a:t>
            </a:r>
            <a:r>
              <a:rPr sz="1400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i="0" dirty="0" err="1">
                <a:latin typeface="+mn-lt"/>
                <a:ea typeface="KoPub돋움체_Pro Bold"/>
                <a:cs typeface="KoPub돋움체_Pro Bold"/>
              </a:rPr>
              <a:t>구간에서</a:t>
            </a:r>
            <a:r>
              <a:rPr sz="1400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i="0" dirty="0" err="1">
                <a:latin typeface="+mn-lt"/>
                <a:ea typeface="KoPub돋움체_Pro Bold"/>
                <a:cs typeface="KoPub돋움체_Pro Bold"/>
              </a:rPr>
              <a:t>변동성</a:t>
            </a:r>
            <a:r>
              <a:rPr sz="1400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i="0" dirty="0" err="1">
                <a:latin typeface="+mn-lt"/>
                <a:ea typeface="KoPub돋움체_Pro Bold"/>
                <a:cs typeface="KoPub돋움체_Pro Bold"/>
              </a:rPr>
              <a:t>매매</a:t>
            </a:r>
            <a:r>
              <a:rPr sz="1400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i="0" dirty="0" err="1">
                <a:latin typeface="+mn-lt"/>
                <a:ea typeface="KoPub돋움체_Pro Bold"/>
                <a:cs typeface="KoPub돋움체_Pro Bold"/>
              </a:rPr>
              <a:t>수익을</a:t>
            </a:r>
            <a:r>
              <a:rPr sz="1400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i="0" dirty="0" err="1">
                <a:latin typeface="+mn-lt"/>
                <a:ea typeface="KoPub돋움체_Pro Bold"/>
                <a:cs typeface="KoPub돋움체_Pro Bold"/>
              </a:rPr>
              <a:t>안정적으로</a:t>
            </a:r>
            <a:r>
              <a:rPr sz="1400" i="0" dirty="0">
                <a:latin typeface="+mn-lt"/>
                <a:ea typeface="KoPub돋움체_Pro Bold"/>
                <a:cs typeface="KoPub돋움체_Pro Bold"/>
              </a:rPr>
              <a:t> </a:t>
            </a:r>
            <a:r>
              <a:rPr sz="1400" i="0" dirty="0" err="1">
                <a:latin typeface="+mn-lt"/>
                <a:ea typeface="KoPub돋움체_Pro Bold"/>
                <a:cs typeface="KoPub돋움체_Pro Bold"/>
              </a:rPr>
              <a:t>확보</a:t>
            </a:r>
            <a:r>
              <a:rPr lang="en-US" sz="1400" i="0" dirty="0">
                <a:latin typeface="+mn-lt"/>
                <a:ea typeface="KoPub돋움체_Pro Bold"/>
                <a:cs typeface="KoPub돋움체_Pro Bold"/>
              </a:rPr>
              <a:t>.</a:t>
            </a:r>
            <a:endParaRPr sz="1400" i="0" dirty="0">
              <a:latin typeface="+mn-lt"/>
              <a:ea typeface="KoPub돋움체_Pro Bold"/>
              <a:cs typeface="KoPub돋움체_Pro 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163056"/>
            <a:ext cx="905256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변동성 60% 가정 · 점=시뮬 1회 . 상기 자료는 이해를 돕기 위한 예시이며, 시뮬레이션은 가정에 따른 것으로 실제 투자내용·성과와 다를 수 있습니다.</a:t>
            </a:r>
          </a:p>
        </p:txBody>
      </p:sp>
      <p:pic>
        <p:nvPicPr>
          <p:cNvPr id="8" name="Picture 7" descr="scat_stable_at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456" y="1886812"/>
            <a:ext cx="6675120" cy="418723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8FB3E-870E-8B8B-E34D-CAB3FE601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1C29C7-2344-F4E6-6823-A78DF130E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지수대별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실제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편입비·예상수익률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— </a:t>
            </a:r>
            <a:r>
              <a:rPr lang="ko-KR" alt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안정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변동성펀드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372E26-A0D7-9937-BE19-A51C62A31BD2}"/>
              </a:ext>
            </a:extLst>
          </p:cNvPr>
          <p:cNvSpPr txBox="1"/>
          <p:nvPr/>
        </p:nvSpPr>
        <p:spPr>
          <a:xfrm>
            <a:off x="502920" y="1024128"/>
            <a:ext cx="9052560" cy="210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dirty="0" err="1">
                <a:latin typeface="+mn-ea"/>
                <a:cs typeface="KoPub돋움체_Pro Bold"/>
              </a:rPr>
              <a:t>리밸런싱일</a:t>
            </a:r>
            <a:r>
              <a:rPr sz="1350" b="1" i="0" dirty="0">
                <a:latin typeface="+mn-ea"/>
                <a:cs typeface="KoPub돋움체_Pro Bold"/>
              </a:rPr>
              <a:t> </a:t>
            </a:r>
            <a:r>
              <a:rPr sz="1350" b="1" i="0" dirty="0" err="1">
                <a:latin typeface="+mn-ea"/>
                <a:cs typeface="KoPub돋움체_Pro Bold"/>
              </a:rPr>
              <a:t>지수</a:t>
            </a:r>
            <a:r>
              <a:rPr sz="1350" b="1" i="0" dirty="0">
                <a:latin typeface="+mn-ea"/>
                <a:cs typeface="KoPub돋움체_Pro Bold"/>
              </a:rPr>
              <a:t>=100 </a:t>
            </a:r>
            <a:r>
              <a:rPr sz="1350" b="1" i="0" dirty="0" err="1">
                <a:latin typeface="+mn-ea"/>
                <a:cs typeface="KoPub돋움체_Pro Bold"/>
              </a:rPr>
              <a:t>기준</a:t>
            </a:r>
            <a:r>
              <a:rPr sz="1350" b="1" i="0" dirty="0">
                <a:latin typeface="+mn-ea"/>
                <a:cs typeface="KoPub돋움체_Pro Bold"/>
              </a:rPr>
              <a:t> · </a:t>
            </a:r>
            <a:r>
              <a:rPr sz="1350" b="1" i="0" dirty="0" err="1">
                <a:latin typeface="+mn-ea"/>
                <a:cs typeface="KoPub돋움체_Pro Bold"/>
              </a:rPr>
              <a:t>잔존만기별</a:t>
            </a:r>
            <a:r>
              <a:rPr sz="1350" b="1" i="0" dirty="0">
                <a:latin typeface="+mn-ea"/>
                <a:cs typeface="KoPub돋움체_Pro Bold"/>
              </a:rPr>
              <a:t> </a:t>
            </a:r>
            <a:r>
              <a:rPr sz="1350" b="1" i="0" dirty="0" err="1">
                <a:latin typeface="+mn-ea"/>
                <a:cs typeface="KoPub돋움체_Pro Bold"/>
              </a:rPr>
              <a:t>편입비와</a:t>
            </a:r>
            <a:r>
              <a:rPr sz="1350" b="1" i="0" dirty="0">
                <a:latin typeface="+mn-ea"/>
                <a:cs typeface="KoPub돋움체_Pro Bold"/>
              </a:rPr>
              <a:t> </a:t>
            </a:r>
            <a:r>
              <a:rPr sz="1350" b="1" i="0" dirty="0" err="1">
                <a:latin typeface="+mn-ea"/>
                <a:cs typeface="KoPub돋움체_Pro Bold"/>
              </a:rPr>
              <a:t>원금</a:t>
            </a:r>
            <a:r>
              <a:rPr sz="1350" b="1" i="0" dirty="0">
                <a:latin typeface="+mn-ea"/>
                <a:cs typeface="KoPub돋움체_Pro Bold"/>
              </a:rPr>
              <a:t> </a:t>
            </a:r>
            <a:r>
              <a:rPr sz="1350" b="1" i="0" dirty="0" err="1">
                <a:latin typeface="+mn-ea"/>
                <a:cs typeface="KoPub돋움체_Pro Bold"/>
              </a:rPr>
              <a:t>대비</a:t>
            </a:r>
            <a:r>
              <a:rPr sz="1350" b="1" i="0" dirty="0">
                <a:latin typeface="+mn-ea"/>
                <a:cs typeface="KoPub돋움체_Pro Bold"/>
              </a:rPr>
              <a:t> </a:t>
            </a:r>
            <a:r>
              <a:rPr sz="1350" b="1" i="0">
                <a:latin typeface="+mn-ea"/>
                <a:cs typeface="KoPub돋움체_Pro Bold"/>
              </a:rPr>
              <a:t>예상수익률</a:t>
            </a:r>
            <a:endParaRPr sz="1350" b="1" i="0" dirty="0">
              <a:latin typeface="+mn-ea"/>
              <a:cs typeface="KoPub돋움체_Pro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B74F29-D460-2C5B-FF6D-C8792877B94C}"/>
              </a:ext>
            </a:extLst>
          </p:cNvPr>
          <p:cNvSpPr txBox="1"/>
          <p:nvPr/>
        </p:nvSpPr>
        <p:spPr>
          <a:xfrm>
            <a:off x="548640" y="1673351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dirty="0" err="1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실제</a:t>
            </a:r>
            <a:r>
              <a:rPr sz="1200" b="1" i="0" dirty="0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200" b="1" i="0" dirty="0" err="1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편입비</a:t>
            </a:r>
            <a:endParaRPr sz="1200" b="1" i="0" dirty="0">
              <a:solidFill>
                <a:srgbClr val="043B7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05C2188-D7E8-E23F-EA89-17CB3055C919}"/>
              </a:ext>
            </a:extLst>
          </p:cNvPr>
          <p:cNvGraphicFramePr>
            <a:graphicFrameLocks noGrp="1"/>
          </p:cNvGraphicFramePr>
          <p:nvPr/>
        </p:nvGraphicFramePr>
        <p:xfrm>
          <a:off x="548640" y="1965960"/>
          <a:ext cx="42062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지수/만기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12개월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9개월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6개월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3개월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만기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140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21%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20%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130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25%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24%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22%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120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29%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29%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28%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25%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110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35%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35%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36%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35%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100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41%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43%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45%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48%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54%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90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48%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52%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56%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63%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80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57%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61%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68%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79%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70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66%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72%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80%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93%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60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76%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83%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91%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C2C1419-0007-675C-5050-0A022D7A3D9D}"/>
              </a:ext>
            </a:extLst>
          </p:cNvPr>
          <p:cNvSpPr txBox="1"/>
          <p:nvPr/>
        </p:nvSpPr>
        <p:spPr>
          <a:xfrm>
            <a:off x="5074920" y="1673351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43B72"/>
                </a:solidFill>
                <a:latin typeface="KoPub돋움체_Pro Bold"/>
                <a:ea typeface="KoPub돋움체_Pro Bold"/>
                <a:cs typeface="KoPub돋움체_Pro Bold"/>
              </a:rPr>
              <a:t>예상수익률 (원금 대비 · 15%↑ 음영)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3D1CBF1-AB6B-21E7-C1F6-384B11F2F812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074920" y="1965960"/>
          <a:ext cx="42062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지수/만기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12개월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9개월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6개월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3개월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만기</a:t>
                      </a:r>
                    </a:p>
                  </a:txBody>
                  <a:tcPr marL="54864" marR="54864" marT="18288" marB="18288" anchor="ctr">
                    <a:solidFill>
                      <a:srgbClr val="F58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140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+11.9%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+15.1%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+18.6%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+22.5%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+25.0%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130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+9.7%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+12.9%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+16.7%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+21.2%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+25.0%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120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+7.0%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+10.2%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+14.1%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+19.1%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+25.0%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110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+3.8%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+7.0%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+10.9%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+16.2%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+25.0%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100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+0.0%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+3.1%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+6.9%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+12.0%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+25.0%</a:t>
                      </a:r>
                    </a:p>
                  </a:txBody>
                  <a:tcPr marL="54864" marR="54864" marT="18288" marB="18288" anchor="ctr">
                    <a:solidFill>
                      <a:srgbClr val="FBDD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90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-4.5%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-1.6%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+1.9%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+6.5%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+14.0%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80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-9.7%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-7.2%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-4.3%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-0.6%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+3.0%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70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-15.8%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-13.9%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-11.7%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-9.3%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-8.0%</a:t>
                      </a:r>
                    </a:p>
                  </a:txBody>
                  <a:tcPr marL="54864" marR="54864" marT="18288" marB="18288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043B72"/>
                          </a:solidFill>
                          <a:latin typeface="KoPub돋움체_Pro Bold"/>
                          <a:ea typeface="KoPub돋움체_Pro Bold"/>
                          <a:cs typeface="KoPub돋움체_Pro Bold"/>
                        </a:rPr>
                        <a:t>60</a:t>
                      </a:r>
                    </a:p>
                  </a:txBody>
                  <a:tcPr marL="54864" marR="54864" marT="18288" marB="18288" anchor="ctr"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-22.9%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-21.6%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-20.3%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-19.1%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 dirty="0">
                          <a:solidFill>
                            <a:schemeClr val="tx1"/>
                          </a:solidFill>
                          <a:latin typeface="KoPub돋움체_Pro Medium"/>
                          <a:ea typeface="KoPub돋움체_Pro Medium"/>
                          <a:cs typeface="KoPub돋움체_Pro Medium"/>
                        </a:rPr>
                        <a:t>-19.0%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F87FA24-EFEE-406F-1AAB-596537B9359C}"/>
              </a:ext>
            </a:extLst>
          </p:cNvPr>
          <p:cNvSpPr txBox="1"/>
          <p:nvPr/>
        </p:nvSpPr>
        <p:spPr>
          <a:xfrm>
            <a:off x="548640" y="5669280"/>
            <a:ext cx="9052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· 변동성 60%·매매비용 매수 5bp/매도 30bp 가정  · ATM 풋매도 복제(참여율 110%·최대 편입비 100%) · 만기 편입비는 만기 1영업일 전 기준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· 변동성이 변하면 예상 편입비·예상수익률은 달라질 수 있습니다.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02F277-88F3-4D75-8574-D138AFD271E6}"/>
              </a:ext>
            </a:extLst>
          </p:cNvPr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44675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목표배당형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구조</a:t>
            </a:r>
            <a:r>
              <a:rPr lang="ko-KR" alt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lang="en-US" altLang="ko-KR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— </a:t>
            </a:r>
            <a:r>
              <a:rPr lang="ko-KR" altLang="en-US" sz="2200" b="1" dirty="0">
                <a:solidFill>
                  <a:srgbClr val="222222"/>
                </a:solidFill>
                <a:latin typeface="KoPub돋움체_Pro Bold"/>
                <a:ea typeface="KoPub돋움체_Pro Bold"/>
              </a:rPr>
              <a:t>목표 </a:t>
            </a:r>
            <a:r>
              <a:rPr lang="ko-KR" alt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달성 시 분배 후 재운용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4961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i="0" dirty="0" err="1">
                <a:latin typeface="+mn-ea"/>
                <a:cs typeface="KoPub돋움체_Pro Bold"/>
              </a:rPr>
              <a:t>목표수익률</a:t>
            </a:r>
            <a:r>
              <a:rPr sz="1400" i="0" dirty="0">
                <a:latin typeface="+mn-ea"/>
                <a:cs typeface="KoPub돋움체_Pro Bold"/>
              </a:rPr>
              <a:t> </a:t>
            </a:r>
            <a:r>
              <a:rPr sz="1400" i="0" dirty="0" err="1">
                <a:latin typeface="+mn-ea"/>
                <a:cs typeface="KoPub돋움체_Pro Bold"/>
              </a:rPr>
              <a:t>도달</a:t>
            </a:r>
            <a:r>
              <a:rPr sz="1400" i="0" dirty="0">
                <a:latin typeface="+mn-ea"/>
                <a:cs typeface="KoPub돋움체_Pro Bold"/>
              </a:rPr>
              <a:t> 시 </a:t>
            </a:r>
            <a:r>
              <a:rPr sz="1400" i="0" dirty="0" err="1">
                <a:latin typeface="+mn-ea"/>
                <a:cs typeface="KoPub돋움체_Pro Bold"/>
              </a:rPr>
              <a:t>수익을</a:t>
            </a:r>
            <a:r>
              <a:rPr sz="1400" i="0" dirty="0">
                <a:latin typeface="+mn-ea"/>
                <a:cs typeface="KoPub돋움체_Pro Bold"/>
              </a:rPr>
              <a:t> </a:t>
            </a:r>
            <a:r>
              <a:rPr sz="1400" i="0" dirty="0" err="1">
                <a:latin typeface="+mn-ea"/>
                <a:cs typeface="KoPub돋움체_Pro Bold"/>
              </a:rPr>
              <a:t>분배하고</a:t>
            </a:r>
            <a:r>
              <a:rPr sz="1400" i="0" dirty="0">
                <a:latin typeface="+mn-ea"/>
                <a:cs typeface="KoPub돋움체_Pro Bold"/>
              </a:rPr>
              <a:t> </a:t>
            </a:r>
            <a:r>
              <a:rPr sz="1400" i="0" dirty="0" err="1">
                <a:latin typeface="+mn-ea"/>
                <a:cs typeface="KoPub돋움체_Pro Bold"/>
              </a:rPr>
              <a:t>원금만</a:t>
            </a:r>
            <a:r>
              <a:rPr sz="1400" i="0" dirty="0">
                <a:latin typeface="+mn-ea"/>
                <a:cs typeface="KoPub돋움체_Pro Bold"/>
              </a:rPr>
              <a:t> </a:t>
            </a:r>
            <a:r>
              <a:rPr sz="1400" i="0" dirty="0" err="1">
                <a:latin typeface="+mn-ea"/>
                <a:cs typeface="KoPub돋움체_Pro Bold"/>
              </a:rPr>
              <a:t>남겨</a:t>
            </a:r>
            <a:r>
              <a:rPr sz="1400" i="0" dirty="0">
                <a:latin typeface="+mn-ea"/>
                <a:cs typeface="KoPub돋움체_Pro Bold"/>
              </a:rPr>
              <a:t> </a:t>
            </a:r>
            <a:r>
              <a:rPr sz="1400" i="0" dirty="0" err="1">
                <a:latin typeface="+mn-ea"/>
                <a:cs typeface="KoPub돋움체_Pro Bold"/>
              </a:rPr>
              <a:t>다시</a:t>
            </a:r>
            <a:r>
              <a:rPr sz="1400" i="0" dirty="0">
                <a:latin typeface="+mn-ea"/>
                <a:cs typeface="KoPub돋움체_Pro Bold"/>
              </a:rPr>
              <a:t> </a:t>
            </a:r>
            <a:r>
              <a:rPr sz="1400" i="0" dirty="0" err="1">
                <a:latin typeface="+mn-ea"/>
                <a:cs typeface="KoPub돋움체_Pro Bold"/>
              </a:rPr>
              <a:t>운용</a:t>
            </a:r>
            <a:r>
              <a:rPr sz="1400" i="0" dirty="0">
                <a:latin typeface="+mn-ea"/>
                <a:cs typeface="KoPub돋움체_Pro Bold"/>
              </a:rPr>
              <a:t> — '</a:t>
            </a:r>
            <a:r>
              <a:rPr sz="1400" i="0" dirty="0" err="1">
                <a:latin typeface="+mn-ea"/>
                <a:cs typeface="KoPub돋움체_Pro Bold"/>
              </a:rPr>
              <a:t>수익은</a:t>
            </a:r>
            <a:r>
              <a:rPr sz="1400" i="0" dirty="0">
                <a:latin typeface="+mn-ea"/>
                <a:cs typeface="KoPub돋움체_Pro Bold"/>
              </a:rPr>
              <a:t> </a:t>
            </a:r>
            <a:r>
              <a:rPr sz="1400" i="0" dirty="0" err="1">
                <a:latin typeface="+mn-ea"/>
                <a:cs typeface="KoPub돋움체_Pro Bold"/>
              </a:rPr>
              <a:t>챙기고</a:t>
            </a:r>
            <a:r>
              <a:rPr sz="1400" i="0" dirty="0">
                <a:latin typeface="+mn-ea"/>
                <a:cs typeface="KoPub돋움체_Pro Bold"/>
              </a:rPr>
              <a:t>, </a:t>
            </a:r>
            <a:r>
              <a:rPr sz="1400" i="0" dirty="0" err="1">
                <a:latin typeface="+mn-ea"/>
                <a:cs typeface="KoPub돋움체_Pro Bold"/>
              </a:rPr>
              <a:t>원금은</a:t>
            </a:r>
            <a:r>
              <a:rPr sz="1400" i="0" dirty="0">
                <a:latin typeface="+mn-ea"/>
                <a:cs typeface="KoPub돋움체_Pro Bold"/>
              </a:rPr>
              <a:t> </a:t>
            </a:r>
            <a:r>
              <a:rPr sz="1400" i="0" dirty="0" err="1">
                <a:latin typeface="+mn-ea"/>
                <a:cs typeface="KoPub돋움체_Pro Bold"/>
              </a:rPr>
              <a:t>굴린다</a:t>
            </a:r>
            <a:r>
              <a:rPr sz="1400" i="0" dirty="0">
                <a:latin typeface="+mn-ea"/>
                <a:cs typeface="KoPub돋움체_Pro Bold"/>
              </a:rPr>
              <a:t>'.</a:t>
            </a:r>
            <a:endParaRPr lang="en-US" sz="1400" i="0" dirty="0">
              <a:latin typeface="+mn-ea"/>
              <a:cs typeface="KoPub돋움체_Pro Bold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400" dirty="0">
                <a:solidFill>
                  <a:srgbClr val="222222"/>
                </a:solidFill>
                <a:latin typeface="+mn-ea"/>
                <a:cs typeface="KoPub돋움체_Pro Medium"/>
              </a:rPr>
              <a:t>변동성 장세에 지친 투자자에게 안정적 현금흐름을 제공하는 </a:t>
            </a:r>
            <a:r>
              <a:rPr lang="ko-KR" altLang="en-US" sz="1400" dirty="0" err="1">
                <a:solidFill>
                  <a:srgbClr val="222222"/>
                </a:solidFill>
                <a:latin typeface="+mn-ea"/>
                <a:cs typeface="KoPub돋움체_Pro Medium"/>
              </a:rPr>
              <a:t>오아시스같은</a:t>
            </a:r>
            <a:r>
              <a:rPr lang="ko-KR" altLang="en-US" sz="1400" dirty="0">
                <a:solidFill>
                  <a:srgbClr val="222222"/>
                </a:solidFill>
                <a:latin typeface="+mn-ea"/>
                <a:cs typeface="KoPub돋움체_Pro Medium"/>
              </a:rPr>
              <a:t> 전략입니다</a:t>
            </a:r>
            <a:r>
              <a:rPr lang="en-US" altLang="ko-KR" sz="1400" dirty="0">
                <a:solidFill>
                  <a:srgbClr val="222222"/>
                </a:solidFill>
                <a:latin typeface="+mn-ea"/>
                <a:cs typeface="KoPub돋움체_Pro Medium"/>
              </a:rPr>
              <a:t>.</a:t>
            </a:r>
            <a:endParaRPr sz="1400" i="0" dirty="0">
              <a:latin typeface="+mn-ea"/>
              <a:cs typeface="KoPub돋움체_Pro Bold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2606040" cy="1737360"/>
          </a:xfrm>
          <a:prstGeom prst="roundRect">
            <a:avLst>
              <a:gd name="adj" fmla="val 5000"/>
            </a:avLst>
          </a:prstGeom>
          <a:solidFill>
            <a:srgbClr val="043B72"/>
          </a:solidFill>
          <a:ln>
            <a:noFill/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운용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변동성 매매 + 방향 투자로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목표수익률(연 15%)을 추구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91839" y="2697479"/>
            <a:ext cx="411480" cy="502920"/>
          </a:xfrm>
          <a:prstGeom prst="rightArrow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749040" y="2103120"/>
            <a:ext cx="2606040" cy="1737360"/>
          </a:xfrm>
          <a:prstGeom prst="roundRect">
            <a:avLst>
              <a:gd name="adj" fmla="val 5000"/>
            </a:avLst>
          </a:prstGeom>
          <a:solidFill>
            <a:srgbClr val="F58220"/>
          </a:solidFill>
          <a:ln>
            <a:noFill/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목표 달성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누적 수익률 15% 도달 시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수익 부분을 투자자에게 분배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400800" y="2697479"/>
            <a:ext cx="411480" cy="502920"/>
          </a:xfrm>
          <a:prstGeom prst="rightArrow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0" y="2103120"/>
            <a:ext cx="2606040" cy="1737360"/>
          </a:xfrm>
          <a:prstGeom prst="roundRect">
            <a:avLst>
              <a:gd name="adj" fmla="val 5000"/>
            </a:avLst>
          </a:prstGeom>
          <a:solidFill>
            <a:srgbClr val="043B72"/>
          </a:solidFill>
          <a:ln>
            <a:noFill/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KoPub돋움체_Pro Bold"/>
                <a:ea typeface="KoPub돋움체_Pro Bold"/>
                <a:cs typeface="KoPub돋움체_Pro Bold"/>
              </a:rPr>
              <a:t>재운용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원금만 남겨 다음 사이클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KoPub돋움체_Pro Medium"/>
                <a:ea typeface="KoPub돋움체_Pro Medium"/>
                <a:cs typeface="KoPub돋움체_Pro Medium"/>
              </a:rPr>
              <a:t>재운용 — 반복 수익 실현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상기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자료는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이해를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돕기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위한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예시이며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,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시뮬레이션은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가정에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따른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것으로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실제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투자내용·성과와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다를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수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있습니다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별첨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QPMS Vol Trading </a:t>
            </a:r>
            <a:r>
              <a:rPr lang="ko-KR" alt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시스템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운용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210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규칙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기반의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리밸런싱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로직을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lang="en-US" sz="1350" b="1" i="0" dirty="0">
                <a:latin typeface="KoPub돋움체_Pro Bold"/>
                <a:ea typeface="KoPub돋움체_Pro Bold"/>
                <a:cs typeface="KoPub돋움체_Pro Bold"/>
              </a:rPr>
              <a:t>QPMS Vol Trading </a:t>
            </a:r>
            <a:r>
              <a:rPr lang="ko-KR" altLang="en-US" sz="1350" b="1" i="0" dirty="0">
                <a:latin typeface="KoPub돋움체_Pro Bold"/>
                <a:ea typeface="KoPub돋움체_Pro Bold"/>
                <a:cs typeface="KoPub돋움체_Pro Bold"/>
              </a:rPr>
              <a:t>시스템에서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lang="ko-KR" altLang="en-US" sz="1350" b="1" i="0" dirty="0">
                <a:latin typeface="KoPub돋움체_Pro Bold"/>
                <a:ea typeface="KoPub돋움체_Pro Bold"/>
                <a:cs typeface="KoPub돋움체_Pro Bold"/>
              </a:rPr>
              <a:t>연산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합니다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상기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자료는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이해를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돕기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위한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예시이며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,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시뮬레이션은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가정에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따른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것으로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실제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투자내용·성과와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다를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수 </a:t>
            </a:r>
            <a:r>
              <a:rPr sz="80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있습니다</a:t>
            </a: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A201C8A-55AB-5D48-9EF0-33B114A6F9F4}"/>
              </a:ext>
            </a:extLst>
          </p:cNvPr>
          <p:cNvSpPr/>
          <p:nvPr/>
        </p:nvSpPr>
        <p:spPr>
          <a:xfrm>
            <a:off x="6138250" y="2471596"/>
            <a:ext cx="3508671" cy="3106243"/>
          </a:xfrm>
          <a:prstGeom prst="roundRect">
            <a:avLst>
              <a:gd name="adj" fmla="val 4000"/>
            </a:avLst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01168" rIns="182880" bIns="0" rtlCol="0" anchor="t"/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QPMS Vol Trading </a:t>
            </a:r>
            <a:r>
              <a:rPr lang="ko-KR" altLang="en-US"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시스템</a:t>
            </a:r>
            <a:endParaRPr sz="1300" b="1" dirty="0">
              <a:solidFill>
                <a:srgbClr val="F58220"/>
              </a:solidFill>
              <a:latin typeface="KoPub돋움체_Pro Bold"/>
              <a:ea typeface="KoPub돋움체_Pro Bold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lang="ko-KR" altLang="en-US" sz="1350" b="1" dirty="0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일별 </a:t>
            </a:r>
            <a:r>
              <a:rPr lang="ko-KR" altLang="en-US" sz="1350" b="1" dirty="0" err="1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리밸런싱</a:t>
            </a:r>
            <a:r>
              <a:rPr lang="ko-KR" altLang="en-US" sz="1350" b="1" dirty="0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  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실시간으로 목표 편입비를 </a:t>
            </a:r>
            <a:r>
              <a:rPr lang="ko-KR" altLang="en-US" sz="1200" dirty="0" err="1">
                <a:solidFill>
                  <a:schemeClr val="bg1"/>
                </a:solidFill>
                <a:cs typeface="KoPub돋움체_Pro Medium"/>
              </a:rPr>
              <a:t>재산출</a:t>
            </a:r>
            <a:r>
              <a:rPr lang="en-US" altLang="ko-KR" sz="1200" dirty="0">
                <a:solidFill>
                  <a:schemeClr val="bg1"/>
                </a:solidFill>
                <a:cs typeface="KoPub돋움체_Pro Medium"/>
              </a:rPr>
              <a:t>.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 자의적 판단 배제</a:t>
            </a:r>
            <a:r>
              <a:rPr lang="en-US" altLang="ko-KR" sz="1200" dirty="0">
                <a:solidFill>
                  <a:schemeClr val="bg1"/>
                </a:solidFill>
                <a:cs typeface="KoPub돋움체_Pro Medium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규칙대로 집행</a:t>
            </a:r>
            <a:r>
              <a:rPr lang="en-US" altLang="ko-KR" sz="1200" dirty="0">
                <a:solidFill>
                  <a:schemeClr val="bg1"/>
                </a:solidFill>
                <a:cs typeface="KoPub돋움체_Pro Medium"/>
              </a:rPr>
              <a:t>. 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일별 종가기준 목표 </a:t>
            </a:r>
            <a:r>
              <a:rPr lang="ko-KR" altLang="en-US" sz="1200" dirty="0" err="1">
                <a:solidFill>
                  <a:schemeClr val="bg1"/>
                </a:solidFill>
                <a:cs typeface="KoPub돋움체_Pro Medium"/>
              </a:rPr>
              <a:t>편입비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 매칭</a:t>
            </a:r>
            <a:endParaRPr lang="en-US" altLang="ko-KR" sz="1200" dirty="0">
              <a:solidFill>
                <a:schemeClr val="bg1"/>
              </a:solidFill>
              <a:cs typeface="KoPub돋움체_Pro Medium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endParaRPr lang="ko-KR" altLang="en-US" sz="1200" dirty="0">
              <a:solidFill>
                <a:schemeClr val="bg1"/>
              </a:solidFill>
              <a:cs typeface="KoPub돋움체_Pro Medium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350" b="1" dirty="0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저가매수</a:t>
            </a:r>
            <a:r>
              <a:rPr lang="en-US" altLang="ko-KR" sz="1350" b="1" dirty="0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·</a:t>
            </a:r>
            <a:r>
              <a:rPr lang="ko-KR" altLang="en-US" sz="1350" b="1" dirty="0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고가매도 규칙  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지수 하락 시 </a:t>
            </a:r>
            <a:r>
              <a:rPr lang="ko-KR" altLang="en-US" sz="1200" dirty="0" err="1">
                <a:solidFill>
                  <a:schemeClr val="bg1"/>
                </a:solidFill>
                <a:cs typeface="KoPub돋움체_Pro Medium"/>
              </a:rPr>
              <a:t>편입비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 확대</a:t>
            </a:r>
            <a:r>
              <a:rPr lang="en-US" altLang="ko-KR" sz="1200" dirty="0">
                <a:solidFill>
                  <a:schemeClr val="bg1"/>
                </a:solidFill>
                <a:cs typeface="KoPub돋움체_Pro Medium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상승 시 축소합니다</a:t>
            </a:r>
            <a:r>
              <a:rPr lang="en-US" altLang="ko-KR" sz="1200" dirty="0">
                <a:solidFill>
                  <a:schemeClr val="bg1"/>
                </a:solidFill>
                <a:cs typeface="KoPub돋움체_Pro Medium"/>
              </a:rPr>
              <a:t>. </a:t>
            </a:r>
            <a:endParaRPr lang="en-US" sz="1200" b="0" i="0" dirty="0">
              <a:solidFill>
                <a:srgbClr val="FFFFFF"/>
              </a:solidFill>
              <a:latin typeface="KoPub돋움체_Pro Medium"/>
              <a:ea typeface="KoPub돋움체_Pro Medium"/>
              <a:cs typeface="KoPub돋움체_Pro Medium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endParaRPr sz="1200" b="0" i="0" dirty="0">
              <a:solidFill>
                <a:srgbClr val="FFFFFF"/>
              </a:solidFill>
              <a:latin typeface="KoPub돋움체_Pro Medium"/>
              <a:ea typeface="KoPub돋움체_Pro Medium"/>
              <a:cs typeface="KoPub돋움체_Pro Medium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350" b="1" dirty="0" err="1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급등장</a:t>
            </a:r>
            <a:r>
              <a:rPr lang="ko-KR" altLang="en-US" sz="1350" b="1" dirty="0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 청산 규칙  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지수가 </a:t>
            </a:r>
            <a:r>
              <a:rPr lang="en-US" altLang="ko-KR" sz="1200" dirty="0">
                <a:solidFill>
                  <a:schemeClr val="bg1"/>
                </a:solidFill>
                <a:cs typeface="KoPub돋움체_Pro Medium"/>
              </a:rPr>
              <a:t>+10%·+20% 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상승하면 편입비를 단계적으로 축소해 이익을 확정</a:t>
            </a:r>
            <a:endParaRPr lang="en-US" altLang="ko-KR" sz="1200" dirty="0">
              <a:solidFill>
                <a:schemeClr val="bg1"/>
              </a:solidFill>
              <a:cs typeface="KoPub돋움체_Pro Medium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endParaRPr lang="ko-KR" altLang="en-US" sz="1200" dirty="0">
              <a:solidFill>
                <a:schemeClr val="bg1"/>
              </a:solidFill>
              <a:cs typeface="KoPub돋움체_Pro Medium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endParaRPr lang="ko-KR" altLang="en-US" sz="1200" dirty="0">
              <a:solidFill>
                <a:schemeClr val="bg1"/>
              </a:solidFill>
              <a:cs typeface="KoPub돋움체_Pro Medium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4E58051-CF24-79E9-922E-8EBD73830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90" y="2471596"/>
            <a:ext cx="5435927" cy="310624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93790" y="567301"/>
            <a:ext cx="7276560" cy="276999"/>
          </a:xfrm>
        </p:spPr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별첨 </a:t>
            </a:r>
            <a:r>
              <a:rPr lang="en-US" altLang="ko-KR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QPMS </a:t>
            </a:r>
            <a:r>
              <a:rPr lang="en-US" altLang="ko-KR" sz="2200" b="1" dirty="0">
                <a:solidFill>
                  <a:srgbClr val="222222"/>
                </a:solidFill>
                <a:latin typeface="KoPub돋움체_Pro Bold"/>
                <a:ea typeface="KoPub돋움체_Pro Bold"/>
              </a:rPr>
              <a:t>Vol Trading </a:t>
            </a:r>
            <a:r>
              <a:rPr lang="ko-KR" altLang="en-US" sz="2200" b="1" dirty="0">
                <a:solidFill>
                  <a:srgbClr val="222222"/>
                </a:solidFill>
                <a:latin typeface="KoPub돋움체_Pro Bold"/>
                <a:ea typeface="KoPub돋움체_Pro Bold"/>
              </a:rPr>
              <a:t>시스템운용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—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성장</a:t>
            </a:r>
            <a:r>
              <a:rPr 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변동성</a:t>
            </a:r>
            <a:r>
              <a:rPr 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lang="ko-KR" altLang="en-US"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하베스트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210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변동성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매매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포지션과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롱(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방향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)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포지션의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비중을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장세에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따라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탄력적으로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조절합니다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1E4E23-DEA2-918E-E2A0-AE0EA1D5A557}"/>
              </a:ext>
            </a:extLst>
          </p:cNvPr>
          <p:cNvSpPr txBox="1"/>
          <p:nvPr/>
        </p:nvSpPr>
        <p:spPr>
          <a:xfrm>
            <a:off x="548640" y="6173974"/>
            <a:ext cx="9052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비중은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일반적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시장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상황에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따른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예시이며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,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실제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운용은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시장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상황에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따라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변동됩니다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F76408A-D4B8-4A08-1B53-7A9203525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1395006"/>
            <a:ext cx="8705850" cy="1487892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76C43864-46D9-C9D0-AF84-94FA7B7A8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5" y="3624919"/>
            <a:ext cx="4549719" cy="1857376"/>
          </a:xfrm>
          <a:prstGeom prst="rect">
            <a:avLst/>
          </a:prstGeom>
        </p:spPr>
      </p:pic>
      <p:pic>
        <p:nvPicPr>
          <p:cNvPr id="21" name="Picture 20" descr="qpms_down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2953871"/>
            <a:ext cx="3364992" cy="1064568"/>
          </a:xfrm>
          <a:prstGeom prst="rect">
            <a:avLst/>
          </a:prstGeom>
        </p:spPr>
      </p:pic>
      <p:pic>
        <p:nvPicPr>
          <p:cNvPr id="22" name="Picture 21" descr="qpms_up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4110218"/>
            <a:ext cx="3364992" cy="1064567"/>
          </a:xfrm>
          <a:prstGeom prst="rect">
            <a:avLst/>
          </a:prstGeom>
        </p:spPr>
      </p:pic>
      <p:pic>
        <p:nvPicPr>
          <p:cNvPr id="23" name="Picture 22" descr="qpms_flat_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0" y="5175504"/>
            <a:ext cx="3364992" cy="111519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C80F6-760D-7173-6BEA-D23F902D5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7FEC8F-0A4A-B876-9C9D-FE5B64BFD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90" y="567301"/>
            <a:ext cx="8744520" cy="276999"/>
          </a:xfrm>
        </p:spPr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ko-KR" alt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별첨 </a:t>
            </a:r>
            <a:r>
              <a:rPr lang="en-US" altLang="ko-KR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: QPMS Vol Trading –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lang="ko-KR" alt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안정 </a:t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변동성</a:t>
            </a:r>
            <a:r>
              <a:rPr lang="en-US"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lang="ko-KR" altLang="en-US"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하베스트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7DA9A7-86E0-1795-12C4-11547F9BC5F7}"/>
              </a:ext>
            </a:extLst>
          </p:cNvPr>
          <p:cNvSpPr txBox="1"/>
          <p:nvPr/>
        </p:nvSpPr>
        <p:spPr>
          <a:xfrm>
            <a:off x="502920" y="1024128"/>
            <a:ext cx="9052560" cy="210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변동성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매매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포지션과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롱(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방향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)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포지션의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비중을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장세에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따라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탄력적으로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조절합니다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BC4D29-7259-FAA5-5328-005DA8C700FC}"/>
              </a:ext>
            </a:extLst>
          </p:cNvPr>
          <p:cNvSpPr txBox="1"/>
          <p:nvPr/>
        </p:nvSpPr>
        <p:spPr>
          <a:xfrm>
            <a:off x="548640" y="6173974"/>
            <a:ext cx="9052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비중은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일반적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시장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상황에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따른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예시이며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,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실제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운용은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시장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상황에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따라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sz="950" b="0" i="0" dirty="0" err="1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변동됩니다</a:t>
            </a:r>
            <a:r>
              <a:rPr sz="95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9030015-522F-93F7-10A3-F56DAC215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45" y="1325567"/>
            <a:ext cx="8743950" cy="142173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087282E-C283-C7A3-8DCA-FBE81892D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5" y="3528612"/>
            <a:ext cx="4643438" cy="2254707"/>
          </a:xfrm>
          <a:prstGeom prst="rect">
            <a:avLst/>
          </a:prstGeom>
        </p:spPr>
      </p:pic>
      <p:pic>
        <p:nvPicPr>
          <p:cNvPr id="18" name="Picture 17" descr="qpms_down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2806469"/>
            <a:ext cx="3364992" cy="1154933"/>
          </a:xfrm>
          <a:prstGeom prst="rect">
            <a:avLst/>
          </a:prstGeom>
        </p:spPr>
      </p:pic>
      <p:pic>
        <p:nvPicPr>
          <p:cNvPr id="19" name="Picture 18" descr="qpms_up_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4019853"/>
            <a:ext cx="3364992" cy="1154933"/>
          </a:xfrm>
          <a:prstGeom prst="rect">
            <a:avLst/>
          </a:prstGeom>
        </p:spPr>
      </p:pic>
      <p:pic>
        <p:nvPicPr>
          <p:cNvPr id="20" name="Picture 19" descr="qpms_flat_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0" y="5175504"/>
            <a:ext cx="3364992" cy="106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8907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93790" y="567301"/>
            <a:ext cx="9052560" cy="276999"/>
          </a:xfrm>
        </p:spPr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별첨 : 최근 3개월 급변동 구간 실측 — 목표 환매 없음 vs +15% 재운용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773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400" dirty="0">
                <a:latin typeface="+mn-lt"/>
                <a:ea typeface="KoPub돋움체_Pro Bold"/>
                <a:cs typeface="KoPub돋움체_Pro Bold"/>
              </a:rPr>
              <a:t>기초가 +92%까지 급등 후 +10%로 되돌린 최근 3개월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 lang="en-US" altLang="ko-KR" sz="1400" dirty="0">
              <a:latin typeface="+mn-lt"/>
              <a:ea typeface="KoPub돋움체_Pro Bold"/>
              <a:cs typeface="KoPub돋움체_Pro Bold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 sz="1400" i="0" dirty="0">
              <a:latin typeface="+mn-lt"/>
              <a:ea typeface="KoPub돋움체_Pro Bold"/>
              <a:cs typeface="KoPub돋움체_Pro 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067748"/>
            <a:ext cx="90525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기간 기준가 2026-04-28 종가 ~ 07-28(노출 60영업일) · 기초=삼성전자·SK하이닉스 50:50 일별리밸런싱 지수(리밸비용 0) · σ=직전 60영업일 연율화(상한 60%) · r=q 2.5% · 편입비 하한 10% · 잔여 현금 연 2.5% · 매매비용 매수 5bp/매도 30bp · 실거래일 기준(주말 변동 없음) · 상기 자료는 예시이며 실제 성과와 다를 수 있습니다.</a:t>
            </a:r>
          </a:p>
        </p:txBody>
      </p:sp>
      <p:pic>
        <p:nvPicPr>
          <p:cNvPr id="8" name="Picture 7" descr="qpms_3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01952"/>
            <a:ext cx="4480560" cy="4092819"/>
          </a:xfrm>
          <a:prstGeom prst="rect">
            <a:avLst/>
          </a:prstGeom>
        </p:spPr>
      </p:pic>
      <p:pic>
        <p:nvPicPr>
          <p:cNvPr id="9" name="Picture 8" descr="qpms_3m_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901952"/>
            <a:ext cx="4480560" cy="418467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>수익률 확률분포 ① — 성장변동성펀드</a:t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2200" b="1" i="0" dirty="0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sz="2200" b="1" i="0" dirty="0" err="1">
                <a:solidFill>
                  <a:srgbClr val="222222"/>
                </a:solidFill>
                <a:latin typeface="KoPub돋움체_Pro Bold"/>
                <a:ea typeface="KoPub돋움체_Pro Bold"/>
                <a:cs typeface="KoPub돋움체_Pro Bold"/>
              </a:rPr>
              <a:t/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9052560" cy="773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400" dirty="0">
                <a:latin typeface="+mn-lt"/>
                <a:ea typeface="KoPub돋움체_Pro Bold"/>
                <a:cs typeface="KoPub돋움체_Pro Bold"/>
              </a:rPr>
              <a:t>몬테카를로 시뮬레이션 1만회 — 지수 수익률 분포(회색)와 전략 수익률 분포(주황)를 한 그래프에 겹침 (변동성 60%, 만기 1년, 일별 리밸런싱).
지수 중앙값 -17% 국면에서 전략 중앙값 +12.8% · 수익확률 57% — 하락 질량이 +15%·+45% 구간으로 이동합니다.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400" dirty="0">
                <a:latin typeface="+mn-lt"/>
                <a:ea typeface="KoPub돋움체_Pro Bold"/>
                <a:cs typeface="KoPub돋움체_Pro Bold"/>
              </a:rPr>
              <a:t/>
            </a:r>
            <a:endParaRPr lang="en-US" altLang="ko-KR" sz="1400" dirty="0">
              <a:latin typeface="+mn-lt"/>
              <a:ea typeface="KoPub돋움체_Pro Bold"/>
              <a:cs typeface="KoPub돋움체_Pro Bold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i="0" dirty="0" err="1">
                <a:latin typeface="+mn-lt"/>
                <a:ea typeface="KoPub돋움체_Pro Bold"/>
                <a:cs typeface="KoPub돋움체_Pro Bold"/>
              </a:rPr>
              <a:t/>
            </a:r>
            <a:endParaRPr sz="1400" i="0" dirty="0">
              <a:latin typeface="+mn-lt"/>
              <a:ea typeface="KoPub돋움체_Pro Bold"/>
              <a:cs typeface="KoPub돋움체_Pro 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163056"/>
            <a:ext cx="905256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800" b="0" i="0" dirty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몬테카를로 10,000경로 · σ 60% 고정 · r=q 2.5% · 잔여 현금 연 2.5% · 편입비 하한 10%(성장 상한 180% / 안정 100%) · 매매비용 매수 5bp/매도 30bp · 목표 환매(+15% 재운용) 미적용 · 상기 자료는 이해를 돕기 위한 예시이며 실제 투자내용·성과와 다를 수 있습니다.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28E9BD5-DF51-0399-0AC2-CF40D8A43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267" y="1977629"/>
            <a:ext cx="5133893" cy="372014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493776" y="566928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KoPub돋움체_Pro Bold"/>
              </a:rPr>
              <a:t>수익률 확률분포 ② — 안정변동성펀드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9052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22222"/>
                </a:solidFill>
              </a:rPr>
              <a:t>몬테카를로 시뮬레이션 1만회 — 지수 수익률 분포(회색)와 전략 수익률 분포(남색)를 한 그래프에 겹침 (변동성 60%, 만기 1년, 일별 리밸런싱).
지수 중앙값 -17% 국면에서 전략 중앙값 +9.8% · 수익확률 56% — 수익이 +25~35% 구간에 집중됩니다.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163056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4888B"/>
                </a:solidFill>
                <a:latin typeface="KoPub돋움체_Pro Medium"/>
              </a:rPr>
              <a:t>※ 몬테카를로 10,000경로 · σ 60% 고정 · r=q 2.5% · 잔여 현금 연 2.5% · 편입비 하한 10%(성장 상한 180% / 안정 100%) · 매매비용 매수 5bp/매도 30bp · 목표 환매(+15% 재운용) 미적용 · 상기 자료는 이해를 돕기 위한 예시이며 실제 투자내용·성과와 다를 수 있습니다.</a:t>
            </a:r>
          </a:p>
        </p:txBody>
      </p:sp>
      <p:pic>
        <p:nvPicPr>
          <p:cNvPr id="7" name="Picture 6" descr="dist_s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975104"/>
            <a:ext cx="5129784" cy="369918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altLang="ko-KR" sz="2200" b="1" dirty="0">
                <a:solidFill>
                  <a:srgbClr val="222222"/>
                </a:solidFill>
              </a:rPr>
              <a:t>FAQ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122044"/>
            <a:ext cx="886968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043B72"/>
            </a:solidFill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0" rtlCol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Q. </a:t>
            </a:r>
            <a:r>
              <a:rPr sz="14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하락</a:t>
            </a:r>
            <a:r>
              <a:rPr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시 </a:t>
            </a:r>
            <a:r>
              <a:rPr sz="14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지수와</a:t>
            </a:r>
            <a:r>
              <a:rPr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같이</a:t>
            </a:r>
            <a:r>
              <a:rPr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떨어지는</a:t>
            </a:r>
            <a:r>
              <a:rPr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것 </a:t>
            </a:r>
            <a:r>
              <a:rPr sz="14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아닌가</a:t>
            </a:r>
            <a:r>
              <a:rPr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?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A. 다릅니다. 하락할수록 저가매수로 편입을 늘리는 구조라, 같은 지수 -30%에서도 시뮬 손실 중앙값은 -5% 수준(안정형)으로 완화됩니다. 반등 시 늘어난 편입이 회복을 가속합니다.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94660"/>
            <a:ext cx="886968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043B72"/>
            </a:solidFill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0" rtlCol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Q. </a:t>
            </a:r>
            <a:r>
              <a:rPr sz="14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상방은</a:t>
            </a:r>
            <a:r>
              <a:rPr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제한되는데</a:t>
            </a:r>
            <a:r>
              <a:rPr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하방만</a:t>
            </a:r>
            <a:r>
              <a:rPr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열려</a:t>
            </a:r>
            <a:r>
              <a:rPr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4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있는</a:t>
            </a:r>
            <a:r>
              <a:rPr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 것 </a:t>
            </a:r>
            <a:r>
              <a:rPr sz="14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아닌가</a:t>
            </a:r>
            <a:r>
              <a:rPr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?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A. </a:t>
            </a:r>
            <a:r>
              <a:rPr lang="ko-KR" altLang="en-US" sz="1400" dirty="0">
                <a:solidFill>
                  <a:srgbClr val="222222"/>
                </a:solidFill>
                <a:cs typeface="KoPub돋움체_Pro Medium"/>
              </a:rPr>
              <a:t>변동성 매매 수익을 안정적으로 확정</a:t>
            </a:r>
            <a:r>
              <a:rPr lang="ko-KR" altLang="en-US" sz="1400" dirty="0">
                <a:solidFill>
                  <a:schemeClr val="tx1"/>
                </a:solidFill>
                <a:cs typeface="KoPub돋움체_Pro Medium"/>
              </a:rPr>
              <a:t>하기</a:t>
            </a:r>
            <a:r>
              <a:rPr lang="ko-KR" altLang="en-US" sz="1400" dirty="0">
                <a:solidFill>
                  <a:srgbClr val="222222"/>
                </a:solidFill>
                <a:cs typeface="KoPub돋움체_Pro Medium"/>
              </a:rPr>
              <a:t> 위한 설계입니다</a:t>
            </a:r>
            <a:r>
              <a:rPr lang="en-US" altLang="ko-KR" sz="1400" dirty="0">
                <a:solidFill>
                  <a:srgbClr val="222222"/>
                </a:solidFill>
                <a:cs typeface="KoPub돋움체_Pro Medium"/>
              </a:rPr>
              <a:t>. 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400" dirty="0">
                <a:solidFill>
                  <a:srgbClr val="222222"/>
                </a:solidFill>
                <a:latin typeface="+mn-ea"/>
                <a:cs typeface="KoPub돋움체_Pro Bold"/>
              </a:rPr>
              <a:t>안정 변동성펀드에서 보이는 수익구조는</a:t>
            </a:r>
            <a:r>
              <a:rPr sz="1400" i="0" dirty="0">
                <a:solidFill>
                  <a:srgbClr val="222222"/>
                </a:solidFill>
                <a:ea typeface="KoPub돋움체_Pro Medium"/>
                <a:cs typeface="KoPub돋움체_Pro Medium"/>
              </a:rPr>
              <a:t> </a:t>
            </a:r>
            <a:r>
              <a:rPr lang="ko-KR" altLang="en-US" sz="1400" i="0" dirty="0">
                <a:solidFill>
                  <a:srgbClr val="222222"/>
                </a:solidFill>
                <a:ea typeface="KoPub돋움체_Pro Medium"/>
                <a:cs typeface="KoPub돋움체_Pro Medium"/>
              </a:rPr>
              <a:t>지수가 </a:t>
            </a:r>
            <a:r>
              <a:rPr lang="en-US" altLang="ko-KR" sz="1400" i="0" dirty="0">
                <a:solidFill>
                  <a:srgbClr val="222222"/>
                </a:solidFill>
                <a:ea typeface="KoPub돋움체_Pro Medium"/>
                <a:cs typeface="KoPub돋움체_Pro Medium"/>
              </a:rPr>
              <a:t>-20%</a:t>
            </a:r>
            <a:r>
              <a:rPr lang="ko-KR" altLang="en-US" sz="1400" i="0" dirty="0">
                <a:solidFill>
                  <a:srgbClr val="222222"/>
                </a:solidFill>
                <a:ea typeface="KoPub돋움체_Pro Medium"/>
                <a:cs typeface="KoPub돋움체_Pro Medium"/>
              </a:rPr>
              <a:t>까지 하락하더라도 원금을 </a:t>
            </a:r>
            <a:r>
              <a:rPr lang="ko-KR" altLang="en-US" sz="1400" i="0" dirty="0" err="1">
                <a:solidFill>
                  <a:srgbClr val="222222"/>
                </a:solidFill>
                <a:ea typeface="KoPub돋움체_Pro Medium"/>
                <a:cs typeface="KoPub돋움체_Pro Medium"/>
              </a:rPr>
              <a:t>확보하도록하며</a:t>
            </a:r>
            <a:r>
              <a:rPr lang="ko-KR" altLang="en-US" sz="1400" i="0" dirty="0">
                <a:solidFill>
                  <a:srgbClr val="222222"/>
                </a:solidFill>
                <a:ea typeface="KoPub돋움체_Pro Medium"/>
                <a:cs typeface="KoPub돋움체_Pro Medium"/>
              </a:rPr>
              <a:t> </a:t>
            </a:r>
            <a:r>
              <a:rPr sz="1400" i="0" dirty="0" err="1">
                <a:solidFill>
                  <a:srgbClr val="222222"/>
                </a:solidFill>
                <a:ea typeface="KoPub돋움체_Pro Medium"/>
                <a:cs typeface="KoPub돋움체_Pro Medium"/>
              </a:rPr>
              <a:t>시뮬레이션</a:t>
            </a:r>
            <a:r>
              <a:rPr lang="en-US" sz="1400" i="0" dirty="0">
                <a:solidFill>
                  <a:srgbClr val="222222"/>
                </a:solidFill>
                <a:ea typeface="KoPub돋움체_Pro Medium"/>
                <a:cs typeface="KoPub돋움체_Pro Medium"/>
              </a:rPr>
              <a:t> </a:t>
            </a:r>
            <a:r>
              <a:rPr sz="1400" i="0" dirty="0">
                <a:solidFill>
                  <a:srgbClr val="222222"/>
                </a:solidFill>
                <a:ea typeface="KoPub돋움체_Pro Medium"/>
                <a:cs typeface="KoPub돋움체_Pro Medium"/>
              </a:rPr>
              <a:t>상 </a:t>
            </a:r>
            <a:r>
              <a:rPr sz="1400" i="0" dirty="0" err="1">
                <a:solidFill>
                  <a:srgbClr val="222222"/>
                </a:solidFill>
                <a:ea typeface="KoPub돋움체_Pro Medium"/>
                <a:cs typeface="KoPub돋움체_Pro Medium"/>
              </a:rPr>
              <a:t>손실이</a:t>
            </a:r>
            <a:r>
              <a:rPr sz="1400" i="0" dirty="0">
                <a:solidFill>
                  <a:srgbClr val="222222"/>
                </a:solidFill>
                <a:ea typeface="KoPub돋움체_Pro Medium"/>
                <a:cs typeface="KoPub돋움체_Pro Medium"/>
              </a:rPr>
              <a:t> </a:t>
            </a:r>
            <a:r>
              <a:rPr sz="1400" i="0" dirty="0" err="1">
                <a:solidFill>
                  <a:srgbClr val="222222"/>
                </a:solidFill>
                <a:ea typeface="KoPub돋움체_Pro Medium"/>
                <a:cs typeface="KoPub돋움체_Pro Medium"/>
              </a:rPr>
              <a:t>지수보다</a:t>
            </a:r>
            <a:r>
              <a:rPr sz="1400" i="0" dirty="0">
                <a:solidFill>
                  <a:srgbClr val="222222"/>
                </a:solidFill>
                <a:ea typeface="KoPub돋움체_Pro Medium"/>
                <a:cs typeface="KoPub돋움체_Pro Medium"/>
              </a:rPr>
              <a:t> </a:t>
            </a:r>
            <a:r>
              <a:rPr sz="1400" i="0" dirty="0" err="1">
                <a:solidFill>
                  <a:srgbClr val="222222"/>
                </a:solidFill>
                <a:ea typeface="KoPub돋움체_Pro Medium"/>
                <a:cs typeface="KoPub돋움체_Pro Medium"/>
              </a:rPr>
              <a:t>작습니다</a:t>
            </a:r>
            <a:r>
              <a:rPr sz="1400" i="0" dirty="0">
                <a:solidFill>
                  <a:srgbClr val="222222"/>
                </a:solidFill>
                <a:ea typeface="KoPub돋움체_Pro Medium"/>
                <a:cs typeface="KoPub돋움체_Pro Medium"/>
              </a:rPr>
              <a:t>.</a:t>
            </a:r>
            <a:r>
              <a:rPr lang="en-US" sz="1400" i="0" dirty="0">
                <a:solidFill>
                  <a:srgbClr val="222222"/>
                </a:solidFill>
                <a:ea typeface="KoPub돋움체_Pro Medium"/>
                <a:cs typeface="KoPub돋움체_Pro Medium"/>
              </a:rPr>
              <a:t> </a:t>
            </a:r>
            <a:r>
              <a:rPr lang="ko-KR" altLang="en-US" sz="1400" dirty="0" err="1">
                <a:solidFill>
                  <a:srgbClr val="222222"/>
                </a:solidFill>
                <a:cs typeface="KoPub돋움체_Pro Medium"/>
              </a:rPr>
              <a:t>하방은</a:t>
            </a:r>
            <a:r>
              <a:rPr lang="ko-KR" altLang="en-US" sz="1400" dirty="0">
                <a:solidFill>
                  <a:srgbClr val="222222"/>
                </a:solidFill>
                <a:cs typeface="KoPub돋움체_Pro Medium"/>
              </a:rPr>
              <a:t> 저가매수 편입 확대 기회로 판단하고</a:t>
            </a:r>
            <a:r>
              <a:rPr lang="en-US" altLang="ko-KR" sz="1400" dirty="0">
                <a:solidFill>
                  <a:srgbClr val="222222"/>
                </a:solidFill>
                <a:cs typeface="KoPub돋움체_Pro Medium"/>
              </a:rPr>
              <a:t> </a:t>
            </a:r>
            <a:r>
              <a:rPr lang="ko-KR" altLang="en-US" sz="1400" dirty="0">
                <a:solidFill>
                  <a:srgbClr val="222222"/>
                </a:solidFill>
                <a:cs typeface="KoPub돋움체_Pro Medium"/>
              </a:rPr>
              <a:t>지수가</a:t>
            </a:r>
            <a:r>
              <a:rPr lang="en-US" altLang="ko-KR" sz="1400" dirty="0">
                <a:solidFill>
                  <a:srgbClr val="222222"/>
                </a:solidFill>
                <a:cs typeface="KoPub돋움체_Pro Medium"/>
              </a:rPr>
              <a:t> </a:t>
            </a:r>
            <a:r>
              <a:rPr lang="en-US" altLang="ko-KR" sz="1400" dirty="0">
                <a:solidFill>
                  <a:srgbClr val="222222"/>
                </a:solidFill>
              </a:rPr>
              <a:t>-40% </a:t>
            </a:r>
            <a:r>
              <a:rPr lang="ko-KR" altLang="en-US" sz="1400" dirty="0">
                <a:solidFill>
                  <a:srgbClr val="222222"/>
                </a:solidFill>
              </a:rPr>
              <a:t>도달 시 변동성 매매를 멈추고 상승 수취를 위해 주식형과 유사하게 운용합니다</a:t>
            </a:r>
            <a:r>
              <a:rPr lang="en-US" altLang="ko-KR" sz="1400" dirty="0">
                <a:solidFill>
                  <a:srgbClr val="222222"/>
                </a:solidFill>
              </a:rPr>
              <a:t>.</a:t>
            </a:r>
            <a:endParaRPr sz="1400" dirty="0">
              <a:solidFill>
                <a:srgbClr val="222222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0D2E8-E69E-9043-5C65-D0F865F23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5382F3A-6378-60B7-67D1-4A94CADC7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altLang="ko-KR" sz="2200" b="1" dirty="0">
                <a:solidFill>
                  <a:srgbClr val="222222"/>
                </a:solidFill>
              </a:rPr>
              <a:t>FAQ</a:t>
            </a:r>
            <a:endParaRPr sz="2200" b="1" i="0" dirty="0">
              <a:solidFill>
                <a:srgbClr val="222222"/>
              </a:solidFill>
              <a:latin typeface="KoPub돋움체_Pro Bold"/>
              <a:ea typeface="KoPub돋움체_Pro Bold"/>
              <a:cs typeface="KoPub돋움체_Pro Bold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DEF8FE7-BE6A-9E43-CB0B-628DB1EC69A9}"/>
              </a:ext>
            </a:extLst>
          </p:cNvPr>
          <p:cNvSpPr/>
          <p:nvPr/>
        </p:nvSpPr>
        <p:spPr>
          <a:xfrm>
            <a:off x="640080" y="1122044"/>
            <a:ext cx="8869680" cy="105918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043B72"/>
            </a:solidFill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0" rtlCol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Q. </a:t>
            </a:r>
            <a:r>
              <a:rPr lang="ko-KR" altLang="en-US"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상승장이 지속되면 조기에 끝나는 것 아닌가</a:t>
            </a:r>
            <a:r>
              <a:rPr lang="en-US" altLang="ko-KR"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?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A. </a:t>
            </a:r>
            <a:r>
              <a:rPr lang="ko-KR" altLang="en-US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목표수익 달성 시 </a:t>
            </a:r>
            <a:r>
              <a:rPr lang="en-US" altLang="ko-KR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'</a:t>
            </a:r>
            <a:r>
              <a:rPr lang="ko-KR" altLang="en-US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분배 후 재운용</a:t>
            </a:r>
            <a:r>
              <a:rPr lang="en-US" altLang="ko-KR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'</a:t>
            </a:r>
            <a:r>
              <a:rPr lang="ko-KR" altLang="en-US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으로 이어져</a:t>
            </a:r>
            <a:r>
              <a:rPr lang="en-US" altLang="ko-KR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, </a:t>
            </a:r>
            <a:r>
              <a:rPr lang="ko-KR" altLang="en-US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종료가 아니라 다음 수익 사이클로 연결됩니다</a:t>
            </a:r>
            <a:r>
              <a:rPr lang="en-US" altLang="ko-KR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.</a:t>
            </a:r>
            <a:endParaRPr sz="1250" b="0" i="0" dirty="0">
              <a:solidFill>
                <a:srgbClr val="222222"/>
              </a:solidFill>
              <a:latin typeface="KoPub돋움체_Pro Medium"/>
              <a:ea typeface="KoPub돋움체_Pro Medium"/>
              <a:cs typeface="KoPub돋움체_Pro Mediu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3BA374-4903-113F-1CEC-DEEFD69CAAA6}"/>
              </a:ext>
            </a:extLst>
          </p:cNvPr>
          <p:cNvSpPr txBox="1"/>
          <p:nvPr/>
        </p:nvSpPr>
        <p:spPr>
          <a:xfrm>
            <a:off x="502920" y="6163056"/>
            <a:ext cx="9052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4888B"/>
                </a:solidFill>
                <a:latin typeface="KoPub돋움체_Pro Medium"/>
                <a:ea typeface="KoPub돋움체_Pro Medium"/>
                <a:cs typeface="KoPub돋움체_Pro Medium"/>
              </a:rPr>
              <a:t>※ 상기 자료는 이해를 돕기 위한 예시이며, 시뮬레이션은 가정에 따른 것으로 실제 투자내용·성과와 다를 수 있습니다.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B82EA581-A1C0-663A-BEB8-65BAEBD1A5AB}"/>
              </a:ext>
            </a:extLst>
          </p:cNvPr>
          <p:cNvSpPr/>
          <p:nvPr/>
        </p:nvSpPr>
        <p:spPr>
          <a:xfrm>
            <a:off x="640080" y="2305625"/>
            <a:ext cx="8869680" cy="105918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043B72"/>
            </a:solidFill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0" rtlCol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Q. </a:t>
            </a:r>
            <a:r>
              <a:rPr lang="ko-KR" altLang="en-US"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변동성이 줄어들면 수익을 못 내나</a:t>
            </a:r>
            <a:r>
              <a:rPr lang="en-US" altLang="ko-KR"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?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A. </a:t>
            </a:r>
            <a:r>
              <a:rPr lang="ko-KR" altLang="en-US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변동성 매매 수익은 줄지만</a:t>
            </a:r>
            <a:r>
              <a:rPr lang="en-US" altLang="ko-KR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, </a:t>
            </a:r>
            <a:r>
              <a:rPr lang="ko-KR" altLang="en-US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방향 투자</a:t>
            </a:r>
            <a:r>
              <a:rPr lang="en-US" altLang="ko-KR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(</a:t>
            </a:r>
            <a:r>
              <a:rPr lang="ko-KR" altLang="en-US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롱</a:t>
            </a:r>
            <a:r>
              <a:rPr lang="en-US" altLang="ko-KR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)</a:t>
            </a:r>
            <a:r>
              <a:rPr lang="ko-KR" altLang="en-US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로 상승 수익을 확보합니다</a:t>
            </a:r>
            <a:r>
              <a:rPr lang="en-US" altLang="ko-KR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. </a:t>
            </a:r>
            <a:r>
              <a:rPr lang="ko-KR" altLang="en-US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현재는 </a:t>
            </a:r>
            <a:r>
              <a:rPr lang="ko-KR" altLang="en-US" sz="1250" b="0" i="0" dirty="0" err="1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역대급</a:t>
            </a:r>
            <a:r>
              <a:rPr lang="ko-KR" altLang="en-US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 변동성 국면입니다</a:t>
            </a:r>
            <a:r>
              <a:rPr lang="en-US" altLang="ko-KR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.</a:t>
            </a:r>
            <a:endParaRPr sz="1250" b="0" i="0" dirty="0">
              <a:solidFill>
                <a:srgbClr val="222222"/>
              </a:solidFill>
              <a:latin typeface="KoPub돋움체_Pro Medium"/>
              <a:ea typeface="KoPub돋움체_Pro Medium"/>
              <a:cs typeface="KoPub돋움체_Pro Medium"/>
            </a:endParaRP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189CEBE0-8A1D-7F91-B8FD-E0EB2A5251A9}"/>
              </a:ext>
            </a:extLst>
          </p:cNvPr>
          <p:cNvSpPr/>
          <p:nvPr/>
        </p:nvSpPr>
        <p:spPr>
          <a:xfrm>
            <a:off x="640080" y="3517206"/>
            <a:ext cx="8869680" cy="105918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043B72"/>
            </a:solidFill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0" rtlCol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Q. </a:t>
            </a:r>
            <a:r>
              <a:rPr lang="en-US" altLang="ko-KR"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QPMS</a:t>
            </a:r>
            <a:r>
              <a:rPr lang="ko-KR" altLang="en-US"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란 무엇인가</a:t>
            </a:r>
            <a:r>
              <a:rPr lang="en-US" altLang="ko-KR"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?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A. </a:t>
            </a:r>
            <a:r>
              <a:rPr lang="ko-KR" altLang="en-US" sz="1250" b="0" i="0" dirty="0" err="1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미래에셋의</a:t>
            </a:r>
            <a:r>
              <a:rPr lang="ko-KR" altLang="en-US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 </a:t>
            </a:r>
            <a:r>
              <a:rPr lang="ko-KR" altLang="en-US" sz="1250" b="0" i="0" dirty="0" err="1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퀀트</a:t>
            </a:r>
            <a:r>
              <a:rPr lang="ko-KR" altLang="en-US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 운용 시스템으로</a:t>
            </a:r>
            <a:r>
              <a:rPr lang="en-US" altLang="ko-KR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, </a:t>
            </a:r>
            <a:r>
              <a:rPr lang="ko-KR" altLang="en-US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규칙 기반 </a:t>
            </a:r>
            <a:r>
              <a:rPr lang="ko-KR" altLang="en-US" sz="1250" b="0" i="0" dirty="0" err="1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리밸런싱을</a:t>
            </a:r>
            <a:r>
              <a:rPr lang="ko-KR" altLang="en-US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 진행합니다</a:t>
            </a:r>
            <a:r>
              <a:rPr lang="en-US" altLang="ko-KR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.</a:t>
            </a:r>
            <a:r>
              <a:rPr lang="ko-KR" altLang="en-US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 매일 편입비를 계산해 자의적 판단을 배제합니다</a:t>
            </a:r>
            <a:r>
              <a:rPr lang="en-US" altLang="ko-KR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.</a:t>
            </a:r>
            <a:endParaRPr sz="1250" b="0" i="0" dirty="0">
              <a:solidFill>
                <a:srgbClr val="222222"/>
              </a:solidFill>
              <a:latin typeface="KoPub돋움체_Pro Medium"/>
              <a:ea typeface="KoPub돋움체_Pro Medium"/>
              <a:cs typeface="KoPub돋움체_Pro Medium"/>
            </a:endParaRPr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D66611C7-745F-A213-102D-52AC20A5B14E}"/>
              </a:ext>
            </a:extLst>
          </p:cNvPr>
          <p:cNvSpPr/>
          <p:nvPr/>
        </p:nvSpPr>
        <p:spPr>
          <a:xfrm>
            <a:off x="640080" y="4728787"/>
            <a:ext cx="8869680" cy="105918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043B72"/>
            </a:solidFill>
          </a:ln>
          <a:effectLst>
            <a:outerShdw blurRad="80000" dist="25000" dir="5400000" rotWithShape="0">
              <a:srgbClr val="8899AA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0" rtlCol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Q. </a:t>
            </a:r>
            <a:r>
              <a:rPr lang="ko-KR" altLang="en-US"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왜 이 전략이고</a:t>
            </a:r>
            <a:r>
              <a:rPr lang="en-US" altLang="ko-KR"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, </a:t>
            </a:r>
            <a:r>
              <a:rPr lang="ko-KR" altLang="en-US"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왜 </a:t>
            </a:r>
            <a:r>
              <a:rPr lang="ko-KR" altLang="en-US" sz="1400" b="1" i="0" dirty="0" err="1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미래에셋인가</a:t>
            </a:r>
            <a:r>
              <a:rPr lang="en-US" altLang="ko-KR" sz="14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?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A. </a:t>
            </a:r>
            <a:r>
              <a:rPr lang="ko-KR" altLang="en-US" sz="1250" dirty="0">
                <a:solidFill>
                  <a:srgbClr val="222222"/>
                </a:solidFill>
                <a:cs typeface="KoPub돋움체_Pro Medium"/>
              </a:rPr>
              <a:t>현재는 </a:t>
            </a:r>
            <a:r>
              <a:rPr lang="ko-KR" altLang="en-US" sz="1250" dirty="0" err="1">
                <a:solidFill>
                  <a:srgbClr val="222222"/>
                </a:solidFill>
                <a:cs typeface="KoPub돋움체_Pro Medium"/>
              </a:rPr>
              <a:t>역대급</a:t>
            </a:r>
            <a:r>
              <a:rPr lang="ko-KR" altLang="en-US" sz="1250" dirty="0">
                <a:solidFill>
                  <a:srgbClr val="222222"/>
                </a:solidFill>
                <a:cs typeface="KoPub돋움체_Pro Medium"/>
              </a:rPr>
              <a:t> 변동성 국면이기에 </a:t>
            </a:r>
            <a:r>
              <a:rPr lang="ko-KR" altLang="en-US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변동성 수확 전략을 고려하기 좋은 시기라고 판단합니다</a:t>
            </a:r>
            <a:r>
              <a:rPr lang="en-US" altLang="ko-KR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. </a:t>
            </a:r>
            <a:r>
              <a:rPr lang="ko-KR" altLang="en-US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더불어 베테랑 운용역과 검증된 </a:t>
            </a:r>
            <a:r>
              <a:rPr lang="en-US" altLang="ko-KR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QPMS </a:t>
            </a:r>
            <a:r>
              <a:rPr lang="ko-KR" altLang="en-US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인프라를 활용할 수 있기 때문입니다</a:t>
            </a:r>
            <a:r>
              <a:rPr lang="en-US" altLang="ko-KR" sz="1250" b="0" i="0" dirty="0">
                <a:solidFill>
                  <a:srgbClr val="222222"/>
                </a:solidFill>
                <a:latin typeface="KoPub돋움체_Pro Medium"/>
                <a:ea typeface="KoPub돋움체_Pro Medium"/>
                <a:cs typeface="KoPub돋움체_Pro Medium"/>
              </a:rPr>
              <a:t>.</a:t>
            </a:r>
            <a:endParaRPr sz="1250" b="0" i="0" dirty="0">
              <a:solidFill>
                <a:srgbClr val="222222"/>
              </a:solidFill>
              <a:latin typeface="KoPub돋움체_Pro Medium"/>
              <a:ea typeface="KoPub돋움체_Pro Medium"/>
              <a:cs typeface="KoPub돋움체_Pro Medium"/>
            </a:endParaRPr>
          </a:p>
        </p:txBody>
      </p:sp>
    </p:spTree>
    <p:extLst>
      <p:ext uri="{BB962C8B-B14F-4D97-AF65-F5344CB8AC3E}">
        <p14:creationId xmlns:p14="http://schemas.microsoft.com/office/powerpoint/2010/main" val="36908447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감사합니다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FSPANMODE" val="spa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FSPANMODE" val="span"/>
</p:tagLst>
</file>

<file path=ppt/theme/theme1.xml><?xml version="1.0" encoding="utf-8"?>
<a:theme xmlns:a="http://schemas.openxmlformats.org/drawingml/2006/main" name="Office 테마">
  <a:themeElements>
    <a:clrScheme name="미래에셋">
      <a:dk1>
        <a:srgbClr val="000000"/>
      </a:dk1>
      <a:lt1>
        <a:sysClr val="window" lastClr="FFFFFF"/>
      </a:lt1>
      <a:dk2>
        <a:srgbClr val="44546A"/>
      </a:dk2>
      <a:lt2>
        <a:srgbClr val="E7E6E6"/>
      </a:lt2>
      <a:accent1>
        <a:srgbClr val="F58220"/>
      </a:accent1>
      <a:accent2>
        <a:srgbClr val="043B72"/>
      </a:accent2>
      <a:accent3>
        <a:srgbClr val="00A9CE"/>
      </a:accent3>
      <a:accent4>
        <a:srgbClr val="F0B26B"/>
      </a:accent4>
      <a:accent5>
        <a:srgbClr val="AE634E"/>
      </a:accent5>
      <a:accent6>
        <a:srgbClr val="84888B"/>
      </a:accent6>
      <a:hlink>
        <a:srgbClr val="0563C1"/>
      </a:hlink>
      <a:folHlink>
        <a:srgbClr val="954F72"/>
      </a:folHlink>
    </a:clrScheme>
    <a:fontScheme name="Mirae Asset Font">
      <a:majorFont>
        <a:latin typeface="KoPub돋움체_Pro Bold"/>
        <a:ea typeface="KoPub돋움체_Pro Bold"/>
        <a:cs typeface=""/>
      </a:majorFont>
      <a:minorFont>
        <a:latin typeface="KoPub돋움체_Pro Medium"/>
        <a:ea typeface="KoPub돋움체_Pro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3466d8de-a423-4c2e-b2dc-846f22c52444}" enabled="1" method="Standard" siteId="{60ed981f-ef6e-4603-9f81-ed6b3471313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155071</TotalTime>
  <Words>2795</Words>
  <Application>Microsoft Office PowerPoint</Application>
  <PresentationFormat>A4 용지(210x297mm)</PresentationFormat>
  <Paragraphs>429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0" baseType="lpstr">
      <vt:lpstr>KoPub돋움체_Pro Bold</vt:lpstr>
      <vt:lpstr>KoPub돋움체_Pro Medium</vt:lpstr>
      <vt:lpstr>맑은 고딕</vt:lpstr>
      <vt:lpstr>Arial</vt:lpstr>
      <vt:lpstr>Calibri</vt:lpstr>
      <vt:lpstr>Noto Sans</vt:lpstr>
      <vt:lpstr>Office 테마</vt:lpstr>
      <vt:lpstr>미래에셋 변동성 하베스트 AI Top2 일반사모투자신탁</vt:lpstr>
      <vt:lpstr>변동성 하베스트 투자포인트</vt:lpstr>
      <vt:lpstr>투자포인트 ① 변동성 장세</vt:lpstr>
      <vt:lpstr>투자포인트 ② 변동성 장세 지속. 상방을 누르는 수급</vt:lpstr>
      <vt:lpstr>투자포인트 ③ 변동성 장세 지속. 하방을 받치는 밸류에이션·실적</vt:lpstr>
      <vt:lpstr>투자포인트 ④ 레버리지가 키운 변동성</vt:lpstr>
      <vt:lpstr>투자포인트 ④ 레버리지가 키운 변동성</vt:lpstr>
      <vt:lpstr>변동성 하베스트 전략</vt:lpstr>
      <vt:lpstr>전략 상세 ① 변동성 매매 (저가매수·고가매도)</vt:lpstr>
      <vt:lpstr>전략 상세 ② 방향 투자 (상승 참여)</vt:lpstr>
      <vt:lpstr>수익 구조 ① 성장변동성펀드 (변동성 매매 + 상승 참여)</vt:lpstr>
      <vt:lpstr>지수대별 실제 편입비·예상수익률 — 성장변동성펀드</vt:lpstr>
      <vt:lpstr>수익 구조 ② 안정변동성펀드</vt:lpstr>
      <vt:lpstr>지수대별 실제 편입비·예상수익률 — 안정변동성펀드</vt:lpstr>
      <vt:lpstr>목표배당형 구조 — 목표 달성 시 분배 후 재운용</vt:lpstr>
      <vt:lpstr>별첨 QPMS Vol Trading 시스템 운용</vt:lpstr>
      <vt:lpstr>별첨 QPMS Vol Trading 시스템운용 — 성장 변동성 하베스트</vt:lpstr>
      <vt:lpstr>별첨 : QPMS Vol Trading – 안정 변동성 하베스트</vt:lpstr>
      <vt:lpstr>별첨 : 최근 3개월 급변동 구간 실측 — 목표 환매 없음 vs +15% 재운용</vt:lpstr>
      <vt:lpstr>수익 구조 ② 지수 -30% 도달 시 수익률 분포</vt:lpstr>
      <vt:lpstr>FAQ</vt:lpstr>
      <vt:lpstr>FAQ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0</dc:title>
  <dc:creator>yurim</dc:creator>
  <cp:lastModifiedBy>Lee, Hyun Kyung (이현경)</cp:lastModifiedBy>
  <cp:revision>3369</cp:revision>
  <cp:lastPrinted>2025-06-10T01:28:42Z</cp:lastPrinted>
  <dcterms:created xsi:type="dcterms:W3CDTF">2015-10-26T01:08:58Z</dcterms:created>
  <dcterms:modified xsi:type="dcterms:W3CDTF">2026-07-28T09:20:45Z</dcterms:modified>
</cp:coreProperties>
</file>