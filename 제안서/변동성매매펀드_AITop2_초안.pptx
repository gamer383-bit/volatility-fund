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923" r:id="rId1"/>
  </p:sldMasterIdLst>
  <p:notesMasterIdLst>
    <p:notesMasterId r:id="rId16"/>
  </p:notesMasterIdLst>
  <p:handoutMasterIdLst>
    <p:handoutMasterId r:id="rId17"/>
  </p:handoutMasterIdLst>
  <p:sldIdLst>
    <p:sldId id="1031" r:id="rId2"/>
    <p:sldId id="1032" r:id="rId9"/>
    <p:sldId id="1033" r:id="rId10"/>
    <p:sldId id="1034" r:id="rId11"/>
    <p:sldId id="1035" r:id="rId12"/>
    <p:sldId id="1036" r:id="rId13"/>
    <p:sldId id="1037" r:id="rId14"/>
    <p:sldId id="1038" r:id="rId15"/>
    <p:sldId id="1039" r:id="rId8"/>
    <p:sldId id="1040" r:id="rId7"/>
    <p:sldId id="1041" r:id="rId6"/>
    <p:sldId id="1042" r:id="rId5"/>
    <p:sldId id="1043" r:id="rId4"/>
  </p:sldIdLst>
  <p:sldSz cx="9904413" cy="6858000"/>
  <p:notesSz cx="6797675" cy="9872663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84" userDrawn="1">
          <p15:clr>
            <a:srgbClr val="A4A3A4"/>
          </p15:clr>
        </p15:guide>
        <p15:guide id="2" pos="3119">
          <p15:clr>
            <a:srgbClr val="A4A3A4"/>
          </p15:clr>
        </p15:guide>
        <p15:guide id="3" pos="307" userDrawn="1">
          <p15:clr>
            <a:srgbClr val="A4A3A4"/>
          </p15:clr>
        </p15:guide>
        <p15:guide id="4" pos="59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9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CC"/>
    <a:srgbClr val="F58220"/>
    <a:srgbClr val="E12F00"/>
    <a:srgbClr val="043B72"/>
    <a:srgbClr val="F0B26B"/>
    <a:srgbClr val="00A9CE"/>
    <a:srgbClr val="93CDDD"/>
    <a:srgbClr val="7F7F7F"/>
    <a:srgbClr val="4BAC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40" autoAdjust="0"/>
    <p:restoredTop sz="94994" autoAdjust="0"/>
  </p:normalViewPr>
  <p:slideViewPr>
    <p:cSldViewPr>
      <p:cViewPr varScale="1">
        <p:scale>
          <a:sx n="153" d="100"/>
          <a:sy n="153" d="100"/>
        </p:scale>
        <p:origin x="1696" y="84"/>
      </p:cViewPr>
      <p:guideLst>
        <p:guide orient="horz" pos="3884"/>
        <p:guide pos="3119"/>
        <p:guide pos="307"/>
        <p:guide pos="593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70" d="100"/>
        <a:sy n="170" d="100"/>
      </p:scale>
      <p:origin x="0" y="0"/>
    </p:cViewPr>
  </p:sorterViewPr>
  <p:notesViewPr>
    <p:cSldViewPr>
      <p:cViewPr varScale="1">
        <p:scale>
          <a:sx n="72" d="100"/>
          <a:sy n="72" d="100"/>
        </p:scale>
        <p:origin x="3216" y="54"/>
      </p:cViewPr>
      <p:guideLst>
        <p:guide orient="horz" pos="3109"/>
        <p:guide pos="214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13.xml"/><Relationship Id="rId5" Type="http://schemas.openxmlformats.org/officeDocument/2006/relationships/slide" Target="slides/slide12.xml"/><Relationship Id="rId6" Type="http://schemas.openxmlformats.org/officeDocument/2006/relationships/slide" Target="slides/slide11.xml"/><Relationship Id="rId7" Type="http://schemas.openxmlformats.org/officeDocument/2006/relationships/slide" Target="slides/slide10.xml"/><Relationship Id="rId8" Type="http://schemas.openxmlformats.org/officeDocument/2006/relationships/slide" Target="slides/slide9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6400" cy="494187"/>
          </a:xfrm>
          <a:prstGeom prst="rect">
            <a:avLst/>
          </a:prstGeom>
        </p:spPr>
        <p:txBody>
          <a:bodyPr vert="horz" lIns="91138" tIns="45568" rIns="91138" bIns="45568" rtlCol="0"/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4187"/>
          </a:xfrm>
          <a:prstGeom prst="rect">
            <a:avLst/>
          </a:prstGeom>
        </p:spPr>
        <p:txBody>
          <a:bodyPr vert="horz" lIns="91138" tIns="45568" rIns="91138" bIns="45568" rtlCol="0"/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735719FC-6980-45D2-A421-C78AB20FED1D}" type="datetimeFigureOut">
              <a:rPr lang="ko-KR" altLang="en-US"/>
              <a:pPr>
                <a:defRPr/>
              </a:pPr>
              <a:t>2026-07-10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1" y="9376899"/>
            <a:ext cx="2946400" cy="494186"/>
          </a:xfrm>
          <a:prstGeom prst="rect">
            <a:avLst/>
          </a:prstGeom>
        </p:spPr>
        <p:txBody>
          <a:bodyPr vert="horz" lIns="91138" tIns="45568" rIns="91138" bIns="45568" rtlCol="0" anchor="b"/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8" y="9376899"/>
            <a:ext cx="2946400" cy="494186"/>
          </a:xfrm>
          <a:prstGeom prst="rect">
            <a:avLst/>
          </a:prstGeom>
        </p:spPr>
        <p:txBody>
          <a:bodyPr vert="horz" wrap="square" lIns="91138" tIns="45568" rIns="91138" bIns="45568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1A606278-47B9-4B65-827D-ED84C97ABE3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6400" cy="494187"/>
          </a:xfrm>
          <a:prstGeom prst="rect">
            <a:avLst/>
          </a:prstGeom>
        </p:spPr>
        <p:txBody>
          <a:bodyPr vert="horz" lIns="91138" tIns="45568" rIns="91138" bIns="45568" rtlCol="0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4187"/>
          </a:xfrm>
          <a:prstGeom prst="rect">
            <a:avLst/>
          </a:prstGeom>
        </p:spPr>
        <p:txBody>
          <a:bodyPr vert="horz" lIns="91138" tIns="45568" rIns="91138" bIns="45568" rtlCol="0"/>
          <a:lstStyle>
            <a:lvl1pPr algn="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A437B7B-6770-4EF1-8899-2D7731B1B79F}" type="datetimeFigureOut">
              <a:rPr lang="ko-KR" altLang="en-US"/>
              <a:pPr>
                <a:defRPr/>
              </a:pPr>
              <a:t>2026-07-10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725488" y="741363"/>
            <a:ext cx="5346700" cy="3702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8" tIns="45568" rIns="91138" bIns="45568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1" y="4689239"/>
            <a:ext cx="5438775" cy="4442935"/>
          </a:xfrm>
          <a:prstGeom prst="rect">
            <a:avLst/>
          </a:prstGeom>
        </p:spPr>
        <p:txBody>
          <a:bodyPr vert="horz" lIns="91138" tIns="45568" rIns="91138" bIns="45568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376899"/>
            <a:ext cx="2946400" cy="494186"/>
          </a:xfrm>
          <a:prstGeom prst="rect">
            <a:avLst/>
          </a:prstGeom>
        </p:spPr>
        <p:txBody>
          <a:bodyPr vert="horz" lIns="91138" tIns="45568" rIns="91138" bIns="45568" rtlCol="0" anchor="b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376899"/>
            <a:ext cx="2946400" cy="494186"/>
          </a:xfrm>
          <a:prstGeom prst="rect">
            <a:avLst/>
          </a:prstGeom>
        </p:spPr>
        <p:txBody>
          <a:bodyPr vert="horz" wrap="square" lIns="91138" tIns="45568" rIns="91138" bIns="45568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9DF11654-0CFB-44F3-B93D-CBFACCFEA8D0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6975" y="5654675"/>
            <a:ext cx="1976438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1825" y="5926138"/>
            <a:ext cx="6767513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407150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84938" y="4799013"/>
            <a:ext cx="3419475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1825" y="3937000"/>
            <a:ext cx="73342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31724" y="194071"/>
            <a:ext cx="5039193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724" y="1264982"/>
            <a:ext cx="5219164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9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31724" y="2874353"/>
            <a:ext cx="5219164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018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31724" y="4214169"/>
            <a:ext cx="4499279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018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31724" y="4474323"/>
            <a:ext cx="4499279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018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89700" y="838200"/>
            <a:ext cx="3424238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91966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3"/>
            <a:ext cx="990600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8213" y="757238"/>
            <a:ext cx="1309687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9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9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285" y="1725715"/>
            <a:ext cx="8460019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950" marR="0" indent="-251950" algn="l" defTabSz="457109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529" indent="136498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1473665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857" y="3143391"/>
            <a:ext cx="8458645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6245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3713" y="6494463"/>
            <a:ext cx="4543425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8950" y="896938"/>
            <a:ext cx="892651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51600" y="6494463"/>
            <a:ext cx="2963863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9425" y="6359525"/>
            <a:ext cx="894556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8922" y="1031108"/>
            <a:ext cx="892657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109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109" indent="0">
              <a:buFontTx/>
              <a:buNone/>
              <a:defRPr sz="2000">
                <a:latin typeface="Noto Sans"/>
                <a:cs typeface="Noto Sans"/>
              </a:defRPr>
            </a:lvl2pPr>
            <a:lvl3pPr marL="914217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326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434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11" y="567302"/>
            <a:ext cx="6478962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1465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8150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831" y="2935288"/>
            <a:ext cx="8418751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8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01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0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05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0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08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10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1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13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9574667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6"/>
            <a:ext cx="9904413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800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80000" y="1007768"/>
            <a:ext cx="894600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300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80000" y="6358688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9601" y="6492827"/>
            <a:ext cx="454415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7710" y="449897"/>
            <a:ext cx="6840000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8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7710" y="189391"/>
            <a:ext cx="6840000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928" indent="-179928" latinLnBrk="0">
              <a:spcBef>
                <a:spcPts val="0"/>
              </a:spcBef>
              <a:buFont typeface="+mj-lt"/>
              <a:buAutoNum type="romanUcPeriod"/>
              <a:defRPr sz="1300">
                <a:latin typeface="+mj-ea"/>
                <a:ea typeface="+mj-ea"/>
              </a:defRPr>
            </a:lvl1pPr>
            <a:lvl2pPr marL="478668" indent="0">
              <a:buNone/>
              <a:defRPr sz="1000"/>
            </a:lvl2pPr>
            <a:lvl3pPr marL="957333" indent="0">
              <a:buNone/>
              <a:defRPr sz="1000"/>
            </a:lvl3pPr>
            <a:lvl4pPr marL="1436001" indent="0">
              <a:buNone/>
              <a:defRPr sz="1000"/>
            </a:lvl4pPr>
            <a:lvl5pPr marL="1914668" indent="0">
              <a:buNone/>
              <a:defRPr sz="1000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52713" y="6492827"/>
            <a:ext cx="2964337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3023385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6"/>
            <a:ext cx="9904413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800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06000" y="269938"/>
            <a:ext cx="1620000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80000" y="1007768"/>
            <a:ext cx="8937050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300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80000" y="6358688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9601" y="6492828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7109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7109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52713" y="6492827"/>
            <a:ext cx="2964337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7710" y="449897"/>
            <a:ext cx="6840000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8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7710" y="189391"/>
            <a:ext cx="6840000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928" indent="-179928" latinLnBrk="0">
              <a:spcBef>
                <a:spcPts val="0"/>
              </a:spcBef>
              <a:buFont typeface="+mj-lt"/>
              <a:buAutoNum type="romanUcPeriod"/>
              <a:defRPr sz="1300">
                <a:latin typeface="+mj-ea"/>
                <a:ea typeface="+mj-ea"/>
              </a:defRPr>
            </a:lvl1pPr>
            <a:lvl2pPr marL="478668" indent="0">
              <a:buNone/>
              <a:defRPr sz="1000"/>
            </a:lvl2pPr>
            <a:lvl3pPr marL="957333" indent="0">
              <a:buNone/>
              <a:defRPr sz="1000"/>
            </a:lvl3pPr>
            <a:lvl4pPr marL="1436001" indent="0">
              <a:buNone/>
              <a:defRPr sz="1000"/>
            </a:lvl4pPr>
            <a:lvl5pPr marL="1914668" indent="0">
              <a:buNone/>
              <a:defRPr sz="1000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27224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6"/>
            <a:ext cx="9904413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800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06000" y="269938"/>
            <a:ext cx="1620000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80000" y="1007768"/>
            <a:ext cx="8937050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300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80000" y="6358688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9601" y="6492828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7109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7109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52713" y="6492827"/>
            <a:ext cx="2964337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7710" y="449897"/>
            <a:ext cx="6840000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8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7710" y="189391"/>
            <a:ext cx="6840000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928" indent="-179928" latinLnBrk="0">
              <a:spcBef>
                <a:spcPts val="0"/>
              </a:spcBef>
              <a:buFont typeface="+mj-lt"/>
              <a:buAutoNum type="romanUcPeriod"/>
              <a:defRPr sz="1300">
                <a:latin typeface="+mj-ea"/>
                <a:ea typeface="+mj-ea"/>
              </a:defRPr>
            </a:lvl1pPr>
            <a:lvl2pPr marL="478668" indent="0">
              <a:buNone/>
              <a:defRPr sz="1000"/>
            </a:lvl2pPr>
            <a:lvl3pPr marL="957333" indent="0">
              <a:buNone/>
              <a:defRPr sz="1000"/>
            </a:lvl3pPr>
            <a:lvl4pPr marL="1436001" indent="0">
              <a:buNone/>
              <a:defRPr sz="1000"/>
            </a:lvl4pPr>
            <a:lvl5pPr marL="1914668" indent="0">
              <a:buNone/>
              <a:defRPr sz="1000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62102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80000" y="983054"/>
            <a:ext cx="8937050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300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7710" y="425183"/>
            <a:ext cx="6840000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8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7710" y="164677"/>
            <a:ext cx="6840000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928" indent="-179928" latinLnBrk="0">
              <a:spcBef>
                <a:spcPts val="0"/>
              </a:spcBef>
              <a:buFont typeface="+mj-lt"/>
              <a:buAutoNum type="romanUcPeriod"/>
              <a:defRPr sz="1300">
                <a:latin typeface="+mj-ea"/>
                <a:ea typeface="+mj-ea"/>
              </a:defRPr>
            </a:lvl1pPr>
            <a:lvl2pPr marL="478668" indent="0">
              <a:buNone/>
              <a:defRPr sz="1000"/>
            </a:lvl2pPr>
            <a:lvl3pPr marL="957333" indent="0">
              <a:buNone/>
              <a:defRPr sz="1000"/>
            </a:lvl3pPr>
            <a:lvl4pPr marL="1436001" indent="0">
              <a:buNone/>
              <a:defRPr sz="1000"/>
            </a:lvl4pPr>
            <a:lvl5pPr marL="1914668" indent="0">
              <a:buNone/>
              <a:defRPr sz="1000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52713" y="6492827"/>
            <a:ext cx="2964337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9601" y="6497276"/>
            <a:ext cx="454415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100" y="859732"/>
            <a:ext cx="9914514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100" y="6363137"/>
            <a:ext cx="9914514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9272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5147" r:id="rId1"/>
    <p:sldLayoutId id="2147485149" r:id="rId2"/>
    <p:sldLayoutId id="2147485145" r:id="rId3"/>
    <p:sldLayoutId id="2147485150" r:id="rId4"/>
    <p:sldLayoutId id="2147485152" r:id="rId5"/>
    <p:sldLayoutId id="2147485154" r:id="rId6"/>
    <p:sldLayoutId id="2147485155" r:id="rId7"/>
    <p:sldLayoutId id="2147485156" r:id="rId8"/>
    <p:sldLayoutId id="2147485157" r:id="rId9"/>
  </p:sldLayoutIdLst>
  <p:txStyles>
    <p:titleStyle>
      <a:lvl1pPr algn="l" defTabSz="912813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300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2813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2813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2813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2813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7200" algn="l" defTabSz="912813" rtl="0" fontAlgn="base" latinLnBrk="1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4400" algn="l" defTabSz="912813" rtl="0" fontAlgn="base" latinLnBrk="1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71600" algn="l" defTabSz="912813" rtl="0" fontAlgn="base" latinLnBrk="1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8800" algn="l" defTabSz="912813" rtl="0" fontAlgn="base" latinLnBrk="1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7013" indent="-227013" algn="l" defTabSz="912813" rtl="0" eaLnBrk="0" fontAlgn="base" latinLnBrk="1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4213" indent="-227013" algn="l" defTabSz="912813" rtl="0" eaLnBrk="0" fontAlgn="base" latinLnBrk="1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1413" indent="-227013" algn="l" defTabSz="912813" rtl="0" eaLnBrk="0" fontAlgn="base" latinLnBrk="1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598613" indent="-227013" algn="l" defTabSz="912813" rtl="0" eaLnBrk="0" fontAlgn="base" latinLnBrk="1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5813" indent="-227013" algn="l" defTabSz="912813" rtl="0" eaLnBrk="0" fontAlgn="base" latinLnBrk="1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097" indent="-228554" algn="l" defTabSz="91421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4" algn="l" defTabSz="91421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4" algn="l" defTabSz="91421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4" algn="l" defTabSz="91421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1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8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1825" y="1447800"/>
            <a:ext cx="5472509" cy="430887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800" dirty="0"/>
              <a:t>반도체 TOP2 변동성 매매 펀드</a:t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1825" y="4214813"/>
            <a:ext cx="4498975" cy="1841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5613" fontAlgn="base"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 전략운용본부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1825" y="4473575"/>
            <a:ext cx="4498975" cy="1857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5613" fontAlgn="base"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en-US" altLang="ko-KR" dirty="0"/>
              <a:t>2026.05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694944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매매 펀드 — AI Top2 (삼성전자·SK하이닉스)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기초자산 편입비를 시장 상황에 따라 조절하여 높은 변동성 프리미엄을 수취하고 상승 방향에 참여하는 변동성 매매 전략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AI Top2 — 삼성전자·SK하이닉스 (동일가중)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60%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변동성 매도로 프리미엄 수취 + 상승 방향 참여 · 최대 편입비 180% 제한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안정변동성펀드(풋매도 단독) / 성장변동성펀드(풋매도 + 콜스프레드)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국내 주식형 파생 (사모 · 일임)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1등급 (매우 높은 위험) · 적극투자형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3천만원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① — 역대급 변동성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최근 한국시장 변동성이 5년 내 최고 수준(99.7%ile). 변동성이 클수록 변동성 매매로 수취하는 프리미엄이 커집니다.</a:t>
            </a:r>
          </a:p>
        </p:txBody>
      </p:sp>
      <p:pic>
        <p:nvPicPr>
          <p:cNvPr id="7" name="Picture 6" descr="vol_se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8869680" cy="400810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'수취'하기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 — 당분간 제한적 방향성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상방엔 매물벽, 하방엔 저평가 — 한쪽으로 크게 쏠린 방향성이 나오기 어려운 국면입니다.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600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초과·국내주식 축소 기조로, 지수가 오를수록 대기 매도 물량이 상단에서 출회.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600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지수 편입비 조정·차익 실현으로 상승 국면에서 매도 우위가 반복.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600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단기 급등에 올라탄 과도한 매수 포지션이 반등 시마다 차익실현(상승 시 매도 대응)으로 전환.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26280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590288"/>
            <a:ext cx="8138160" cy="713232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9E6E"/>
                </a:solidFill>
                <a:latin typeface="맑은 고딕"/>
              </a:rPr>
              <a:t>② 하방을 받치는 밸류에이션: </a:t>
            </a:r>
            <a:r>
              <a:rPr sz="1250" b="1">
                <a:solidFill>
                  <a:srgbClr val="3A3A3A"/>
                </a:solidFill>
                <a:latin typeface="맑은 고딕"/>
              </a:rPr>
              <a:t>삼성전자·SK하이닉스 저평가 — 실적 대비 낮은 밸류에이션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   ※ 세부 밸류에이션 수치는 별도 보고서 반영 예정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504688"/>
            <a:ext cx="8503920" cy="64008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504688"/>
            <a:ext cx="813816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상방 제한 + 하방 지지 = 좁은 등락 반복 → 방향성 베팅보다 변동성 매매가 유리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③ — 레버리지가 키운 변동성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단일종목 레버리지 ETF 급증이 삼성전자·SK하이닉스와 지수 변동성을 구조적으로 키우고 있습니다.</a:t>
            </a:r>
          </a:p>
        </p:txBody>
      </p:sp>
      <p:pic>
        <p:nvPicPr>
          <p:cNvPr id="7" name="Picture 6" descr="lev_a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4160520" cy="2558699"/>
          </a:xfrm>
          <a:prstGeom prst="rect">
            <a:avLst/>
          </a:prstGeom>
        </p:spPr>
      </p:pic>
      <p:pic>
        <p:nvPicPr>
          <p:cNvPr id="8" name="Picture 7" descr="idx_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4160520" cy="25586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변동성이 변동성을 부르는 되먹임 — 두 종목이 KOSPI200의 </a:t>
            </a:r>
            <a:r>
              <a:rPr sz="1300" b="1">
                <a:solidFill>
                  <a:srgbClr val="F58220"/>
                </a:solidFill>
                <a:latin typeface="맑은 고딕"/>
              </a:rPr>
              <a:t>51.5%</a:t>
            </a:r>
            <a:r>
              <a:rPr sz="1200" b="0">
                <a:solidFill>
                  <a:srgbClr val="3A3A3A"/>
                </a:solidFill>
                <a:latin typeface="맑은 고딕"/>
              </a:rPr>
              <a:t> (연초 38.7%→5월)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074920"/>
            <a:ext cx="256032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5074920"/>
            <a:ext cx="256032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9784" y="4892040"/>
            <a:ext cx="173736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③ 레버리지 종가
순응매매(±10%→2.6조)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2008" y="5074920"/>
            <a:ext cx="256032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레버리지의 '잠식'을 우리는 '수익'으로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같은 변동성, 정반대 매매 — 레버리지 ETF가 '잃는' 그 변동성을 본 펀드는 '프리미엄'으로 수취합니다.</a:t>
            </a:r>
          </a:p>
        </p:txBody>
      </p:sp>
      <p:pic>
        <p:nvPicPr>
          <p:cNvPr id="7" name="Picture 6" descr="deca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4389120" cy="269928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685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A3A3A"/>
                </a:solidFill>
                <a:latin typeface="맑은 고딕"/>
              </a:rPr>
              <a:t>매일 고가매수·저가매도(추세 순응 리밸런싱)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3A3A"/>
                </a:solidFill>
                <a:latin typeface="맑은 고딕"/>
              </a:rPr>
              <a:t>→ 변동성이 클수록 자산이 녹는다 (기초 제자리인데 −20%)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본 변동성 매매 펀드 — 변동성을 '수취'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685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43B72"/>
                </a:solidFill>
                <a:latin typeface="맑은 고딕"/>
              </a:rPr>
              <a:t>주가↓ 비중↑(저가매수)·주가↑ 비중↓(고가매도)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3A3A"/>
                </a:solidFill>
                <a:latin typeface="맑은 고딕"/>
              </a:rPr>
              <a:t>→ 확대된 변동성을 프리미엄으로 전환(수익화)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핵심: 레버리지가 '잃는' 바로 그 변동성을, 본 펀드는 '수취'한다.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3A3A3A"/>
                </a:solidFill>
                <a:latin typeface="맑은 고딕"/>
              </a:rPr>
              <a:t>변동성이 클수록(=잠식이 클수록) 본 펀드의 기대 프리미엄은 오히려 커진다.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06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결론 — 변동성↑ × 방향성↓ 국면의 최적해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24128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변동성은 높고 방향성은 제한적인 지금, 변동성 매매 펀드가 가장 잘 맞는 국면입니다.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1645920"/>
            <a:ext cx="3154680" cy="18745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38528" y="1755648"/>
            <a:ext cx="2935224" cy="1655063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변동성 매매 펀드 ★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맑은 고딕"/>
              </a:rPr>
              <a:t>← 현재 국면</a:t>
            </a:r>
          </a:p>
        </p:txBody>
      </p:sp>
      <p:sp>
        <p:nvSpPr>
          <p:cNvPr id="9" name="Rectangle 8"/>
          <p:cNvSpPr/>
          <p:nvPr/>
        </p:nvSpPr>
        <p:spPr>
          <a:xfrm>
            <a:off x="5038344" y="1645920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755648"/>
            <a:ext cx="2935224" cy="1655063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레버리지·추세추종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방향 확신 필요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3575304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38528" y="3685032"/>
            <a:ext cx="2935224" cy="1655063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현금성·채권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관망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38344" y="3575304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072" y="3685032"/>
            <a:ext cx="2935224" cy="1655063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인덱스·방향투자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방향 베팅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645920"/>
            <a:ext cx="105156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변동성 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5129783"/>
            <a:ext cx="105156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변동성 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522975"/>
            <a:ext cx="6364224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← 방향성 약함           방향성 강함 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806440"/>
            <a:ext cx="8503920" cy="603504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06440"/>
            <a:ext cx="8138160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프리미엄은 '수취'하고 방향성 부재 리스크는 '회피' = 변동성 매매 펀드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07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매도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프리미엄은 크고(매도 유리),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매도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시장 변동성을 매도하여 높은 변동성 프리미엄을 수취.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722376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방향 투자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상승 구간 추가 수익. 실적·AI·레버리지 수급의 상방에 베팅.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리스크 관리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최대 편입비 180% 제한 · 급락 시 편입비 축소로 하방 완충.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어떻게 운용하는가 — 저가매수·고가매도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시장이 빠지면 편입을 늘리고(저가매수), 오르면 줄인다(고가매도). 등락(변동성)을 매매로 수취합니다.</a:t>
            </a:r>
          </a:p>
        </p:txBody>
      </p:sp>
      <p:pic>
        <p:nvPicPr>
          <p:cNvPr id="7" name="Picture 6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7425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09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수익 구조 — 성장변동성펀드 (풋매도 + 콜스프레드)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운용 중 -40% 미도달 시 상승에 참여, -40% 도달 시 하방에 노출됩니다. 몬테카를로 동적헤지 시뮬레이션.</a:t>
            </a:r>
          </a:p>
        </p:txBody>
      </p:sp>
      <p:pic>
        <p:nvPicPr>
          <p:cNvPr id="7" name="Picture 6" descr="scat_top2_growth_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4526280" cy="3650039"/>
          </a:xfrm>
          <a:prstGeom prst="rect">
            <a:avLst/>
          </a:prstGeom>
        </p:spPr>
      </p:pic>
      <p:pic>
        <p:nvPicPr>
          <p:cNvPr id="8" name="Picture 7" descr="scat_top2_growth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417320"/>
            <a:ext cx="4526280" cy="36500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989320"/>
            <a:ext cx="8595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σ 60%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옵션복제 시뮬레이터 MC(거래비용·복제오차 포함)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10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수익 구조 — 안정변동성펀드 (풋매도 단독)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보합·상승 구간에서 변동성 프리미엄을 수취(상단 고정), 급락 시 손실이 누적됩니다.</a:t>
            </a:r>
          </a:p>
        </p:txBody>
      </p:sp>
      <p:pic>
        <p:nvPicPr>
          <p:cNvPr id="7" name="Picture 6" descr="scat_top2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463040"/>
            <a:ext cx="7040880" cy="40444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989320"/>
            <a:ext cx="8595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σ 60%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옵션복제 시뮬레이터 MC(거래비용·복제오차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11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변동성 매도 본질상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3A3A3A"/>
                </a:solidFill>
                <a:latin typeface="맑은 고딕"/>
              </a:rPr>
              <a:t>■ 단일종목 집중 위험(AI Top2)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수취 프리미엄이 줄어 기대수익에 미달할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794760"/>
            <a:ext cx="82296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84888B"/>
                </a:solidFill>
                <a:latin typeface="맑은 고딕"/>
              </a:rPr>
              <a:t>삼성전자·SK하이닉스 2종목에 집중되어 개별기업·반도체 사이클 리스크에 크게 노출됩니다.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280160"/>
            <a:ext cx="128016" cy="5029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280160"/>
            <a:ext cx="822960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운용부서 및 유의사항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377440"/>
            <a:ext cx="8229600" cy="1828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00A9CE"/>
                </a:solidFill>
                <a:latin typeface="맑은 고딕"/>
              </a:rPr>
              <a:t>AI금융공학운용부문 전략운용본부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Mission: 투자자 입장에서 장기 플러스 수익 달성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6E5"/>
                </a:solidFill>
                <a:latin typeface="맑은 고딕"/>
              </a:rPr>
              <a:t>정량적 분석과 정성적 리서치의 균형 · One Team Approach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6E5"/>
                </a:solidFill>
                <a:latin typeface="맑은 고딕"/>
              </a:rPr>
              <a:t>커버드콜·국내인덱스+·절대수익·구조화·Custom Mandate 등 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846320"/>
            <a:ext cx="813816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0B26B"/>
                </a:solidFill>
                <a:latin typeface="맑은 고딕"/>
              </a:rPr>
              <a:t>· 본 자료는 컴플라이언스 검토 전 내부 검토용 초안이며 대외 배포를 금합니다.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9D6E5"/>
                </a:solidFill>
                <a:latin typeface="맑은 고딕"/>
              </a:rPr>
              <a:t>· 랩/펀드 계약은 예금자보호법에 따라 보호되지 않으며, 자산가격·환율·신용 변동에 따라 원금손실(0~100%)이 발생할 수 있습니다.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9D6E5"/>
                </a:solidFill>
                <a:latin typeface="맑은 고딕"/>
              </a:rPr>
              <a:t>· 상기 시뮬레이션은 가정에 의거한 예시로 수익을 보장하지 않으며 실제 결과와 다를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33877</TotalTime>
  <Words>2113</Words>
  <Application>Microsoft Office PowerPoint</Application>
  <PresentationFormat>사용자 지정</PresentationFormat>
  <Paragraphs>529</Paragraphs>
  <Slides>14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KoPub돋움체_Pro Bold</vt:lpstr>
      <vt:lpstr>KoPub돋움체_Pro Light</vt:lpstr>
      <vt:lpstr>KoPub돋움체_Pro Medium</vt:lpstr>
      <vt:lpstr>맑은 고딕</vt:lpstr>
      <vt:lpstr>Arial</vt:lpstr>
      <vt:lpstr>Noto Sans</vt:lpstr>
      <vt:lpstr>Wingdings</vt:lpstr>
      <vt:lpstr>1_Office 테마</vt:lpstr>
      <vt:lpstr>변동성매매 자문상품 제안</vt:lpstr>
      <vt:lpstr>상품 개요</vt:lpstr>
      <vt:lpstr>PowerPoint 프레젠테이션</vt:lpstr>
      <vt:lpstr>투자포인트 - 한 눈에 보는 핵심 투자 포인트</vt:lpstr>
      <vt:lpstr>TPRP 6M/3Y : 타겟 프리미엄 풋 매도 페이오프 복제 구조의 상품</vt:lpstr>
      <vt:lpstr>TPRP 6M/3Y : 타겟 프리미엄 풋 매도 페이오프 복제 구조의 상품</vt:lpstr>
      <vt:lpstr>일별 운용 프로세스: 변동성 예측 → 행사가 산출 → 델타 헤지</vt:lpstr>
      <vt:lpstr>PowerPoint 프레젠테이션</vt:lpstr>
      <vt:lpstr>시뮬레이션 및 운용 성과</vt:lpstr>
      <vt:lpstr>시뮬레이션 및 운용 성과</vt:lpstr>
      <vt:lpstr>시뮬레이션 및 운용 성과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Microsoft Corporation</dc:creator>
  <cp:lastModifiedBy>Lee, Hyun Kyung (이현경)</cp:lastModifiedBy>
  <cp:revision>7208</cp:revision>
  <cp:lastPrinted>2026-05-13T07:18:25Z</cp:lastPrinted>
  <dcterms:created xsi:type="dcterms:W3CDTF">2006-10-05T04:04:58Z</dcterms:created>
  <dcterms:modified xsi:type="dcterms:W3CDTF">2026-07-10T08:32:51Z</dcterms:modified>
</cp:coreProperties>
</file>