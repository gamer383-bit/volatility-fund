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923" r:id="rId1"/>
  </p:sldMasterIdLst>
  <p:notesMasterIdLst>
    <p:notesMasterId r:id="rId16"/>
  </p:notesMasterIdLst>
  <p:handoutMasterIdLst>
    <p:handoutMasterId r:id="rId17"/>
  </p:handoutMasterIdLst>
  <p:sldIdLst>
    <p:sldId id="1031" r:id="rId2"/>
    <p:sldId id="1032" r:id="rId9"/>
    <p:sldId id="1033" r:id="rId10"/>
    <p:sldId id="1034" r:id="rId11"/>
    <p:sldId id="1035" r:id="rId12"/>
    <p:sldId id="1036" r:id="rId13"/>
    <p:sldId id="1037" r:id="rId14"/>
    <p:sldId id="1038" r:id="rId15"/>
    <p:sldId id="1039" r:id="rId8"/>
    <p:sldId id="1040" r:id="rId7"/>
    <p:sldId id="1041" r:id="rId6"/>
    <p:sldId id="1042" r:id="rId5"/>
    <p:sldId id="1043" r:id="rId4"/>
  </p:sldIdLst>
  <p:sldSz cx="9904413" cy="6858000"/>
  <p:notesSz cx="6797675" cy="987266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3119">
          <p15:clr>
            <a:srgbClr val="A4A3A4"/>
          </p15:clr>
        </p15:guide>
        <p15:guide id="3" pos="307" userDrawn="1">
          <p15:clr>
            <a:srgbClr val="A4A3A4"/>
          </p15:clr>
        </p15:guide>
        <p15:guide id="4" pos="59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9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CC"/>
    <a:srgbClr val="F58220"/>
    <a:srgbClr val="E12F00"/>
    <a:srgbClr val="043B72"/>
    <a:srgbClr val="F0B26B"/>
    <a:srgbClr val="00A9CE"/>
    <a:srgbClr val="93CDDD"/>
    <a:srgbClr val="7F7F7F"/>
    <a:srgbClr val="4BAC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0" autoAdjust="0"/>
    <p:restoredTop sz="94994" autoAdjust="0"/>
  </p:normalViewPr>
  <p:slideViewPr>
    <p:cSldViewPr>
      <p:cViewPr varScale="1">
        <p:scale>
          <a:sx n="153" d="100"/>
          <a:sy n="153" d="100"/>
        </p:scale>
        <p:origin x="1696" y="84"/>
      </p:cViewPr>
      <p:guideLst>
        <p:guide orient="horz" pos="3884"/>
        <p:guide pos="3119"/>
        <p:guide pos="307"/>
        <p:guide pos="59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70" d="100"/>
        <a:sy n="17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3216" y="54"/>
      </p:cViewPr>
      <p:guideLst>
        <p:guide orient="horz" pos="3109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13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735719FC-6980-45D2-A421-C78AB20FED1D}" type="datetimeFigureOut">
              <a:rPr lang="ko-KR" altLang="en-US"/>
              <a:pPr>
                <a:defRPr/>
              </a:pPr>
              <a:t>2026-07-10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1A606278-47B9-4B65-827D-ED84C97ABE3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A437B7B-6770-4EF1-8899-2D7731B1B79F}" type="datetimeFigureOut">
              <a:rPr lang="ko-KR" altLang="en-US"/>
              <a:pPr>
                <a:defRPr/>
              </a:pPr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41363"/>
            <a:ext cx="53467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8" tIns="45568" rIns="91138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689239"/>
            <a:ext cx="5438775" cy="4442935"/>
          </a:xfrm>
          <a:prstGeom prst="rect">
            <a:avLst/>
          </a:prstGeom>
        </p:spPr>
        <p:txBody>
          <a:bodyPr vert="horz" lIns="91138" tIns="45568" rIns="91138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9DF11654-0CFB-44F3-B93D-CBFACCFEA8D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6975" y="5654675"/>
            <a:ext cx="1976438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1825" y="5926138"/>
            <a:ext cx="6767513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407150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84938" y="4799013"/>
            <a:ext cx="3419475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1825" y="3937000"/>
            <a:ext cx="73342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31724" y="194071"/>
            <a:ext cx="5039193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724" y="1264982"/>
            <a:ext cx="5219164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9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31724" y="2874353"/>
            <a:ext cx="5219164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31724" y="4214169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31724" y="4474323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89700" y="838200"/>
            <a:ext cx="3424238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9196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3"/>
            <a:ext cx="990600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8213" y="757238"/>
            <a:ext cx="1309687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9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9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285" y="1725715"/>
            <a:ext cx="8460019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950" marR="0" indent="-251950" algn="l" defTabSz="457109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529" indent="136498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1473665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857" y="3143391"/>
            <a:ext cx="8458645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245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3713" y="6494463"/>
            <a:ext cx="4543425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8950" y="896938"/>
            <a:ext cx="89265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51600" y="6494463"/>
            <a:ext cx="2963863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9425" y="6359525"/>
            <a:ext cx="89455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8922" y="1031108"/>
            <a:ext cx="892657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109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109" indent="0">
              <a:buFontTx/>
              <a:buNone/>
              <a:defRPr sz="2000">
                <a:latin typeface="Noto Sans"/>
                <a:cs typeface="Noto Sans"/>
              </a:defRPr>
            </a:lvl2pPr>
            <a:lvl3pPr marL="914217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326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434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11" y="567302"/>
            <a:ext cx="6478962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46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8150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831" y="2935288"/>
            <a:ext cx="8418751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8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0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0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05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0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08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10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1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13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57466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4600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7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302338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24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6210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983054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25183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64677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9601" y="6497276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100" y="859732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100" y="6363137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927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5147" r:id="rId1"/>
    <p:sldLayoutId id="2147485149" r:id="rId2"/>
    <p:sldLayoutId id="2147485145" r:id="rId3"/>
    <p:sldLayoutId id="2147485150" r:id="rId4"/>
    <p:sldLayoutId id="2147485152" r:id="rId5"/>
    <p:sldLayoutId id="2147485154" r:id="rId6"/>
    <p:sldLayoutId id="2147485155" r:id="rId7"/>
    <p:sldLayoutId id="2147485156" r:id="rId8"/>
    <p:sldLayoutId id="2147485157" r:id="rId9"/>
  </p:sldLayoutIdLst>
  <p:txStyles>
    <p:titleStyle>
      <a:lvl1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72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44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716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88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7013" indent="-227013" algn="l" defTabSz="912813" rtl="0" eaLnBrk="0" fontAlgn="base" latinLnBrk="1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42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097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8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1825" y="1447800"/>
            <a:ext cx="5472509" cy="4308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800" dirty="0"/>
              <a:t>KOSPI 변동성 매매 펀드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1825" y="4214813"/>
            <a:ext cx="4498975" cy="184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전략운용본부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1825" y="4473575"/>
            <a:ext cx="4498975" cy="1857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ko-KR" dirty="0"/>
              <a:t>2026.05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69494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매매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편입비를 시장 상황에 따라 조절하여 높은 변동성 프리미엄을 수취하고 상승 방향에 참여하는 변동성 매매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변동성 매도로 프리미엄 수취 + 상승 방향 참여 · 최대 편입비 180% 제한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안정변동성펀드(풋매도 단독) / 성장변동성펀드(풋매도 + 콜스프레드)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1등급 (매우 높은 위험) · 적극투자형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3천만원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최근 한국시장 변동성이 5년 내 최고 수준(99.7%ile). 변동성이 클수록 변동성 매매로 수취하는 프리미엄이 커집니다.</a:t>
            </a:r>
          </a:p>
        </p:txBody>
      </p:sp>
      <p:pic>
        <p:nvPicPr>
          <p:cNvPr id="7" name="Picture 6" descr="vol_kospi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869680" cy="40081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'수취'하기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KOSPI 저평가 — 글로벌 대비 낮은 PER·PBR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'수익'으로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'프리미엄'으로 수취합니다.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변동성 매매 펀드 — 변동성을 '수취'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프리미엄으로 전환(수익화)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'수취'한다.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기대 프리미엄은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매매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매매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프리미엄은 '수취'하고 방향성 부재 리스크는 '회피' = 변동성 매매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매도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프리미엄은 크고(매도 유리),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매도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시장 변동성을 매도하여 높은 변동성 프리미엄을 수취.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(풋매도 + 콜스프레드)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몬테카를로 동적헤지 시뮬레이션.</a:t>
            </a:r>
          </a:p>
        </p:txBody>
      </p:sp>
      <p:pic>
        <p:nvPicPr>
          <p:cNvPr id="7" name="Picture 6" descr="scat_kospi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0039"/>
          </a:xfrm>
          <a:prstGeom prst="rect">
            <a:avLst/>
          </a:prstGeom>
        </p:spPr>
      </p:pic>
      <p:pic>
        <p:nvPicPr>
          <p:cNvPr id="8" name="Picture 7" descr="scat_kospi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0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옵션복제 시뮬레이터 MC(거래비용·복제오차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(풋매도 단독)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프리미엄을 수취(상단 고정), 급락 시 손실이 누적됩니다.</a:t>
            </a:r>
          </a:p>
        </p:txBody>
      </p:sp>
      <p:pic>
        <p:nvPicPr>
          <p:cNvPr id="7" name="Picture 6" descr="scat_kospi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옵션복제 시뮬레이터 MC(거래비용·복제오차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변동성 매도 본질상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수취 프리미엄이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4413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33877</TotalTime>
  <Words>2113</Words>
  <Application>Microsoft Office PowerPoint</Application>
  <PresentationFormat>사용자 지정</PresentationFormat>
  <Paragraphs>529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Wingdings</vt:lpstr>
      <vt:lpstr>1_Office 테마</vt:lpstr>
      <vt:lpstr>변동성매매 자문상품 제안</vt:lpstr>
      <vt:lpstr>상품 개요</vt:lpstr>
      <vt:lpstr>PowerPoint 프레젠테이션</vt:lpstr>
      <vt:lpstr>투자포인트 - 한 눈에 보는 핵심 투자 포인트</vt:lpstr>
      <vt:lpstr>TPRP 6M/3Y : 타겟 프리미엄 풋 매도 페이오프 복제 구조의 상품</vt:lpstr>
      <vt:lpstr>TPRP 6M/3Y : 타겟 프리미엄 풋 매도 페이오프 복제 구조의 상품</vt:lpstr>
      <vt:lpstr>일별 운용 프로세스: 변동성 예측 → 행사가 산출 → 델타 헤지</vt:lpstr>
      <vt:lpstr>PowerPoint 프레젠테이션</vt:lpstr>
      <vt:lpstr>시뮬레이션 및 운용 성과</vt:lpstr>
      <vt:lpstr>시뮬레이션 및 운용 성과</vt:lpstr>
      <vt:lpstr>시뮬레이션 및 운용 성과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Microsoft Corporation</dc:creator>
  <cp:lastModifiedBy>Lee, Hyun Kyung (이현경)</cp:lastModifiedBy>
  <cp:revision>7208</cp:revision>
  <cp:lastPrinted>2026-05-13T07:18:25Z</cp:lastPrinted>
  <dcterms:created xsi:type="dcterms:W3CDTF">2006-10-05T04:04:58Z</dcterms:created>
  <dcterms:modified xsi:type="dcterms:W3CDTF">2026-07-10T08:32:51Z</dcterms:modified>
</cp:coreProperties>
</file>