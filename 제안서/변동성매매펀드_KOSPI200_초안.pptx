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875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987552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9CE"/>
                </a:solidFill>
                <a:latin typeface="맑은 고딕"/>
              </a:rPr>
              <a:t>미래에셋자산운용  AI금융공학운용부문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8778240" cy="1280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변동성 매매 펀드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F0B26B"/>
                </a:solidFill>
                <a:latin typeface="맑은 고딕"/>
              </a:rPr>
              <a:t>KOSPI200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8229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9D6E5"/>
                </a:solidFill>
                <a:latin typeface="맑은 고딕"/>
              </a:rPr>
              <a:t>현물 델타헤지로 옵션 페이오프를 복제하는 변동성 매매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4888B"/>
                </a:solidFill>
                <a:latin typeface="맑은 고딕"/>
              </a:rPr>
              <a:t>2026.07  |  내부 검토용 초안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85953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0B26B"/>
                </a:solidFill>
                <a:latin typeface="맑은 고딕"/>
              </a:rPr>
              <a:t>미래에셋자산운용 컴플라이언스 검토 전 초안 — 대외 배포 금지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01 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상품 개요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71600"/>
          <a:ext cx="8503920" cy="4425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694944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  분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  용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명  칭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미래에셋 변동성 매매 펀드 — KOSPI200 (가칭)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개  요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기초자산 현물 편입비를 동적으로 조절(델타헤지)하여 옵션 페이오프를 복제, 높은 변동성 프리미엄을 수취하고 상승 방향에 참여하는 전략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기초자산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코스피200 지수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가정 변동성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연 50% (최근 실현변동성 대비 보수적 가정)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운용 전략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ATM/OTM 옵션 페이오프의 동적 델타헤지 복제 · 최대 편입비 180% 제한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유형 구분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안정형(ATM 풋 매도) / 적극형(풋 매도 + 콜 스프레드)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상품 유형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국내 주식형 파생 (사모 · 일임)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투자 등급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1등급 (매우 높은 위험) · 적극투자형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만  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1년 (예시) · 일별 리밸런싱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최저가입금액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3천만원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989320"/>
            <a:ext cx="8595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4888B"/>
                </a:solidFill>
                <a:latin typeface="맑은 고딕"/>
              </a:rPr>
              <a:t>※ 원금 손실(0~100%)이 발생할 수 있으며 손실은 투자자에게 귀속됩니다. 예금자보호법 적용 대상이 아닙니다.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02 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수익 구조 — 안정형(ATM 풋 매도)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429768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1737360"/>
                <a:gridCol w="118872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만기 지수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펀드 수익률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시나리오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60%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-20.7%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급락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70%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-10.7%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급락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80%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-0.7%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하락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90%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+9.3%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하락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+19.3%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보합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110%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+19.3%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보합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120%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+19.3%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상승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130%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+19.3%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상승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140%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+19.3%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급등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150%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+19.3%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급등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0" y="155448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043B72"/>
                </a:solidFill>
                <a:latin typeface="맑은 고딕"/>
              </a:rPr>
              <a:t>● 보합·상승 시 변동성 프리미엄 19.3%를 전액 확보 (상단 고정)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기초자산이 행사가(100%) 이상에서 만기 → 최대 수익 19.3%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D02F00"/>
                </a:solidFill>
                <a:latin typeface="맑은 고딕"/>
              </a:rPr>
              <a:t>● 하락 시 행사가 이하부터 손실이 누적 (풋 매도의 본질)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예: 지수 -20% → 약 -0.7% (지수 80% 기준)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F58220"/>
                </a:solidFill>
                <a:latin typeface="맑은 고딕"/>
              </a:rPr>
              <a:t>● 변동성이 높을수록 수취 프리미엄(=최대수익)이 커짐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00A9CE"/>
                </a:solidFill>
                <a:latin typeface="맑은 고딕"/>
              </a:rPr>
              <a:t>● 현물 델타헤지로 복제 → 옵션 직접매도 대비 증거금·유동성 제약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5212080"/>
            <a:ext cx="402336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4888B"/>
                </a:solidFill>
                <a:latin typeface="맑은 고딕"/>
              </a:rPr>
              <a:t>가정: T=1년, r=3%, q=2%, σ=</a:t>
            </a:r>
            <a:r>
              <a:rPr sz="1000" b="1">
                <a:solidFill>
                  <a:srgbClr val="F58220"/>
                </a:solidFill>
                <a:latin typeface="맑은 고딕"/>
              </a:rPr>
              <a:t>50%</a:t>
            </a:r>
            <a:r>
              <a:rPr sz="1000" b="0">
                <a:solidFill>
                  <a:srgbClr val="84888B"/>
                </a:solidFill>
                <a:latin typeface="맑은 고딕"/>
              </a:rPr>
              <a:t>. 이론 페이오프 기준이며 동적헤지 복제오차·거래비용은 별도.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03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왜 지금 이 상품인가 ① — 역대급 변동성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85953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한국시장 변동성이 최근 5년 중 최고 수준(99%ile). 변동성이 클수록 매도 프리미엄이 커집니다.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4480560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097280"/>
                <a:gridCol w="960120"/>
                <a:gridCol w="86868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기초자산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최근 60일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5년 평균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현재 백분위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코스피200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61.9%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18.6%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99.7%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삼성전자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76.9%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25.3%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99.7%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SK하이닉스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90.2%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37.3%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99.6%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AI Top2(5:5)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79.2%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28.4%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99.7%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429000"/>
            <a:ext cx="448056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4888B"/>
                </a:solidFill>
                <a:latin typeface="맑은 고딕"/>
              </a:rPr>
              <a:t>연율화 실현변동성 · 데이터: 최근 5년 주가(2021~2026)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645920"/>
            <a:ext cx="3840480" cy="2103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737360"/>
            <a:ext cx="3520440" cy="1965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043B72"/>
                </a:solidFill>
                <a:latin typeface="맑은 고딕"/>
              </a:rPr>
              <a:t>변동성을 키운 구조적 원인: 단일종목 레버리지 ETF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3A3A"/>
                </a:solidFill>
                <a:latin typeface="맑은 고딕"/>
              </a:rPr>
              <a:t>삼성전자·SK하이닉스 단일종목 레버리지 ETF 급증 </a:t>
            </a:r>
            <a:r>
              <a:rPr sz="1050" b="1">
                <a:solidFill>
                  <a:srgbClr val="F58220"/>
                </a:solidFill>
                <a:latin typeface="맑은 고딕"/>
              </a:rPr>
              <a:t>(합산 AUM 13.1조원)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3A3A"/>
                </a:solidFill>
                <a:latin typeface="맑은 고딕"/>
              </a:rPr>
              <a:t>두 종목이 KOSPI200의 </a:t>
            </a:r>
            <a:r>
              <a:rPr sz="1050" b="1">
                <a:solidFill>
                  <a:srgbClr val="F58220"/>
                </a:solidFill>
                <a:latin typeface="맑은 고딕"/>
              </a:rPr>
              <a:t>51.5%</a:t>
            </a:r>
            <a:r>
              <a:rPr sz="1050" b="0">
                <a:solidFill>
                  <a:srgbClr val="3A3A3A"/>
                </a:solidFill>
                <a:latin typeface="맑은 고딕"/>
              </a:rPr>
              <a:t> (연초 38.7%→5월)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3A3A3A"/>
                </a:solidFill>
                <a:latin typeface="맑은 고딕"/>
              </a:rPr>
              <a:t>2배 상품이 오른 날 더 사고 내린 날 더 파는 </a:t>
            </a:r>
            <a:r>
              <a:rPr sz="1050" b="1">
                <a:solidFill>
                  <a:srgbClr val="043B72"/>
                </a:solidFill>
                <a:latin typeface="맑은 고딕"/>
              </a:rPr>
              <a:t>종가 순응매매(+10%일 2.6조)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58220"/>
                </a:solidFill>
                <a:latin typeface="맑은 고딕"/>
              </a:rPr>
              <a:t>→ 변동성이 변동성을 부르는 되먹임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77639"/>
            <a:ext cx="8503920" cy="2103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81381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43B72"/>
                </a:solidFill>
                <a:latin typeface="맑은 고딕"/>
              </a:rPr>
              <a:t>레버리지 ETF가 '잃는' 변동성을, 본 전략은 '수취'한다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72000"/>
            <a:ext cx="8138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D02F00"/>
                </a:solidFill>
                <a:latin typeface="맑은 고딕"/>
              </a:rPr>
              <a:t>▶ 레버리지 ETF: 고가매수·저가매도로 변동성 잠식(Volatility Decay) — 실제 KODEX SK하이닉스레버리지는 7월 5거래일 만에 −20.3%(기초 −3.2% 제자리)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043B72"/>
                </a:solidFill>
                <a:latin typeface="맑은 고딕"/>
              </a:rPr>
              <a:t>▶ 본 전략(변동성 매도 복제): 주가↓ 비중↑(저가매수)·주가↑ 비중↓(고가매도) — 확대된 변동성을 프리미엄으로 수취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3A3A3A"/>
                </a:solidFill>
                <a:latin typeface="맑은 고딕"/>
              </a:rPr>
              <a:t>▶ 변동성 확대 = 옵션 프리미엄 확대 → 변동성 매도 전략의 기대수익 극대화 구간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04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왜 지금 이 상품인가 ② — 제한적인 하방 위험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8595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A3A3A"/>
                </a:solidFill>
                <a:latin typeface="맑은 고딕"/>
              </a:rPr>
              <a:t>삼성전자·SK하이닉스의 실적 개선과 AI 투자 사이클이 급격한 하락을 제한합니다.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2697480" cy="2743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2697480" cy="50292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84831"/>
            <a:ext cx="24688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실적(영업이익) 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97480"/>
            <a:ext cx="2377440" cy="1920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HBM·메모리 업사이클과 가격 반등으로 반도체 대형주 영업이익이 구조적으로 개선. 이익 기반이 밸류에이션 하단을 지지.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011680"/>
            <a:ext cx="2697480" cy="2743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011680"/>
            <a:ext cx="2697480" cy="50292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084831"/>
            <a:ext cx="24688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AI 투자 슈퍼사이클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697480"/>
            <a:ext cx="2377440" cy="1920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글로벌 AI 데이터센터·가속기 수요로 국내 메모리 2사가 핵심 수혜. 설비·R&amp;D 투자 확대가 중장기 성장 동력.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011680"/>
            <a:ext cx="2697480" cy="27432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2011680"/>
            <a:ext cx="2697480" cy="50292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84831"/>
            <a:ext cx="246888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수급·방향성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697480"/>
            <a:ext cx="2377440" cy="1920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단일종목 레버리지 ETF 13.1조 유입 + 오른 날 더 사는 종가 순응매매로 상방 모멘텀 강화. 두 종목이 KOSPI200의 51.5%.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074920"/>
            <a:ext cx="8503920" cy="96012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93792"/>
            <a:ext cx="813816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8220"/>
                </a:solidFill>
                <a:latin typeface="맑은 고딕"/>
              </a:rPr>
              <a:t>결론: </a:t>
            </a:r>
            <a:r>
              <a:rPr sz="1300" b="1">
                <a:solidFill>
                  <a:srgbClr val="3A3A3A"/>
                </a:solidFill>
                <a:latin typeface="맑은 고딕"/>
              </a:rPr>
              <a:t>하락이 제한적이라면, ATM 풋 매도로 높은 변동성 프리미엄을 수취하는 것이 유리하다.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84888B"/>
                </a:solidFill>
                <a:latin typeface="맑은 고딕"/>
              </a:rPr>
              <a:t>다만 단일종목·지수 고유의 하방 위험은 상존하므로 배리어·편입비 제한 등 리스크 관리를 병행한다.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05 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전략 — 변동성 매도 + 방향 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85953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변동성이 높아 프리미엄은 크고(매도 유리), 방향은 위(상승 참여)라는 두 관점을 하나의 포트폴리오에 결합.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822960" cy="105156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822960" cy="10515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196596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075688"/>
            <a:ext cx="722376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43B72"/>
                </a:solidFill>
                <a:latin typeface="맑은 고딕"/>
              </a:rPr>
              <a:t>변동성 매도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ATM 풋 매도 페이오프를 현물 델타헤지로 복제. 높은 변동성 프리미엄을 수취.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00400"/>
            <a:ext cx="822960" cy="10515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822960" cy="10515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320040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722376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8220"/>
                </a:solidFill>
                <a:latin typeface="맑은 고딕"/>
              </a:rPr>
              <a:t>방향 투자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콜 스프레드 매수로 상승 구간 추가 수익. 실적·AI·레버리지 수급의 상방에 베팅.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434840"/>
            <a:ext cx="822960" cy="1051560"/>
          </a:xfrm>
          <a:prstGeom prst="rect">
            <a:avLst/>
          </a:prstGeom>
          <a:solidFill>
            <a:srgbClr val="00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822960" cy="10515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43484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4544568"/>
            <a:ext cx="722376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A9CE"/>
                </a:solidFill>
                <a:latin typeface="맑은 고딕"/>
              </a:rPr>
              <a:t>리스크 관리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최대 편입비 180% 제한 · (옵션) 낙아웃 풋으로 급락 시 하방 완충.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06 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투자 유형 — 적극형 / 안정형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20624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43B72"/>
                </a:solidFill>
                <a:latin typeface="맑은 고딕"/>
              </a:rPr>
              <a:t>안정형 (변동성 안정 투자용)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42062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4888B"/>
                </a:solidFill>
                <a:latin typeface="맑은 고딕"/>
              </a:rPr>
              <a:t>ATM 풋 매도 단독 · 프리미엄 수취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965960"/>
          <a:ext cx="4023360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0116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만기지수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수익률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60%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-20.7%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70%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-10.7%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80%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-0.7%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90%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+9.3%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+19.3%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110%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+19.3%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120%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+19.3%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130%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+19.3%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140%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+19.3%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150%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+19.3%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120640" y="1325880"/>
            <a:ext cx="420624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8220"/>
                </a:solidFill>
                <a:latin typeface="맑은 고딕"/>
              </a:rPr>
              <a:t>적극형 (변동성 적극 투자용)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645920"/>
            <a:ext cx="42062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4888B"/>
                </a:solidFill>
                <a:latin typeface="맑은 고딕"/>
              </a:rPr>
              <a:t>풋 매도 + 콜 스프레드 · 프리미엄+상방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20640" y="1965960"/>
          <a:ext cx="4023360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20116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만기지수</a:t>
                      </a:r>
                    </a:p>
                  </a:txBody>
                  <a:tcPr marL="63500" marR="63500" marT="12700" marB="12700" anchor="ctr">
                    <a:solidFill>
                      <a:srgbClr val="F58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수익률</a:t>
                      </a:r>
                    </a:p>
                  </a:txBody>
                  <a:tcPr marL="63500" marR="63500" marT="12700" marB="12700" anchor="ctr">
                    <a:solidFill>
                      <a:srgbClr val="F5822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60%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-28.2%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70%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-18.2%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80%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-8.2%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90%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+1.8%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+11.8%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110%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+11.8%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120%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+21.8%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130%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+31.8%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140%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+41.8%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3A3A3A"/>
                          </a:solidFill>
                          <a:latin typeface="맑은 고딕"/>
                        </a:rPr>
                        <a:t>150%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A3A3A"/>
                          </a:solidFill>
                          <a:latin typeface="맑은 고딕"/>
                        </a:rPr>
                        <a:t>+41.8%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이론 페이오프(원금대비 %) 예시. σ=50%, T=1년 가정. 동적헤지 복제오차·거래비용 별도. 실제와 다를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07 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리스크 및 유의사항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8503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043B72"/>
                </a:solidFill>
                <a:latin typeface="맑은 고딕"/>
              </a:rPr>
              <a:t>■ 하방 손실 위험 (최대 위험요소): 풋 매도 본질상 기초자산 급락 시 손실이 누적되며 원금의 상당 부분 손실이 가능합니다.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동적헤지 복제오차: 이산 리밸런싱·급변동·갭 하락 시 이론 페이오프와 실현손익이 크게 벌어질 수 있습니다(시뮬레이션상 이탈 사례 확인).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편입비 상한(180%) 효과: 배리어 근처 델타 급등 구간에서 완전복제가 제한되어 추가 오차가 발생할 수 있습니다.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낙아웃 리스크(적극형 옵션): 배리어 터치 시 하방보호가 소멸(델타=0)하여 이후 하락에 노출됩니다.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지수 변동·시장 위험: 시장 전반의 급락 국면에서 손실이 발생할 수 있습니다.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변동성 축소 위험: 시장 변동성이 가정보다 낮아지면 수취 프리미엄이 줄어 기대수익에 미달할 수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74920"/>
            <a:ext cx="8503920" cy="960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8138160" cy="777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D02F00"/>
                </a:solidFill>
                <a:latin typeface="맑은 고딕"/>
              </a:rPr>
              <a:t>본 상품은 1등급(매우 높은 위험) 상품으로 원금의 전부(0~100%) 손실이 발생할 수 있으며, 그 손실은 투자자에게 귀속됩니다.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4888B"/>
                </a:solidFill>
                <a:latin typeface="맑은 고딕"/>
              </a:rPr>
              <a:t>투자 전 상품설명서·약관·계약권유문서를 반드시 확인하시기 바랍니다.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128016" cy="50292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80160"/>
            <a:ext cx="82296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운용부서 및 유의사항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8229600" cy="1828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0A9CE"/>
                </a:solidFill>
                <a:latin typeface="맑은 고딕"/>
              </a:rPr>
              <a:t>AI금융공학운용부문 전략운용본부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Mission: 투자자 입장에서 장기 플러스 수익 달성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9D6E5"/>
                </a:solidFill>
                <a:latin typeface="맑은 고딕"/>
              </a:rPr>
              <a:t>정량적 분석과 정성적 리서치의 균형 · One Team Approach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9D6E5"/>
                </a:solidFill>
                <a:latin typeface="맑은 고딕"/>
              </a:rPr>
              <a:t>커버드콜·국내인덱스+·절대수익·구조화·Custom Mandate 등 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846320"/>
            <a:ext cx="813816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0B26B"/>
                </a:solidFill>
                <a:latin typeface="맑은 고딕"/>
              </a:rPr>
              <a:t>· 본 자료는 컴플라이언스 검토 전 내부 검토용 초안이며 대외 배포를 금합니다.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C9D6E5"/>
                </a:solidFill>
                <a:latin typeface="맑은 고딕"/>
              </a:rPr>
              <a:t>· 랩/펀드 계약은 예금자보호법에 따라 보호되지 않으며, 자산가격·환율·신용 변동에 따라 원금손실(0~100%)이 발생할 수 있습니다.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C9D6E5"/>
                </a:solidFill>
                <a:latin typeface="맑은 고딕"/>
              </a:rPr>
              <a:t>· 상기 시뮬레이션은 가정에 의거한 예시로 수익을 보장하지 않으며 실제 결과와 다를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