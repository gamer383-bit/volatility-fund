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1" r:id="rId2"/>
  </p:sldMasterIdLst>
  <p:notesMasterIdLst>
    <p:notesMasterId r:id="rId15"/>
  </p:notesMasterIdLst>
  <p:sldIdLst>
    <p:sldId id="1032" r:id="rId3"/>
    <p:sldId id="257" r:id="rId4"/>
    <p:sldId id="258" r:id="rId5"/>
    <p:sldId id="259" r:id="rId6"/>
    <p:sldId id="1038" r:id="rId7"/>
    <p:sldId id="1039" r:id="rId8"/>
    <p:sldId id="261" r:id="rId9"/>
    <p:sldId id="263" r:id="rId10"/>
    <p:sldId id="264" r:id="rId11"/>
    <p:sldId id="265" r:id="rId12"/>
    <p:sldId id="266" r:id="rId13"/>
    <p:sldId id="267" r:id="rId14"/>
  </p:sldIdLst>
  <p:sldSz cx="98758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514"/>
    <p:restoredTop sz="94556"/>
  </p:normalViewPr>
  <p:slideViewPr>
    <p:cSldViewPr snapToGrid="0" snapToObjects="1">
      <p:cViewPr varScale="1">
        <p:scale>
          <a:sx n="114" d="100"/>
          <a:sy n="114" d="100"/>
        </p:scale>
        <p:origin x="1368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9EAE46-2B9A-4D90-9A88-1920B1FB6996}" type="datetimeFigureOut">
              <a:rPr lang="ko-KR" altLang="en-US" smtClean="0"/>
              <a:t>2026. 7. 15.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6500" y="1143000"/>
            <a:ext cx="44450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6B6A72-4F74-4004-8AC3-811B4729AC3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82869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defTabSz="910194" latinLnBrk="0">
              <a:defRPr/>
            </a:pPr>
            <a:r>
              <a:rPr lang="ko-KR" altLang="ko-KR" dirty="0">
                <a:latin typeface="Arial" pitchFamily="34" charset="0"/>
                <a:ea typeface="MS PGothic" pitchFamily="34" charset="-128"/>
              </a:rPr>
              <a:t>안녕하십니까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, 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미래에셋자산운용 입니다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. </a:t>
            </a:r>
            <a:r>
              <a:rPr lang="ko-KR" altLang="ko-KR" dirty="0" err="1">
                <a:latin typeface="Arial" pitchFamily="34" charset="0"/>
                <a:ea typeface="MS PGothic" pitchFamily="34" charset="-128"/>
              </a:rPr>
              <a:t>미래에셋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 </a:t>
            </a:r>
            <a:r>
              <a:rPr lang="ko-KR" altLang="en-US" dirty="0">
                <a:latin typeface="Arial" pitchFamily="34" charset="0"/>
                <a:ea typeface="MS PGothic" pitchFamily="34" charset="-128"/>
              </a:rPr>
              <a:t>밸런스알파플러스 증권자투자신탁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(</a:t>
            </a:r>
            <a:r>
              <a:rPr lang="ko-KR" altLang="en-US" dirty="0" err="1">
                <a:latin typeface="Arial" pitchFamily="34" charset="0"/>
                <a:ea typeface="MS PGothic" pitchFamily="34" charset="-128"/>
              </a:rPr>
              <a:t>채권혼합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) </a:t>
            </a:r>
            <a:r>
              <a:rPr lang="ko-KR" altLang="en-US" dirty="0">
                <a:latin typeface="Arial" pitchFamily="34" charset="0"/>
                <a:ea typeface="MS PGothic" pitchFamily="34" charset="-128"/>
              </a:rPr>
              <a:t>에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 대해서 설명 드리겠습니다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. 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본 교육에는 상품에 대한 모든 내용을 포함하고 있지 않으며 향후 변경 가능한 내용도 있으므로 상품 판매 전 해당 상품의 투자설명서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, </a:t>
            </a:r>
            <a:r>
              <a:rPr lang="ko-KR" altLang="ko-KR" dirty="0">
                <a:latin typeface="Arial" pitchFamily="34" charset="0"/>
                <a:ea typeface="MS PGothic" pitchFamily="34" charset="-128"/>
              </a:rPr>
              <a:t>제안서 등 정식 자료를 꼭 숙지하시기 바랍니다</a:t>
            </a:r>
            <a:r>
              <a:rPr lang="en-US" altLang="ko-KR" dirty="0">
                <a:latin typeface="Arial" pitchFamily="34" charset="0"/>
                <a:ea typeface="MS PGothic" pitchFamily="34" charset="-128"/>
              </a:rPr>
              <a:t>. </a:t>
            </a:r>
            <a:endParaRPr lang="ko-KR" altLang="en-US" dirty="0"/>
          </a:p>
          <a:p>
            <a:endParaRPr lang="ko-KR" altLang="en-US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DF11654-0CFB-44F3-B93D-CBFACCFEA8D0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90956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Typ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5201" y="5654675"/>
            <a:ext cx="1970736" cy="788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Slide Number Placeholder 5"/>
          <p:cNvSpPr txBox="1">
            <a:spLocks/>
          </p:cNvSpPr>
          <p:nvPr userDrawn="1"/>
        </p:nvSpPr>
        <p:spPr>
          <a:xfrm>
            <a:off x="630003" y="5926138"/>
            <a:ext cx="6747988" cy="44291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defRPr/>
            </a:pP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자료는 </a:t>
            </a:r>
            <a:r>
              <a:rPr lang="ko-KR" altLang="en-US" sz="798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미래에셋자산운용이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 제작한 것이며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투자권유를 위한 광고물로 활용될 수 없고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, 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투자자에게 배포될 수 없습니다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본 자료에 수록된 내용은 신뢰할만한 자료 </a:t>
            </a:r>
            <a:b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</a:b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및 정보로부터 얻어진 것이나 당사는 그 정확성이나 안정성을 보장할 수 없습니다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 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따라서 어떠한 경우에도 본 자료는 고객의 투자 결과에 대한 법적 책임소재에 대한 증빙자료로 사용될 수 없습니다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/>
              </a:rPr>
              <a:t>.</a:t>
            </a:r>
          </a:p>
        </p:txBody>
      </p:sp>
      <p:sp>
        <p:nvSpPr>
          <p:cNvPr id="10" name="직사각형 9"/>
          <p:cNvSpPr/>
          <p:nvPr userDrawn="1"/>
        </p:nvSpPr>
        <p:spPr>
          <a:xfrm>
            <a:off x="0" y="838200"/>
            <a:ext cx="6388665" cy="4140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795">
              <a:solidFill>
                <a:srgbClr val="F58220"/>
              </a:solidFill>
            </a:endParaRPr>
          </a:p>
        </p:txBody>
      </p:sp>
      <p:sp>
        <p:nvSpPr>
          <p:cNvPr id="11" name="직사각형 10"/>
          <p:cNvSpPr/>
          <p:nvPr userDrawn="1"/>
        </p:nvSpPr>
        <p:spPr>
          <a:xfrm>
            <a:off x="6466229" y="4799014"/>
            <a:ext cx="3409610" cy="17938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795"/>
          </a:p>
        </p:txBody>
      </p:sp>
      <p:cxnSp>
        <p:nvCxnSpPr>
          <p:cNvPr id="12" name="직선 연결선[R] 11"/>
          <p:cNvCxnSpPr/>
          <p:nvPr userDrawn="1"/>
        </p:nvCxnSpPr>
        <p:spPr>
          <a:xfrm>
            <a:off x="630003" y="3937000"/>
            <a:ext cx="731309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8" name="텍스트 개체 틀 30"/>
          <p:cNvSpPr>
            <a:spLocks noGrp="1"/>
          </p:cNvSpPr>
          <p:nvPr>
            <p:ph type="body" sz="quarter" idx="10"/>
          </p:nvPr>
        </p:nvSpPr>
        <p:spPr>
          <a:xfrm>
            <a:off x="629902" y="194071"/>
            <a:ext cx="5024655" cy="110800"/>
          </a:xfrm>
          <a:prstGeom prst="rect">
            <a:avLst/>
          </a:prstGeom>
        </p:spPr>
        <p:txBody>
          <a:bodyPr lIns="0" tIns="0" rIns="0" bIns="0" anchor="ctr" anchorCtr="0">
            <a:spAutoFit/>
          </a:bodyPr>
          <a:lstStyle>
            <a:lvl1pPr marL="0" indent="0">
              <a:buNone/>
              <a:defRPr sz="798">
                <a:solidFill>
                  <a:schemeClr val="tx1"/>
                </a:solidFill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4" name="Title 1"/>
          <p:cNvSpPr>
            <a:spLocks noGrp="1"/>
          </p:cNvSpPr>
          <p:nvPr>
            <p:ph type="ctrTitle"/>
          </p:nvPr>
        </p:nvSpPr>
        <p:spPr>
          <a:xfrm>
            <a:off x="629902" y="1264983"/>
            <a:ext cx="5204106" cy="490904"/>
          </a:xfrm>
          <a:prstGeom prst="rect">
            <a:avLst/>
          </a:prstGeom>
        </p:spPr>
        <p:txBody>
          <a:bodyPr wrap="square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3190" baseline="0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17" name="Text Placeholder 8"/>
          <p:cNvSpPr>
            <a:spLocks noGrp="1"/>
          </p:cNvSpPr>
          <p:nvPr>
            <p:ph type="body" sz="quarter" idx="14"/>
          </p:nvPr>
        </p:nvSpPr>
        <p:spPr>
          <a:xfrm>
            <a:off x="629902" y="2874353"/>
            <a:ext cx="5204106" cy="565283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marL="0" marR="0" indent="0" algn="l" defTabSz="45569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097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  <a:cs typeface="KoPub돋움체_Pro Medium" panose="02020603020101020101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</p:txBody>
      </p:sp>
      <p:sp>
        <p:nvSpPr>
          <p:cNvPr id="21" name="Text Placeholder 8"/>
          <p:cNvSpPr>
            <a:spLocks noGrp="1"/>
          </p:cNvSpPr>
          <p:nvPr>
            <p:ph type="body" sz="quarter" idx="13"/>
          </p:nvPr>
        </p:nvSpPr>
        <p:spPr>
          <a:xfrm>
            <a:off x="629902" y="4214169"/>
            <a:ext cx="4486298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569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97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22" name="Text Placeholder 8"/>
          <p:cNvSpPr>
            <a:spLocks noGrp="1"/>
          </p:cNvSpPr>
          <p:nvPr>
            <p:ph type="body" sz="quarter" idx="15"/>
          </p:nvPr>
        </p:nvSpPr>
        <p:spPr>
          <a:xfrm>
            <a:off x="629902" y="4474323"/>
            <a:ext cx="4486298" cy="184666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marL="0" marR="0" indent="0" algn="l" defTabSz="45569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1197">
                <a:solidFill>
                  <a:schemeClr val="tx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KoPub돋움체_Pro Bold" panose="02020603020101020101" pitchFamily="18" charset="-127"/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pic>
        <p:nvPicPr>
          <p:cNvPr id="3" name="그림 1">
            <a:extLst>
              <a:ext uri="{FF2B5EF4-FFF2-40B4-BE49-F238E27FC236}">
                <a16:creationId xmlns:a16="http://schemas.microsoft.com/office/drawing/2014/main" id="{169E5202-1F58-4B87-DB16-DE7344CC336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517" b="23427"/>
          <a:stretch>
            <a:fillRect/>
          </a:stretch>
        </p:blipFill>
        <p:spPr bwMode="auto">
          <a:xfrm>
            <a:off x="6470977" y="838201"/>
            <a:ext cx="3414359" cy="3960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994846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 userDrawn="1"/>
        </p:nvSpPr>
        <p:spPr>
          <a:xfrm flipV="1">
            <a:off x="0" y="1312864"/>
            <a:ext cx="9877420" cy="46037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sz="1795">
              <a:solidFill>
                <a:srgbClr val="F58220"/>
              </a:solidFill>
            </a:endParaRPr>
          </a:p>
        </p:txBody>
      </p:sp>
      <p:sp>
        <p:nvSpPr>
          <p:cNvPr id="5" name="제목 1"/>
          <p:cNvSpPr txBox="1">
            <a:spLocks/>
          </p:cNvSpPr>
          <p:nvPr userDrawn="1"/>
        </p:nvSpPr>
        <p:spPr>
          <a:xfrm>
            <a:off x="935507" y="757238"/>
            <a:ext cx="1305908" cy="46196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ctr" defTabSz="457200" rtl="0" eaLnBrk="1" latinLnBrk="1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Noto Sans"/>
                <a:ea typeface="+mj-ea"/>
                <a:cs typeface="Noto Sans"/>
              </a:defRPr>
            </a:lvl1pPr>
          </a:lstStyle>
          <a:p>
            <a:pPr algn="l">
              <a:defRPr/>
            </a:pPr>
            <a:r>
              <a:rPr lang="ko-KR" altLang="en-US" sz="2990" dirty="0">
                <a:solidFill>
                  <a:schemeClr val="accent2"/>
                </a:solidFill>
                <a:latin typeface="KoPub돋움체_Pro Bold" panose="02020603020101020101" pitchFamily="18" charset="-127"/>
              </a:rPr>
              <a:t>목차</a:t>
            </a:r>
            <a:endParaRPr lang="ko-KR" altLang="en-US" sz="2990" dirty="0">
              <a:solidFill>
                <a:schemeClr val="accent2"/>
              </a:solidFill>
            </a:endParaRP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2"/>
          </p:nvPr>
        </p:nvSpPr>
        <p:spPr>
          <a:xfrm>
            <a:off x="957515" y="1725716"/>
            <a:ext cx="8435611" cy="262096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251219" marR="0" indent="-251219" algn="l" defTabSz="455783" rtl="0" eaLnBrk="1" fontAlgn="auto" latinLnBrk="0" hangingPunct="1">
              <a:lnSpc>
                <a:spcPct val="14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AutoNum type="romanUcPeriod"/>
              <a:tabLst/>
              <a:defRPr sz="1595" b="0" i="0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  <a:lvl2pPr marL="354498" indent="136102">
              <a:buFont typeface="+mj-lt"/>
              <a:buAutoNum type="arabicPeriod"/>
              <a:defRPr sz="1197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2pPr>
            <a:lvl3pPr>
              <a:defRPr sz="1197">
                <a:solidFill>
                  <a:srgbClr val="0D2D4F"/>
                </a:solidFill>
                <a:latin typeface="KoPub돋움체_Pro Medium"/>
                <a:ea typeface="KoPub돋움체_Pro Medium"/>
                <a:cs typeface="KoPub돋움체_Pro Medium"/>
              </a:defRPr>
            </a:lvl3pPr>
            <a:lvl4pPr>
              <a:defRPr sz="997">
                <a:latin typeface="KoPub돋움체_Pro Medium"/>
                <a:ea typeface="KoPub돋움체_Pro Medium"/>
                <a:cs typeface="KoPub돋움체_Pro Medium"/>
              </a:defRPr>
            </a:lvl4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</p:txBody>
      </p:sp>
    </p:spTree>
    <p:extLst>
      <p:ext uri="{BB962C8B-B14F-4D97-AF65-F5344CB8AC3E}">
        <p14:creationId xmlns:p14="http://schemas.microsoft.com/office/powerpoint/2010/main" val="2764060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ctrTitle"/>
          </p:nvPr>
        </p:nvSpPr>
        <p:spPr>
          <a:xfrm>
            <a:off x="703821" y="3143392"/>
            <a:ext cx="8434241" cy="332399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algn="l">
              <a:defRPr sz="2393">
                <a:solidFill>
                  <a:schemeClr val="tx1"/>
                </a:solidFill>
                <a:latin typeface="KoPub돋움체_Pro Bold"/>
                <a:ea typeface="KoPub돋움체_Pro Bold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5068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5"/>
          <p:cNvSpPr txBox="1">
            <a:spLocks/>
          </p:cNvSpPr>
          <p:nvPr userDrawn="1"/>
        </p:nvSpPr>
        <p:spPr>
          <a:xfrm>
            <a:off x="492289" y="6494464"/>
            <a:ext cx="4530317" cy="12223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D845EB2A-307E-48F7-AC0E-842A20A97BCE}" type="slidenum">
              <a:rPr lang="en-US" sz="798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798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798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cxnSp>
        <p:nvCxnSpPr>
          <p:cNvPr id="5" name="Straight Connector 10"/>
          <p:cNvCxnSpPr/>
          <p:nvPr userDrawn="1"/>
        </p:nvCxnSpPr>
        <p:spPr>
          <a:xfrm>
            <a:off x="487540" y="896938"/>
            <a:ext cx="890075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 Placeholder 5"/>
          <p:cNvSpPr txBox="1">
            <a:spLocks/>
          </p:cNvSpPr>
          <p:nvPr userDrawn="1"/>
        </p:nvSpPr>
        <p:spPr>
          <a:xfrm>
            <a:off x="6432987" y="6494464"/>
            <a:ext cx="2955312" cy="122237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spc="2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</a:t>
            </a:r>
            <a:r>
              <a:rPr lang="en-US" sz="798" spc="2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Asset Global Investments</a:t>
            </a:r>
          </a:p>
        </p:txBody>
      </p:sp>
      <p:cxnSp>
        <p:nvCxnSpPr>
          <p:cNvPr id="7" name="Straight Connector 10"/>
          <p:cNvCxnSpPr/>
          <p:nvPr userDrawn="1"/>
        </p:nvCxnSpPr>
        <p:spPr>
          <a:xfrm>
            <a:off x="478042" y="6359525"/>
            <a:ext cx="891975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487511" y="1031108"/>
            <a:ext cx="8900816" cy="5268686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marR="0" indent="0" algn="l" defTabSz="455783" rtl="0" eaLnBrk="1" fontAlgn="auto" latinLnBrk="0" hangingPunct="1">
              <a:lnSpc>
                <a:spcPct val="110000"/>
              </a:lnSpc>
              <a:spcBef>
                <a:spcPts val="299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1396" b="0" i="0">
                <a:solidFill>
                  <a:schemeClr val="tx1"/>
                </a:solidFill>
                <a:latin typeface="+mn-ea"/>
                <a:ea typeface="+mn-ea"/>
                <a:cs typeface="KoPub돋움체_Pro Bold" pitchFamily="18" charset="-127"/>
              </a:defRPr>
            </a:lvl1pPr>
            <a:lvl2pPr marL="455783" indent="0">
              <a:buFontTx/>
              <a:buNone/>
              <a:defRPr sz="1994">
                <a:latin typeface="Noto Sans"/>
                <a:cs typeface="Noto Sans"/>
              </a:defRPr>
            </a:lvl2pPr>
            <a:lvl3pPr marL="911566" indent="0">
              <a:buFontTx/>
              <a:buNone/>
              <a:defRPr sz="1795">
                <a:latin typeface="Noto Sans"/>
                <a:cs typeface="Noto Sans"/>
              </a:defRPr>
            </a:lvl3pPr>
            <a:lvl4pPr marL="1367349" indent="0">
              <a:buFontTx/>
              <a:buNone/>
              <a:defRPr sz="1595">
                <a:latin typeface="Noto Sans"/>
                <a:cs typeface="Noto Sans"/>
              </a:defRPr>
            </a:lvl4pPr>
            <a:lvl5pPr marL="1823132" indent="0">
              <a:buFontTx/>
              <a:buNone/>
              <a:defRPr sz="1595">
                <a:latin typeface="Noto Sans"/>
                <a:cs typeface="Noto Sans"/>
              </a:defRPr>
            </a:lvl5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492286" y="567303"/>
            <a:ext cx="6460270" cy="276999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>
            <a:lvl1pPr algn="l">
              <a:defRPr sz="1994">
                <a:solidFill>
                  <a:schemeClr val="tx1"/>
                </a:solidFill>
                <a:latin typeface="+mj-ea"/>
                <a:ea typeface="+mj-ea"/>
                <a:cs typeface="KoPub돋움체_Pro Bold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09784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8406" y="5648326"/>
            <a:ext cx="1703222" cy="682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88" y="2935288"/>
            <a:ext cx="8394462" cy="415370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marL="0" indent="0" algn="ctr">
              <a:buNone/>
              <a:defRPr sz="2989" b="0" i="0" baseline="0">
                <a:solidFill>
                  <a:schemeClr val="accent1"/>
                </a:solidFill>
                <a:latin typeface="KoPub돋움체_Pro Bold" panose="02020603020101020101" pitchFamily="18" charset="-127"/>
                <a:ea typeface="KoPub돋움체_Pro Bold" panose="02020603020101020101" pitchFamily="18" charset="-127"/>
                <a:cs typeface="Noto Sans" panose="020B0802040504020204" pitchFamily="34" charset="0"/>
              </a:defRPr>
            </a:lvl1pPr>
            <a:lvl2pPr marL="455693" indent="0">
              <a:buNone/>
              <a:defRPr sz="1795">
                <a:solidFill>
                  <a:schemeClr val="tx1">
                    <a:tint val="75000"/>
                  </a:schemeClr>
                </a:solidFill>
              </a:defRPr>
            </a:lvl2pPr>
            <a:lvl3pPr marL="911383" indent="0">
              <a:buNone/>
              <a:defRPr sz="1595">
                <a:solidFill>
                  <a:schemeClr val="tx1">
                    <a:tint val="75000"/>
                  </a:schemeClr>
                </a:solidFill>
              </a:defRPr>
            </a:lvl3pPr>
            <a:lvl4pPr marL="1367076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4pPr>
            <a:lvl5pPr marL="1822767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5pPr>
            <a:lvl6pPr marL="2278459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6pPr>
            <a:lvl7pPr marL="2734150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7pPr>
            <a:lvl8pPr marL="3189843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8pPr>
            <a:lvl9pPr marL="3645534" indent="0">
              <a:buNone/>
              <a:defRPr sz="139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2731009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내지_ 판매사 사내한 추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그룹 14"/>
          <p:cNvGrpSpPr/>
          <p:nvPr userDrawn="1"/>
        </p:nvGrpSpPr>
        <p:grpSpPr>
          <a:xfrm>
            <a:off x="1" y="691287"/>
            <a:ext cx="9875838" cy="153487"/>
            <a:chOff x="0" y="827999"/>
            <a:chExt cx="9904413" cy="153523"/>
          </a:xfrm>
        </p:grpSpPr>
        <p:sp>
          <p:nvSpPr>
            <p:cNvPr id="17" name="직사각형 16"/>
            <p:cNvSpPr/>
            <p:nvPr userDrawn="1"/>
          </p:nvSpPr>
          <p:spPr>
            <a:xfrm>
              <a:off x="6844413" y="850937"/>
              <a:ext cx="3060000" cy="1277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795" dirty="0"/>
            </a:p>
          </p:txBody>
        </p:sp>
        <p:pic>
          <p:nvPicPr>
            <p:cNvPr id="18" name="그림 17"/>
            <p:cNvPicPr>
              <a:picLocks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928" t="1" r="214" b="95219"/>
            <a:stretch/>
          </p:blipFill>
          <p:spPr>
            <a:xfrm>
              <a:off x="93495" y="827999"/>
              <a:ext cx="7328470" cy="153523"/>
            </a:xfrm>
            <a:prstGeom prst="rect">
              <a:avLst/>
            </a:prstGeom>
          </p:spPr>
        </p:pic>
        <p:cxnSp>
          <p:nvCxnSpPr>
            <p:cNvPr id="19" name="직선 연결선 18"/>
            <p:cNvCxnSpPr/>
            <p:nvPr userDrawn="1"/>
          </p:nvCxnSpPr>
          <p:spPr>
            <a:xfrm>
              <a:off x="0" y="976426"/>
              <a:ext cx="9903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8615" y="1007769"/>
            <a:ext cx="8920190" cy="1140113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598"/>
              </a:spcAft>
              <a:buFont typeface="Arial" panose="020B0604020202020204" pitchFamily="34" charset="0"/>
              <a:buNone/>
              <a:defRPr sz="1296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효과를 배제하여 인쇄 환경에서의 호환성을 높일 수 있습니다</a:t>
            </a:r>
            <a:r>
              <a:rPr lang="en-US" altLang="ko-KR" dirty="0"/>
              <a:t>.</a:t>
            </a:r>
          </a:p>
        </p:txBody>
      </p:sp>
      <p:cxnSp>
        <p:nvCxnSpPr>
          <p:cNvPr id="16" name="Straight Connector 10"/>
          <p:cNvCxnSpPr/>
          <p:nvPr userDrawn="1"/>
        </p:nvCxnSpPr>
        <p:spPr>
          <a:xfrm>
            <a:off x="478615" y="6358688"/>
            <a:ext cx="89201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488189" y="6492827"/>
            <a:ext cx="4531043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EC423B9A-1F8E-4D65-926D-4D79436AE648}" type="slidenum">
              <a:rPr lang="en-US" sz="798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798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endParaRPr lang="en-US" altLang="ko-KR" sz="798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6303" y="449898"/>
            <a:ext cx="6820266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795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6303" y="189392"/>
            <a:ext cx="682026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406" indent="-179406" latinLnBrk="0">
              <a:spcBef>
                <a:spcPts val="0"/>
              </a:spcBef>
              <a:buFont typeface="+mj-lt"/>
              <a:buAutoNum type="romanUcPeriod"/>
              <a:defRPr sz="1296">
                <a:latin typeface="+mj-ea"/>
                <a:ea typeface="+mj-ea"/>
              </a:defRPr>
            </a:lvl1pPr>
            <a:lvl2pPr marL="477280" indent="0">
              <a:buNone/>
              <a:defRPr sz="997"/>
            </a:lvl2pPr>
            <a:lvl3pPr marL="954557" indent="0">
              <a:buNone/>
              <a:defRPr sz="997"/>
            </a:lvl3pPr>
            <a:lvl4pPr marL="1431837" indent="0">
              <a:buNone/>
              <a:defRPr sz="997"/>
            </a:lvl4pPr>
            <a:lvl5pPr marL="1909115" indent="0">
              <a:buNone/>
              <a:defRPr sz="997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  <p:sp>
        <p:nvSpPr>
          <p:cNvPr id="22" name="Slide Number Placeholder 5"/>
          <p:cNvSpPr txBox="1">
            <a:spLocks/>
          </p:cNvSpPr>
          <p:nvPr userDrawn="1"/>
        </p:nvSpPr>
        <p:spPr>
          <a:xfrm>
            <a:off x="6434097" y="6492827"/>
            <a:ext cx="2955785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 Asset Global Investments</a:t>
            </a:r>
          </a:p>
        </p:txBody>
      </p:sp>
    </p:spTree>
    <p:extLst>
      <p:ext uri="{BB962C8B-B14F-4D97-AF65-F5344CB8AC3E}">
        <p14:creationId xmlns:p14="http://schemas.microsoft.com/office/powerpoint/2010/main" val="2074047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1" y="691287"/>
            <a:ext cx="9875838" cy="153487"/>
            <a:chOff x="0" y="827999"/>
            <a:chExt cx="9904413" cy="153523"/>
          </a:xfrm>
        </p:grpSpPr>
        <p:sp>
          <p:nvSpPr>
            <p:cNvPr id="14" name="직사각형 13"/>
            <p:cNvSpPr/>
            <p:nvPr userDrawn="1"/>
          </p:nvSpPr>
          <p:spPr>
            <a:xfrm>
              <a:off x="6844413" y="850937"/>
              <a:ext cx="3060000" cy="1277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795" dirty="0"/>
            </a:p>
          </p:txBody>
        </p:sp>
        <p:pic>
          <p:nvPicPr>
            <p:cNvPr id="15" name="그림 14"/>
            <p:cNvPicPr>
              <a:picLocks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928" t="1" r="214" b="95219"/>
            <a:stretch/>
          </p:blipFill>
          <p:spPr>
            <a:xfrm>
              <a:off x="93495" y="827999"/>
              <a:ext cx="7328470" cy="153523"/>
            </a:xfrm>
            <a:prstGeom prst="rect">
              <a:avLst/>
            </a:prstGeom>
          </p:spPr>
        </p:pic>
        <p:cxnSp>
          <p:nvCxnSpPr>
            <p:cNvPr id="17" name="직선 연결선 16"/>
            <p:cNvCxnSpPr/>
            <p:nvPr userDrawn="1"/>
          </p:nvCxnSpPr>
          <p:spPr>
            <a:xfrm>
              <a:off x="0" y="976426"/>
              <a:ext cx="9903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그림 28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3479" y="269938"/>
            <a:ext cx="1615326" cy="209938"/>
          </a:xfrm>
          <a:prstGeom prst="rect">
            <a:avLst/>
          </a:prstGeom>
        </p:spPr>
      </p:pic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8615" y="1007769"/>
            <a:ext cx="8911266" cy="1140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598"/>
              </a:spcAft>
              <a:buFont typeface="Arial" panose="020B0604020202020204" pitchFamily="34" charset="0"/>
              <a:buNone/>
              <a:defRPr sz="1296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등 그래픽 효과를 배제하여 내용을 강조할 수 있습니다</a:t>
            </a:r>
            <a:r>
              <a:rPr lang="en-US" altLang="ko-KR" dirty="0"/>
              <a:t>.</a:t>
            </a:r>
          </a:p>
        </p:txBody>
      </p:sp>
      <p:cxnSp>
        <p:nvCxnSpPr>
          <p:cNvPr id="16" name="Straight Connector 10"/>
          <p:cNvCxnSpPr/>
          <p:nvPr userDrawn="1"/>
        </p:nvCxnSpPr>
        <p:spPr>
          <a:xfrm>
            <a:off x="478615" y="6358688"/>
            <a:ext cx="89201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488189" y="6492829"/>
            <a:ext cx="4531043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45578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423B9A-1F8E-4D65-926D-4D79436AE648}" type="slidenum">
              <a:rPr lang="en-US" sz="798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 marL="0" marR="0" lvl="0" indent="0" algn="l" defTabSz="45578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798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798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21" name="Slide Number Placeholder 5"/>
          <p:cNvSpPr txBox="1">
            <a:spLocks/>
          </p:cNvSpPr>
          <p:nvPr userDrawn="1"/>
        </p:nvSpPr>
        <p:spPr>
          <a:xfrm>
            <a:off x="6434097" y="6492827"/>
            <a:ext cx="2955785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 Asset Global Investments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6303" y="449898"/>
            <a:ext cx="6820266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795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6303" y="189392"/>
            <a:ext cx="682026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406" indent="-179406" latinLnBrk="0">
              <a:spcBef>
                <a:spcPts val="0"/>
              </a:spcBef>
              <a:buFont typeface="+mj-lt"/>
              <a:buAutoNum type="romanUcPeriod"/>
              <a:defRPr sz="1296">
                <a:latin typeface="+mj-ea"/>
                <a:ea typeface="+mj-ea"/>
              </a:defRPr>
            </a:lvl1pPr>
            <a:lvl2pPr marL="477280" indent="0">
              <a:buNone/>
              <a:defRPr sz="997"/>
            </a:lvl2pPr>
            <a:lvl3pPr marL="954557" indent="0">
              <a:buNone/>
              <a:defRPr sz="997"/>
            </a:lvl3pPr>
            <a:lvl4pPr marL="1431837" indent="0">
              <a:buNone/>
              <a:defRPr sz="997"/>
            </a:lvl4pPr>
            <a:lvl5pPr marL="1909115" indent="0">
              <a:buNone/>
              <a:defRPr sz="997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787220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그룹 12"/>
          <p:cNvGrpSpPr/>
          <p:nvPr userDrawn="1"/>
        </p:nvGrpSpPr>
        <p:grpSpPr>
          <a:xfrm>
            <a:off x="1" y="691287"/>
            <a:ext cx="9875838" cy="153487"/>
            <a:chOff x="0" y="827999"/>
            <a:chExt cx="9904413" cy="153523"/>
          </a:xfrm>
        </p:grpSpPr>
        <p:sp>
          <p:nvSpPr>
            <p:cNvPr id="14" name="직사각형 13"/>
            <p:cNvSpPr/>
            <p:nvPr userDrawn="1"/>
          </p:nvSpPr>
          <p:spPr>
            <a:xfrm>
              <a:off x="6844413" y="850937"/>
              <a:ext cx="3060000" cy="12775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ko-KR" altLang="en-US" sz="1795" dirty="0"/>
            </a:p>
          </p:txBody>
        </p:sp>
        <p:pic>
          <p:nvPicPr>
            <p:cNvPr id="15" name="그림 14"/>
            <p:cNvPicPr>
              <a:picLocks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928" t="1" r="214" b="95219"/>
            <a:stretch/>
          </p:blipFill>
          <p:spPr>
            <a:xfrm>
              <a:off x="93495" y="827999"/>
              <a:ext cx="7328470" cy="153523"/>
            </a:xfrm>
            <a:prstGeom prst="rect">
              <a:avLst/>
            </a:prstGeom>
          </p:spPr>
        </p:pic>
        <p:cxnSp>
          <p:nvCxnSpPr>
            <p:cNvPr id="17" name="직선 연결선 16"/>
            <p:cNvCxnSpPr/>
            <p:nvPr userDrawn="1"/>
          </p:nvCxnSpPr>
          <p:spPr>
            <a:xfrm>
              <a:off x="0" y="976426"/>
              <a:ext cx="9903600" cy="0"/>
            </a:xfrm>
            <a:prstGeom prst="line">
              <a:avLst/>
            </a:prstGeom>
            <a:ln w="19050"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29" name="그림 28"/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83479" y="269938"/>
            <a:ext cx="1615326" cy="209938"/>
          </a:xfrm>
          <a:prstGeom prst="rect">
            <a:avLst/>
          </a:prstGeom>
        </p:spPr>
      </p:pic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8615" y="1007769"/>
            <a:ext cx="8911266" cy="1140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598"/>
              </a:spcAft>
              <a:buFont typeface="Arial" panose="020B0604020202020204" pitchFamily="34" charset="0"/>
              <a:buNone/>
              <a:defRPr sz="1296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등 그래픽 효과를 배제하여 내용을 강조할 수 있습니다</a:t>
            </a:r>
            <a:r>
              <a:rPr lang="en-US" altLang="ko-KR" dirty="0"/>
              <a:t>.</a:t>
            </a:r>
          </a:p>
        </p:txBody>
      </p:sp>
      <p:cxnSp>
        <p:nvCxnSpPr>
          <p:cNvPr id="16" name="Straight Connector 10"/>
          <p:cNvCxnSpPr/>
          <p:nvPr userDrawn="1"/>
        </p:nvCxnSpPr>
        <p:spPr>
          <a:xfrm>
            <a:off x="478615" y="6358688"/>
            <a:ext cx="892019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Slide Number Placeholder 5"/>
          <p:cNvSpPr txBox="1">
            <a:spLocks/>
          </p:cNvSpPr>
          <p:nvPr userDrawn="1"/>
        </p:nvSpPr>
        <p:spPr>
          <a:xfrm>
            <a:off x="488189" y="6492829"/>
            <a:ext cx="4531043" cy="12311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 marL="0" marR="0" lvl="0" indent="0" algn="l" defTabSz="455783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EC423B9A-1F8E-4D65-926D-4D79436AE648}" type="slidenum">
              <a:rPr lang="en-US" sz="798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 marL="0" marR="0" lvl="0" indent="0" algn="l" defTabSz="455783" rtl="0" eaLnBrk="1" fontAlgn="base" latinLnBrk="1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 </a:t>
            </a:r>
            <a:r>
              <a:rPr lang="ko-KR" altLang="en-US" sz="798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798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sp>
        <p:nvSpPr>
          <p:cNvPr id="21" name="Slide Number Placeholder 5"/>
          <p:cNvSpPr txBox="1">
            <a:spLocks/>
          </p:cNvSpPr>
          <p:nvPr userDrawn="1"/>
        </p:nvSpPr>
        <p:spPr>
          <a:xfrm>
            <a:off x="6434097" y="6492827"/>
            <a:ext cx="2955785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 Asset Global Investments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6303" y="449898"/>
            <a:ext cx="6820266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795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6303" y="189392"/>
            <a:ext cx="682026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406" indent="-179406" latinLnBrk="0">
              <a:spcBef>
                <a:spcPts val="0"/>
              </a:spcBef>
              <a:buFont typeface="+mj-lt"/>
              <a:buAutoNum type="romanUcPeriod"/>
              <a:defRPr sz="1296">
                <a:latin typeface="+mj-ea"/>
                <a:ea typeface="+mj-ea"/>
              </a:defRPr>
            </a:lvl1pPr>
            <a:lvl2pPr marL="477280" indent="0">
              <a:buNone/>
              <a:defRPr sz="997"/>
            </a:lvl2pPr>
            <a:lvl3pPr marL="954557" indent="0">
              <a:buNone/>
              <a:defRPr sz="997"/>
            </a:lvl3pPr>
            <a:lvl4pPr marL="1431837" indent="0">
              <a:buNone/>
              <a:defRPr sz="997"/>
            </a:lvl4pPr>
            <a:lvl5pPr marL="1909115" indent="0">
              <a:buNone/>
              <a:defRPr sz="997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63867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내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텍스트 개체 틀 10"/>
          <p:cNvSpPr>
            <a:spLocks noGrp="1"/>
          </p:cNvSpPr>
          <p:nvPr>
            <p:ph type="body" sz="quarter" idx="10" hasCustomPrompt="1"/>
          </p:nvPr>
        </p:nvSpPr>
        <p:spPr>
          <a:xfrm>
            <a:off x="478615" y="983055"/>
            <a:ext cx="8911266" cy="11401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latinLnBrk="0">
              <a:lnSpc>
                <a:spcPct val="114000"/>
              </a:lnSpc>
              <a:spcBef>
                <a:spcPts val="0"/>
              </a:spcBef>
              <a:spcAft>
                <a:spcPts val="598"/>
              </a:spcAft>
              <a:buFont typeface="Arial" panose="020B0604020202020204" pitchFamily="34" charset="0"/>
              <a:buNone/>
              <a:defRPr sz="1296" b="0" baseline="0">
                <a:latin typeface="KoPub돋움체_Pro Medium" pitchFamily="18" charset="-127"/>
                <a:ea typeface="KoPub돋움체_Pro Medium" pitchFamily="18" charset="-127"/>
              </a:defRPr>
            </a:lvl1pPr>
          </a:lstStyle>
          <a:p>
            <a:pPr lvl="0"/>
            <a:r>
              <a:rPr lang="ko-KR" altLang="en-US" dirty="0"/>
              <a:t>본문 텍스트를 입력해주세요 </a:t>
            </a:r>
            <a:r>
              <a:rPr lang="en-US" altLang="ko-KR" dirty="0"/>
              <a:t>(10~14pt)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제안서 본문 내 문구 강조를 위해 기울이기</a:t>
            </a:r>
            <a:r>
              <a:rPr lang="en-US" altLang="ko-KR" dirty="0"/>
              <a:t>(</a:t>
            </a:r>
            <a:r>
              <a:rPr lang="ko-KR" altLang="en-US" dirty="0" err="1"/>
              <a:t>이탤릭체</a:t>
            </a:r>
            <a:r>
              <a:rPr lang="en-US" altLang="ko-KR" dirty="0"/>
              <a:t>), </a:t>
            </a:r>
            <a:r>
              <a:rPr lang="ko-KR" altLang="en-US" dirty="0" err="1"/>
              <a:t>밑줄치기</a:t>
            </a:r>
            <a:r>
              <a:rPr lang="en-US" altLang="ko-KR" dirty="0"/>
              <a:t>, </a:t>
            </a:r>
            <a:r>
              <a:rPr lang="ko-KR" altLang="en-US" dirty="0"/>
              <a:t>그림자 효과를 적용하는 경우 </a:t>
            </a:r>
            <a:r>
              <a:rPr lang="ko-KR" altLang="en-US" dirty="0" err="1"/>
              <a:t>가독성이</a:t>
            </a:r>
            <a:r>
              <a:rPr lang="ko-KR" altLang="en-US" dirty="0"/>
              <a:t> 떨어질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 강조 시</a:t>
            </a:r>
            <a:r>
              <a:rPr lang="en-US" altLang="ko-KR" dirty="0"/>
              <a:t>, Bold</a:t>
            </a:r>
            <a:r>
              <a:rPr lang="ko-KR" altLang="en-US" dirty="0"/>
              <a:t>체 적용 또는 레드 계열 색상</a:t>
            </a:r>
            <a:r>
              <a:rPr lang="en-US" altLang="ko-KR" dirty="0"/>
              <a:t>, </a:t>
            </a:r>
            <a:r>
              <a:rPr lang="ko-KR" altLang="en-US" dirty="0"/>
              <a:t>당사의 전용색상을 활용할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색상이 있는 배경에 문구를 기재할 시 </a:t>
            </a:r>
            <a:r>
              <a:rPr lang="en-US" altLang="ko-KR" dirty="0"/>
              <a:t>Bold</a:t>
            </a:r>
            <a:r>
              <a:rPr lang="ko-KR" altLang="en-US" dirty="0"/>
              <a:t>체로 적용하여 </a:t>
            </a:r>
            <a:r>
              <a:rPr lang="ko-KR" altLang="en-US" dirty="0" err="1"/>
              <a:t>명시성을</a:t>
            </a:r>
            <a:r>
              <a:rPr lang="ko-KR" altLang="en-US" dirty="0"/>
              <a:t> 확보할 수 있습니다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en-US" altLang="ko-KR" dirty="0"/>
              <a:t>- </a:t>
            </a:r>
            <a:r>
              <a:rPr lang="ko-KR" altLang="en-US" dirty="0"/>
              <a:t>문구</a:t>
            </a:r>
            <a:r>
              <a:rPr lang="en-US" altLang="ko-KR" dirty="0"/>
              <a:t>, </a:t>
            </a:r>
            <a:r>
              <a:rPr lang="ko-KR" altLang="en-US" dirty="0"/>
              <a:t>선</a:t>
            </a:r>
            <a:r>
              <a:rPr lang="en-US" altLang="ko-KR" dirty="0"/>
              <a:t>, </a:t>
            </a:r>
            <a:r>
              <a:rPr lang="ko-KR" altLang="en-US" dirty="0"/>
              <a:t>면</a:t>
            </a:r>
            <a:r>
              <a:rPr lang="en-US" altLang="ko-KR" dirty="0"/>
              <a:t>, </a:t>
            </a:r>
            <a:r>
              <a:rPr lang="ko-KR" altLang="en-US" dirty="0"/>
              <a:t>화살표 등의 요소에 그림자와 </a:t>
            </a:r>
            <a:r>
              <a:rPr lang="ko-KR" altLang="en-US" dirty="0" err="1"/>
              <a:t>그라데이션</a:t>
            </a:r>
            <a:r>
              <a:rPr lang="ko-KR" altLang="en-US" dirty="0"/>
              <a:t> 등 그래픽 효과를 배제하여 내용을 강조할 수 있습니다</a:t>
            </a:r>
            <a:r>
              <a:rPr lang="en-US" altLang="ko-KR" dirty="0"/>
              <a:t>.</a:t>
            </a:r>
          </a:p>
        </p:txBody>
      </p:sp>
      <p:sp>
        <p:nvSpPr>
          <p:cNvPr id="3" name="Title 1"/>
          <p:cNvSpPr>
            <a:spLocks noGrp="1"/>
          </p:cNvSpPr>
          <p:nvPr>
            <p:ph type="title" hasCustomPrompt="1"/>
          </p:nvPr>
        </p:nvSpPr>
        <p:spPr>
          <a:xfrm>
            <a:off x="486303" y="425184"/>
            <a:ext cx="6820266" cy="249299"/>
          </a:xfrm>
          <a:prstGeom prst="rect">
            <a:avLst/>
          </a:prstGeom>
        </p:spPr>
        <p:txBody>
          <a:bodyPr lIns="0" tIns="0" rIns="0" bIns="0" anchor="t">
            <a:spAutoFit/>
          </a:bodyPr>
          <a:lstStyle>
            <a:lvl1pPr algn="l" latinLnBrk="0">
              <a:defRPr sz="1795">
                <a:solidFill>
                  <a:schemeClr val="tx1"/>
                </a:solidFill>
                <a:latin typeface="KoPub돋움체_Pro Bold" pitchFamily="18" charset="-127"/>
                <a:ea typeface="KoPub돋움체_Pro Bold" pitchFamily="18" charset="-127"/>
                <a:cs typeface="KoPub돋움체_Pro Bold" pitchFamily="18" charset="-127"/>
              </a:defRPr>
            </a:lvl1pPr>
          </a:lstStyle>
          <a:p>
            <a:r>
              <a:rPr lang="ko-KR" altLang="en-US" dirty="0"/>
              <a:t>제목을 입력해주세요</a:t>
            </a:r>
            <a:r>
              <a:rPr lang="en-US" altLang="ko-KR" dirty="0"/>
              <a:t> (16~22pt)</a:t>
            </a:r>
            <a:endParaRPr lang="en-US" dirty="0"/>
          </a:p>
        </p:txBody>
      </p:sp>
      <p:sp>
        <p:nvSpPr>
          <p:cNvPr id="6" name="텍스트 개체 틀 5"/>
          <p:cNvSpPr>
            <a:spLocks noGrp="1"/>
          </p:cNvSpPr>
          <p:nvPr>
            <p:ph type="body" sz="quarter" idx="11" hasCustomPrompt="1"/>
          </p:nvPr>
        </p:nvSpPr>
        <p:spPr>
          <a:xfrm>
            <a:off x="486303" y="164678"/>
            <a:ext cx="682026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179406" indent="-179406" latinLnBrk="0">
              <a:spcBef>
                <a:spcPts val="0"/>
              </a:spcBef>
              <a:buFont typeface="+mj-lt"/>
              <a:buAutoNum type="romanUcPeriod"/>
              <a:defRPr sz="1296">
                <a:latin typeface="+mj-ea"/>
                <a:ea typeface="+mj-ea"/>
              </a:defRPr>
            </a:lvl1pPr>
            <a:lvl2pPr marL="477280" indent="0">
              <a:buNone/>
              <a:defRPr sz="997"/>
            </a:lvl2pPr>
            <a:lvl3pPr marL="954557" indent="0">
              <a:buNone/>
              <a:defRPr sz="997"/>
            </a:lvl3pPr>
            <a:lvl4pPr marL="1431837" indent="0">
              <a:buNone/>
              <a:defRPr sz="997"/>
            </a:lvl4pPr>
            <a:lvl5pPr marL="1909115" indent="0">
              <a:buNone/>
              <a:defRPr sz="997"/>
            </a:lvl5pPr>
          </a:lstStyle>
          <a:p>
            <a:pPr lvl="0"/>
            <a:r>
              <a:rPr lang="ko-KR" altLang="en-US" dirty="0"/>
              <a:t>제목을 입력해주세요 </a:t>
            </a:r>
            <a:r>
              <a:rPr lang="en-US" altLang="ko-KR" dirty="0"/>
              <a:t>(10~14pt)</a:t>
            </a:r>
            <a:endParaRPr lang="ko-KR" altLang="en-US" dirty="0"/>
          </a:p>
        </p:txBody>
      </p:sp>
      <p:sp>
        <p:nvSpPr>
          <p:cNvPr id="25" name="Slide Number Placeholder 5"/>
          <p:cNvSpPr txBox="1">
            <a:spLocks/>
          </p:cNvSpPr>
          <p:nvPr userDrawn="1"/>
        </p:nvSpPr>
        <p:spPr>
          <a:xfrm>
            <a:off x="6434097" y="6492827"/>
            <a:ext cx="2955785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700" b="0" i="0" kern="120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defRPr/>
            </a:pPr>
            <a:r>
              <a:rPr lang="en-US" sz="798" b="0" spc="20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Mirae</a:t>
            </a:r>
            <a:r>
              <a:rPr lang="en-US" sz="798" b="0" spc="20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Asset Global Investments</a:t>
            </a:r>
          </a:p>
        </p:txBody>
      </p:sp>
      <p:sp>
        <p:nvSpPr>
          <p:cNvPr id="27" name="Slide Number Placeholder 5"/>
          <p:cNvSpPr txBox="1">
            <a:spLocks/>
          </p:cNvSpPr>
          <p:nvPr userDrawn="1"/>
        </p:nvSpPr>
        <p:spPr>
          <a:xfrm>
            <a:off x="488189" y="6497276"/>
            <a:ext cx="4531043" cy="123082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defPPr>
              <a:defRPr lang="ko-KR"/>
            </a:defPPr>
            <a:lvl1pPr algn="l" rtl="0" fontAlgn="base" latinLnBrk="1">
              <a:spcBef>
                <a:spcPct val="0"/>
              </a:spcBef>
              <a:spcAft>
                <a:spcPct val="0"/>
              </a:spcAft>
              <a:defRPr kumimoji="1" sz="800" b="0" i="0" kern="1200" smtClean="0">
                <a:solidFill>
                  <a:srgbClr val="48535B"/>
                </a:solidFill>
                <a:latin typeface="Noto Sans"/>
                <a:ea typeface="KoPub돋움체_Pro Medium"/>
                <a:cs typeface="Noto Sans"/>
              </a:defRPr>
            </a:lvl1pPr>
            <a:lvl2pPr marL="4572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2pPr>
            <a:lvl3pPr marL="9144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3pPr>
            <a:lvl4pPr marL="13716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4pPr>
            <a:lvl5pPr marL="1828800" algn="l" rtl="0" fontAlgn="base" latinLnBrk="1">
              <a:spcBef>
                <a:spcPct val="0"/>
              </a:spcBef>
              <a:spcAft>
                <a:spcPct val="0"/>
              </a:spcAft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5pPr>
            <a:lvl6pPr marL="22860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6pPr>
            <a:lvl7pPr marL="27432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7pPr>
            <a:lvl8pPr marL="32004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8pPr>
            <a:lvl9pPr marL="3657600" algn="l" defTabSz="914400" rtl="0" eaLnBrk="1" latinLnBrk="1" hangingPunct="1">
              <a:defRPr kumimoji="1" kern="1200">
                <a:solidFill>
                  <a:schemeClr val="tx1"/>
                </a:solidFill>
                <a:latin typeface="맑은 고딕" pitchFamily="50" charset="-127"/>
                <a:ea typeface="굴림" pitchFamily="50" charset="-127"/>
                <a:cs typeface="+mn-cs"/>
              </a:defRPr>
            </a:lvl9pPr>
          </a:lstStyle>
          <a:p>
            <a:pPr>
              <a:defRPr/>
            </a:pPr>
            <a:fld id="{EC423B9A-1F8E-4D65-926D-4D79436AE648}" type="slidenum">
              <a:rPr lang="en-US" sz="798" smtClean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pPr>
                <a:defRPr/>
              </a:pPr>
              <a:t>‹#›</a:t>
            </a:fld>
            <a:r>
              <a:rPr lang="en-US" sz="798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|</a:t>
            </a:r>
            <a:r>
              <a:rPr 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ko-KR" altLang="en-US" sz="798" baseline="0" dirty="0" err="1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미래에셋자산운용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 </a:t>
            </a:r>
            <a:r>
              <a:rPr lang="en-US" altLang="ko-KR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AI</a:t>
            </a:r>
            <a:r>
              <a:rPr lang="ko-KR" altLang="en-US" sz="798" baseline="0" dirty="0">
                <a:solidFill>
                  <a:schemeClr val="tx1"/>
                </a:solidFill>
                <a:latin typeface="KoPub돋움체_Pro Medium" panose="02020603020101020101" pitchFamily="18" charset="-127"/>
                <a:ea typeface="KoPub돋움체_Pro Medium" panose="02020603020101020101" pitchFamily="18" charset="-127"/>
              </a:rPr>
              <a:t>금융공학운용부문 전략운용본부</a:t>
            </a:r>
            <a:endParaRPr lang="en-US" altLang="ko-KR" sz="798" baseline="0" dirty="0">
              <a:solidFill>
                <a:schemeClr val="tx1"/>
              </a:solidFill>
              <a:latin typeface="KoPub돋움체_Pro Medium" panose="02020603020101020101" pitchFamily="18" charset="-127"/>
              <a:ea typeface="KoPub돋움체_Pro Medium" panose="02020603020101020101" pitchFamily="18" charset="-127"/>
            </a:endParaRPr>
          </a:p>
        </p:txBody>
      </p:sp>
      <p:cxnSp>
        <p:nvCxnSpPr>
          <p:cNvPr id="28" name="직선 연결선[R] 11">
            <a:extLst>
              <a:ext uri="{FF2B5EF4-FFF2-40B4-BE49-F238E27FC236}">
                <a16:creationId xmlns:a16="http://schemas.microsoft.com/office/drawing/2014/main" id="{A6FA0130-74BE-5E5A-09E0-3D4E7352D96A}"/>
              </a:ext>
            </a:extLst>
          </p:cNvPr>
          <p:cNvCxnSpPr>
            <a:cxnSpLocks/>
          </p:cNvCxnSpPr>
          <p:nvPr userDrawn="1"/>
        </p:nvCxnSpPr>
        <p:spPr>
          <a:xfrm>
            <a:off x="-10071" y="859732"/>
            <a:ext cx="988591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cxnSp>
        <p:nvCxnSpPr>
          <p:cNvPr id="30" name="Straight Connector 10">
            <a:extLst>
              <a:ext uri="{FF2B5EF4-FFF2-40B4-BE49-F238E27FC236}">
                <a16:creationId xmlns:a16="http://schemas.microsoft.com/office/drawing/2014/main" id="{65772FF5-A371-BDBF-EEBF-63F0E4A59D91}"/>
              </a:ext>
            </a:extLst>
          </p:cNvPr>
          <p:cNvCxnSpPr>
            <a:cxnSpLocks/>
          </p:cNvCxnSpPr>
          <p:nvPr userDrawn="1"/>
        </p:nvCxnSpPr>
        <p:spPr>
          <a:xfrm>
            <a:off x="-10071" y="6363137"/>
            <a:ext cx="988591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42971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0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10" Type="http://schemas.openxmlformats.org/officeDocument/2006/relationships/theme" Target="../theme/theme2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263705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</p:sldLayoutIdLst>
  <p:txStyles>
    <p:titleStyle>
      <a:lvl1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2pPr>
      <a:lvl3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3pPr>
      <a:lvl4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4pPr>
      <a:lvl5pPr algn="l" defTabSz="910166" rtl="0" eaLnBrk="0" fontAlgn="base" latinLnBrk="1" hangingPunct="0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5pPr>
      <a:lvl6pPr marL="455874" algn="l" defTabSz="910166" rtl="0" fontAlgn="base" latinLnBrk="1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6pPr>
      <a:lvl7pPr marL="911748" algn="l" defTabSz="910166" rtl="0" fontAlgn="base" latinLnBrk="1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7pPr>
      <a:lvl8pPr marL="1367622" algn="l" defTabSz="910166" rtl="0" fontAlgn="base" latinLnBrk="1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8pPr>
      <a:lvl9pPr marL="1823496" algn="l" defTabSz="910166" rtl="0" fontAlgn="base" latinLnBrk="1">
        <a:lnSpc>
          <a:spcPct val="90000"/>
        </a:lnSpc>
        <a:spcBef>
          <a:spcPct val="0"/>
        </a:spcBef>
        <a:spcAft>
          <a:spcPct val="0"/>
        </a:spcAft>
        <a:defRPr sz="4288">
          <a:solidFill>
            <a:schemeClr val="tx1"/>
          </a:solidFill>
          <a:latin typeface="KoPub돋움체_Pro Bold" panose="02020603020101020101" pitchFamily="18" charset="-127"/>
          <a:ea typeface="KoPub돋움체_Pro Bold" panose="02020603020101020101" pitchFamily="18" charset="-127"/>
        </a:defRPr>
      </a:lvl9pPr>
    </p:titleStyle>
    <p:bodyStyle>
      <a:lvl1pPr marL="226355" indent="-226355" algn="l" defTabSz="910166" rtl="0" eaLnBrk="0" fontAlgn="base" latinLnBrk="1" hangingPunct="0">
        <a:lnSpc>
          <a:spcPct val="90000"/>
        </a:lnSpc>
        <a:spcBef>
          <a:spcPts val="997"/>
        </a:spcBef>
        <a:spcAft>
          <a:spcPct val="0"/>
        </a:spcAft>
        <a:buFont typeface="Arial" panose="020B0604020202020204" pitchFamily="34" charset="0"/>
        <a:buChar char="•"/>
        <a:defRPr sz="2692" kern="1200">
          <a:solidFill>
            <a:schemeClr val="tx1"/>
          </a:solidFill>
          <a:latin typeface="+mn-lt"/>
          <a:ea typeface="+mn-ea"/>
          <a:cs typeface="+mn-cs"/>
        </a:defRPr>
      </a:lvl1pPr>
      <a:lvl2pPr marL="682229" indent="-226355" algn="l" defTabSz="910166" rtl="0" eaLnBrk="0" fontAlgn="base" latinLnBrk="1" hangingPunct="0">
        <a:lnSpc>
          <a:spcPct val="90000"/>
        </a:lnSpc>
        <a:spcBef>
          <a:spcPts val="499"/>
        </a:spcBef>
        <a:spcAft>
          <a:spcPct val="0"/>
        </a:spcAft>
        <a:buFont typeface="Arial" panose="020B0604020202020204" pitchFamily="34" charset="0"/>
        <a:buChar char="•"/>
        <a:defRPr sz="2393" kern="1200">
          <a:solidFill>
            <a:schemeClr val="tx1"/>
          </a:solidFill>
          <a:latin typeface="+mn-lt"/>
          <a:ea typeface="+mn-ea"/>
          <a:cs typeface="+mn-cs"/>
        </a:defRPr>
      </a:lvl2pPr>
      <a:lvl3pPr marL="1138103" indent="-226355" algn="l" defTabSz="910166" rtl="0" eaLnBrk="0" fontAlgn="base" latinLnBrk="1" hangingPunct="0">
        <a:lnSpc>
          <a:spcPct val="90000"/>
        </a:lnSpc>
        <a:spcBef>
          <a:spcPts val="499"/>
        </a:spcBef>
        <a:spcAft>
          <a:spcPct val="0"/>
        </a:spcAft>
        <a:buFont typeface="Arial" panose="020B0604020202020204" pitchFamily="34" charset="0"/>
        <a:buChar char="•"/>
        <a:defRPr sz="1994" kern="1200">
          <a:solidFill>
            <a:schemeClr val="tx1"/>
          </a:solidFill>
          <a:latin typeface="+mn-lt"/>
          <a:ea typeface="+mn-ea"/>
          <a:cs typeface="+mn-cs"/>
        </a:defRPr>
      </a:lvl3pPr>
      <a:lvl4pPr marL="1593977" indent="-226355" algn="l" defTabSz="910166" rtl="0" eaLnBrk="0" fontAlgn="base" latinLnBrk="1" hangingPunct="0">
        <a:lnSpc>
          <a:spcPct val="90000"/>
        </a:lnSpc>
        <a:spcBef>
          <a:spcPts val="499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49851" indent="-226355" algn="l" defTabSz="910166" rtl="0" eaLnBrk="0" fontAlgn="base" latinLnBrk="1" hangingPunct="0">
        <a:lnSpc>
          <a:spcPct val="90000"/>
        </a:lnSpc>
        <a:spcBef>
          <a:spcPts val="499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06806" indent="-227891" algn="l" defTabSz="911566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962590" indent="-227891" algn="l" defTabSz="911566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418372" indent="-227891" algn="l" defTabSz="911566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874155" indent="-227891" algn="l" defTabSz="911566" rtl="0" eaLnBrk="1" latinLnBrk="1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2pPr>
      <a:lvl3pPr marL="911566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3pPr>
      <a:lvl4pPr marL="1367349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4pPr>
      <a:lvl5pPr marL="1823132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5pPr>
      <a:lvl6pPr marL="2278915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6pPr>
      <a:lvl7pPr marL="2734697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7pPr>
      <a:lvl8pPr marL="3190481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8pPr>
      <a:lvl9pPr marL="3646263" algn="l" defTabSz="911566" rtl="0" eaLnBrk="1" latinLnBrk="1" hangingPunct="1">
        <a:defRPr sz="179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/>
          <p:cNvSpPr>
            <a:spLocks noGrp="1"/>
          </p:cNvSpPr>
          <p:nvPr>
            <p:ph type="ctrTitle"/>
          </p:nvPr>
        </p:nvSpPr>
        <p:spPr bwMode="auto">
          <a:xfrm>
            <a:off x="630003" y="1453516"/>
            <a:ext cx="5456720" cy="42966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numCol="1" compatLnSpc="1">
            <a:prstTxWarp prst="textNoShape">
              <a:avLst/>
            </a:prstTxWarp>
          </a:bodyPr>
          <a:lstStyle/>
          <a:p>
            <a:pPr eaLnBrk="1" hangingPunct="1"/>
            <a:r>
              <a:rPr lang="ko-KR" altLang="en-US" sz="2792" dirty="0"/>
              <a:t>변동성 </a:t>
            </a:r>
            <a:r>
              <a:rPr lang="ko-KR" altLang="en-US" sz="2792" dirty="0" err="1"/>
              <a:t>하베스트</a:t>
            </a:r>
            <a:r>
              <a:rPr lang="ko-KR" altLang="en-US" sz="2792" dirty="0"/>
              <a:t> 펀드 제안서</a:t>
            </a:r>
          </a:p>
        </p:txBody>
      </p:sp>
      <p:sp>
        <p:nvSpPr>
          <p:cNvPr id="10244" name="텍스트 개체 틀 3"/>
          <p:cNvSpPr>
            <a:spLocks noGrp="1"/>
          </p:cNvSpPr>
          <p:nvPr>
            <p:ph type="body" sz="quarter" idx="13"/>
          </p:nvPr>
        </p:nvSpPr>
        <p:spPr bwMode="auto">
          <a:xfrm>
            <a:off x="630003" y="4212546"/>
            <a:ext cx="4485995" cy="183619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 defTabSz="454292" fontAlgn="base">
              <a:spcAft>
                <a:spcPct val="0"/>
              </a:spcAft>
            </a:pPr>
            <a:r>
              <a:rPr lang="ko-KR" altLang="en-US" dirty="0" err="1"/>
              <a:t>미래에셋자산운용</a:t>
            </a:r>
            <a:r>
              <a:rPr lang="ko-KR" altLang="en-US" dirty="0"/>
              <a:t> </a:t>
            </a:r>
            <a:r>
              <a:rPr lang="en-US" altLang="ko-KR" dirty="0"/>
              <a:t>AI</a:t>
            </a:r>
            <a:r>
              <a:rPr lang="ko-KR" altLang="en-US" dirty="0"/>
              <a:t>금융공학운용부문 </a:t>
            </a:r>
          </a:p>
        </p:txBody>
      </p:sp>
      <p:sp>
        <p:nvSpPr>
          <p:cNvPr id="10245" name="텍스트 개체 틀 5"/>
          <p:cNvSpPr>
            <a:spLocks noGrp="1"/>
          </p:cNvSpPr>
          <p:nvPr>
            <p:ph type="body" sz="quarter" idx="15"/>
          </p:nvPr>
        </p:nvSpPr>
        <p:spPr bwMode="auto">
          <a:xfrm>
            <a:off x="630003" y="4470561"/>
            <a:ext cx="4485995" cy="185202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compatLnSpc="1">
            <a:prstTxWarp prst="textNoShape">
              <a:avLst/>
            </a:prstTxWarp>
          </a:bodyPr>
          <a:lstStyle/>
          <a:p>
            <a:pPr defTabSz="454292" fontAlgn="base">
              <a:spcAft>
                <a:spcPct val="0"/>
              </a:spcAft>
            </a:pPr>
            <a:r>
              <a:rPr lang="en-US" altLang="ko-KR" dirty="0"/>
              <a:t>2026.07</a:t>
            </a:r>
            <a:endParaRPr lang="ko-KR" altLang="en-US" dirty="0"/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4752A20-2DB7-3BAE-D5CD-0070F3FD43C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01  PRODUCT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상품 개요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5504316"/>
              </p:ext>
            </p:extLst>
          </p:nvPr>
        </p:nvGraphicFramePr>
        <p:xfrm>
          <a:off x="685800" y="1371600"/>
          <a:ext cx="8503920" cy="4425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9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구  분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맑은 고딕"/>
                        </a:rPr>
                        <a:t>내  용</a:t>
                      </a:r>
                    </a:p>
                  </a:txBody>
                  <a:tcPr marL="63500" marR="63500" marT="12700" marB="12700" anchor="ctr">
                    <a:solidFill>
                      <a:srgbClr val="043B7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명  칭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미래에셋 변동성 하베스트 펀드 — KOSPI200 (가칭)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개  요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기초자산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편입비를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조절하는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변동성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매매를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통해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,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역대급으로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높아진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변동성을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수익으로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전환하는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전략</a:t>
                      </a:r>
                      <a:endParaRPr sz="1100" b="0" dirty="0">
                        <a:solidFill>
                          <a:srgbClr val="3A3A3A"/>
                        </a:solidFill>
                        <a:latin typeface="맑은 고딕"/>
                      </a:endParaRP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기초자산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코스피200 지수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가정 변동성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연 50% (최근 실현변동성 대비 보수적 가정)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운용 전략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변동성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매매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(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저가매수·고가매도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)로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수익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추구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+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상승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방향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참여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유형 구분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안정변동성펀드(안정 변동성 매매) / 성장변동성펀드(변동성 매매 + 상승 참여)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상품 유형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국내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주식형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파생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(</a:t>
                      </a:r>
                      <a:r>
                        <a:rPr lang="ko-KR" altLang="en-US"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공모 </a:t>
                      </a:r>
                      <a:r>
                        <a:rPr lang="en-US" altLang="ko-KR"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/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사모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 · </a:t>
                      </a:r>
                      <a:r>
                        <a:rPr sz="1100" b="0" dirty="0" err="1">
                          <a:solidFill>
                            <a:srgbClr val="3A3A3A"/>
                          </a:solidFill>
                          <a:latin typeface="맑은 고딕"/>
                        </a:rPr>
                        <a:t>일임</a:t>
                      </a:r>
                      <a:r>
                        <a:rPr sz="1100" b="0" dirty="0">
                          <a:solidFill>
                            <a:srgbClr val="3A3A3A"/>
                          </a:solidFill>
                          <a:latin typeface="맑은 고딕"/>
                        </a:rPr>
                        <a:t>)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투자 등급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 dirty="0">
                        <a:solidFill>
                          <a:srgbClr val="3A3A3A"/>
                        </a:solidFill>
                        <a:latin typeface="맑은 고딕"/>
                      </a:endParaRP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만  기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3A3A3A"/>
                          </a:solidFill>
                          <a:latin typeface="맑은 고딕"/>
                        </a:rPr>
                        <a:t>1년 (예시) · 일별 리밸런싱</a:t>
                      </a:r>
                    </a:p>
                  </a:txBody>
                  <a:tcPr marL="63500" marR="63500" marT="12700" marB="127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3A3A3A"/>
                          </a:solidFill>
                          <a:latin typeface="맑은 고딕"/>
                        </a:rPr>
                        <a:t>최저가입금액</a:t>
                      </a: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sz="1100" b="0" dirty="0">
                        <a:solidFill>
                          <a:srgbClr val="3A3A3A"/>
                        </a:solidFill>
                        <a:latin typeface="맑은 고딕"/>
                      </a:endParaRPr>
                    </a:p>
                  </a:txBody>
                  <a:tcPr marL="63500" marR="63500" marT="12700" marB="12700" anchor="ctr">
                    <a:solidFill>
                      <a:srgbClr val="EEF2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989320"/>
            <a:ext cx="8595360" cy="4572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>
                <a:solidFill>
                  <a:srgbClr val="84888B"/>
                </a:solidFill>
                <a:latin typeface="맑은 고딕"/>
              </a:rPr>
              <a:t>※ 원금 손실(0~100%)이 발생할 수 있으며 손실은 투자자에게 귀속됩니다. 예금자보호법 적용 대상이 아닙니다.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02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4008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dirty="0">
                <a:solidFill>
                  <a:srgbClr val="043B72"/>
                </a:solidFill>
                <a:latin typeface="맑은 고딕"/>
              </a:rPr>
              <a:t>왜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지금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이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펀드인가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① —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역대급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변동성</a:t>
            </a:r>
            <a:endParaRPr sz="2300" b="1" dirty="0">
              <a:solidFill>
                <a:srgbClr val="043B72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082767"/>
            <a:ext cx="8686800" cy="22570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3A3A3A"/>
                </a:solidFill>
                <a:latin typeface="맑은 고딕"/>
              </a:rPr>
              <a:t>한국시장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변동성이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최근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5년 중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최고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수준입니다</a:t>
            </a:r>
            <a:r>
              <a:rPr lang="en-US" sz="1300" b="1" dirty="0">
                <a:solidFill>
                  <a:srgbClr val="3A3A3A"/>
                </a:solidFill>
                <a:latin typeface="맑은 고딕"/>
              </a:rPr>
              <a:t>.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변동성이 클수록 변동성 매매의 수익 기회가 커집니다.</a:t>
            </a:r>
          </a:p>
        </p:txBody>
      </p:sp>
      <p:pic>
        <p:nvPicPr>
          <p:cNvPr id="7" name="Picture 6" descr="vol_kospi2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508760"/>
            <a:ext cx="8366760" cy="387094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85800" y="5486400"/>
            <a:ext cx="8503920" cy="658368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486400"/>
            <a:ext cx="8138160" cy="658368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8220"/>
                </a:solidFill>
                <a:latin typeface="맑은 고딕"/>
              </a:rPr>
              <a:t>→ 지금은 변동성을 '피할' 때가 아니라 '수확'하기 가장 유리한 국면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03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왜 지금 이 펀드인가 ②-1 — 상방을 누르는 수급 요인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국민연금·외국인·개인 모두 지수 상단에서 매도 우위 — 반등 시마다 매물벽이 형성되는 구조입니다.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64208"/>
            <a:ext cx="868680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43B72"/>
                </a:solidFill>
                <a:latin typeface="맑은 고딕"/>
              </a:rPr>
              <a:t>① 상방을 누르는 수급 요인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2029968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85800" y="2029968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22960" y="2075688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국민연금 매도 대기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2633472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목표비중 상향(14.9→20.8%, 5/28 기금위)에도 지수 반등 시 허용상단(28.8%) 재접근 — KOSPI 8,200선부터 대기 매도 물량 출회 추정.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66160" y="2029968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3566160" y="2029968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2075688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외국인 리밸런싱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30752" y="2633472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반도체 쏠림에 따른 편입비 조정·차익실현으로 상승 국면 매도 우위 — 연초 이후 KOSPI200 159조원 순매도.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46520" y="2029968"/>
            <a:ext cx="2697480" cy="178308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46520" y="2029968"/>
            <a:ext cx="26974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583680" y="2075688"/>
            <a:ext cx="2468880" cy="3657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맑은 고딕"/>
              </a:rPr>
              <a:t>개인 순응매도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633472"/>
            <a:ext cx="2377440" cy="114300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150" b="0">
                <a:solidFill>
                  <a:srgbClr val="3A3A3A"/>
                </a:solidFill>
                <a:latin typeface="맑은 고딕"/>
              </a:rPr>
              <a:t>연초 이후 109조원 순매수로 하방을 받쳤으나, 반등 시마다 차익실현(상승 시 매도)으로 전환.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4</a:t>
            </a:r>
          </a:p>
        </p:txBody>
      </p:sp>
      <p:pic>
        <p:nvPicPr>
          <p:cNvPr id="26" name="Picture 25" descr="c6_p4상단_수급요인_3패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41648"/>
            <a:ext cx="8869680" cy="2072040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2920" y="6159408"/>
            <a:ext cx="8869680" cy="16927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00" dirty="0" err="1">
                <a:solidFill>
                  <a:srgbClr val="888888"/>
                </a:solidFill>
              </a:rPr>
              <a:t>자료</a:t>
            </a:r>
            <a:r>
              <a:rPr sz="800" dirty="0">
                <a:solidFill>
                  <a:srgbClr val="888888"/>
                </a:solidFill>
              </a:rPr>
              <a:t>: </a:t>
            </a:r>
            <a:r>
              <a:rPr sz="800" dirty="0" err="1">
                <a:solidFill>
                  <a:srgbClr val="888888"/>
                </a:solidFill>
              </a:rPr>
              <a:t>국민연금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기금운용본부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공시</a:t>
            </a:r>
            <a:r>
              <a:rPr sz="800" dirty="0">
                <a:solidFill>
                  <a:srgbClr val="888888"/>
                </a:solidFill>
              </a:rPr>
              <a:t>, </a:t>
            </a:r>
            <a:r>
              <a:rPr sz="800" dirty="0" err="1">
                <a:solidFill>
                  <a:srgbClr val="888888"/>
                </a:solidFill>
              </a:rPr>
              <a:t>기금운용위원회</a:t>
            </a:r>
            <a:r>
              <a:rPr sz="800" dirty="0">
                <a:solidFill>
                  <a:srgbClr val="888888"/>
                </a:solidFill>
              </a:rPr>
              <a:t>, </a:t>
            </a:r>
            <a:r>
              <a:rPr sz="800" dirty="0" err="1">
                <a:solidFill>
                  <a:srgbClr val="888888"/>
                </a:solidFill>
              </a:rPr>
              <a:t>증권사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자료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취합</a:t>
            </a:r>
            <a:r>
              <a:rPr sz="800" dirty="0">
                <a:solidFill>
                  <a:srgbClr val="888888"/>
                </a:solidFill>
              </a:rPr>
              <a:t>, </a:t>
            </a:r>
            <a:r>
              <a:rPr sz="800" dirty="0" err="1">
                <a:solidFill>
                  <a:srgbClr val="888888"/>
                </a:solidFill>
              </a:rPr>
              <a:t>FnGuide·KRX</a:t>
            </a:r>
            <a:r>
              <a:rPr sz="800" dirty="0">
                <a:solidFill>
                  <a:srgbClr val="888888"/>
                </a:solidFill>
              </a:rPr>
              <a:t> (2026.7.14 </a:t>
            </a:r>
            <a:r>
              <a:rPr sz="800" dirty="0" err="1">
                <a:solidFill>
                  <a:srgbClr val="888888"/>
                </a:solidFill>
              </a:rPr>
              <a:t>기준</a:t>
            </a:r>
            <a:r>
              <a:rPr sz="800" dirty="0">
                <a:solidFill>
                  <a:srgbClr val="888888"/>
                </a:solidFill>
              </a:rPr>
              <a:t>)  |  주: </a:t>
            </a:r>
            <a:r>
              <a:rPr sz="800" dirty="0" err="1">
                <a:solidFill>
                  <a:srgbClr val="888888"/>
                </a:solidFill>
              </a:rPr>
              <a:t>하반기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추정은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기타자산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규모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고정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가정</a:t>
            </a:r>
            <a:endParaRPr sz="800"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03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왜 지금 이 펀드인가 ②-2 — 하방을 받치는 밸류에이션·실적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207008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KOSPI200 12M Fwd PER 5.8배로 '21년 이후 최저권 — 이익 추정치는 사상 최고 수준으로 상향 중입니다.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1664208"/>
            <a:ext cx="8503920" cy="822960"/>
          </a:xfrm>
          <a:prstGeom prst="rect">
            <a:avLst/>
          </a:prstGeom>
          <a:solidFill>
            <a:srgbClr val="EC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1728216"/>
            <a:ext cx="8138160" cy="39953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dirty="0">
                <a:solidFill>
                  <a:srgbClr val="1F9E6E"/>
                </a:solidFill>
                <a:latin typeface="맑은 고딕"/>
              </a:rPr>
              <a:t>② 하방을 받치는 밸류에이션 및 실적상향: 12M Fwd PER 5.8배('21년 이후 최저권·하위 0.2%) · FY26/27 이익 컨센서스 추가 상향</a:t>
            </a:r>
          </a:p>
          <a:p>
            <a:pPr algn="l">
              <a:lnSpc>
                <a:spcPct val="115000"/>
              </a:lnSpc>
            </a:pPr>
            <a:r>
              <a:rPr sz="950" b="0" dirty="0">
                <a:solidFill>
                  <a:srgbClr val="84888B"/>
                </a:solidFill>
                <a:latin typeface="맑은 고딕"/>
              </a:rPr>
              <a:t>※ 원본 데이터·세부 수치: Appendix ④·⑤ 및 p4_rawdata 엑셀('3_밸류에이션_일간' 시트) 참조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85800" y="6035040"/>
            <a:ext cx="8503920" cy="438912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68680" y="6141644"/>
            <a:ext cx="8138160" cy="225703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>
                <a:solidFill>
                  <a:srgbClr val="F58220"/>
                </a:solidFill>
                <a:latin typeface="맑은 고딕"/>
              </a:rPr>
              <a:t>→ </a:t>
            </a:r>
            <a:r>
              <a:rPr sz="1300" b="1" dirty="0" err="1">
                <a:solidFill>
                  <a:srgbClr val="F58220"/>
                </a:solidFill>
                <a:latin typeface="맑은 고딕"/>
              </a:rPr>
              <a:t>상방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58220"/>
                </a:solidFill>
                <a:latin typeface="맑은 고딕"/>
              </a:rPr>
              <a:t>제한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 + </a:t>
            </a:r>
            <a:r>
              <a:rPr sz="1300" b="1" dirty="0" err="1">
                <a:solidFill>
                  <a:srgbClr val="F58220"/>
                </a:solidFill>
                <a:latin typeface="맑은 고딕"/>
              </a:rPr>
              <a:t>하방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58220"/>
                </a:solidFill>
                <a:latin typeface="맑은 고딕"/>
              </a:rPr>
              <a:t>지지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 = </a:t>
            </a:r>
            <a:r>
              <a:rPr sz="1300" b="1" dirty="0" err="1">
                <a:solidFill>
                  <a:srgbClr val="F58220"/>
                </a:solidFill>
                <a:latin typeface="맑은 고딕"/>
              </a:rPr>
              <a:t>등락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58220"/>
                </a:solidFill>
                <a:latin typeface="맑은 고딕"/>
              </a:rPr>
              <a:t>반복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 → </a:t>
            </a:r>
            <a:r>
              <a:rPr lang="ko-KR" altLang="en-US" sz="1300" b="1" dirty="0">
                <a:solidFill>
                  <a:srgbClr val="F58220"/>
                </a:solidFill>
                <a:latin typeface="맑은 고딕"/>
              </a:rPr>
              <a:t>방향성 투자에 변동성 수확을 더하자</a:t>
            </a:r>
            <a:r>
              <a:rPr lang="en-US" altLang="ko-KR" sz="1300" b="1" dirty="0">
                <a:solidFill>
                  <a:srgbClr val="F58220"/>
                </a:solidFill>
                <a:latin typeface="맑은 고딕"/>
              </a:rPr>
              <a:t>.</a:t>
            </a:r>
            <a:endParaRPr sz="1300" b="1" dirty="0">
              <a:solidFill>
                <a:srgbClr val="F58220"/>
              </a:solidFill>
              <a:latin typeface="맑은 고딕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5</a:t>
            </a:r>
          </a:p>
        </p:txBody>
      </p:sp>
      <p:pic>
        <p:nvPicPr>
          <p:cNvPr id="26" name="Picture 25" descr="c7_p5_밸류_실적_4패널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743200"/>
            <a:ext cx="8869680" cy="2317689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02920" y="5134041"/>
            <a:ext cx="8869680" cy="169277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r>
              <a:rPr sz="800" dirty="0" err="1">
                <a:solidFill>
                  <a:srgbClr val="888888"/>
                </a:solidFill>
              </a:rPr>
              <a:t>자료</a:t>
            </a:r>
            <a:r>
              <a:rPr sz="800" dirty="0">
                <a:solidFill>
                  <a:srgbClr val="888888"/>
                </a:solidFill>
              </a:rPr>
              <a:t>: </a:t>
            </a:r>
            <a:r>
              <a:rPr sz="800" dirty="0" err="1">
                <a:solidFill>
                  <a:srgbClr val="888888"/>
                </a:solidFill>
              </a:rPr>
              <a:t>FnGuide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DataGuide</a:t>
            </a:r>
            <a:r>
              <a:rPr sz="800" dirty="0">
                <a:solidFill>
                  <a:srgbClr val="888888"/>
                </a:solidFill>
              </a:rPr>
              <a:t>, IBES </a:t>
            </a:r>
            <a:r>
              <a:rPr sz="800" dirty="0" err="1">
                <a:solidFill>
                  <a:srgbClr val="888888"/>
                </a:solidFill>
              </a:rPr>
              <a:t>컨센서스</a:t>
            </a:r>
            <a:r>
              <a:rPr sz="800" dirty="0">
                <a:solidFill>
                  <a:srgbClr val="888888"/>
                </a:solidFill>
              </a:rPr>
              <a:t> (2026.7.14 </a:t>
            </a:r>
            <a:r>
              <a:rPr sz="800" dirty="0" err="1">
                <a:solidFill>
                  <a:srgbClr val="888888"/>
                </a:solidFill>
              </a:rPr>
              <a:t>기준</a:t>
            </a:r>
            <a:r>
              <a:rPr sz="800" dirty="0">
                <a:solidFill>
                  <a:srgbClr val="888888"/>
                </a:solidFill>
              </a:rPr>
              <a:t>, 1개월 전=6/12)  |  주: PER·PBR </a:t>
            </a:r>
            <a:r>
              <a:rPr sz="800" dirty="0" err="1">
                <a:solidFill>
                  <a:srgbClr val="888888"/>
                </a:solidFill>
              </a:rPr>
              <a:t>평균은</a:t>
            </a:r>
            <a:r>
              <a:rPr sz="800" dirty="0">
                <a:solidFill>
                  <a:srgbClr val="888888"/>
                </a:solidFill>
              </a:rPr>
              <a:t> '21년 </a:t>
            </a:r>
            <a:r>
              <a:rPr sz="800" dirty="0" err="1">
                <a:solidFill>
                  <a:srgbClr val="888888"/>
                </a:solidFill>
              </a:rPr>
              <a:t>이후</a:t>
            </a:r>
            <a:r>
              <a:rPr sz="800" dirty="0">
                <a:solidFill>
                  <a:srgbClr val="888888"/>
                </a:solidFill>
              </a:rPr>
              <a:t> · 2Q26 </a:t>
            </a:r>
            <a:r>
              <a:rPr sz="800" dirty="0" err="1">
                <a:solidFill>
                  <a:srgbClr val="888888"/>
                </a:solidFill>
              </a:rPr>
              <a:t>삼성전자는</a:t>
            </a:r>
            <a:r>
              <a:rPr sz="800" dirty="0">
                <a:solidFill>
                  <a:srgbClr val="888888"/>
                </a:solidFill>
              </a:rPr>
              <a:t> </a:t>
            </a:r>
            <a:r>
              <a:rPr sz="800" dirty="0" err="1">
                <a:solidFill>
                  <a:srgbClr val="888888"/>
                </a:solidFill>
              </a:rPr>
              <a:t>잠정실적</a:t>
            </a:r>
            <a:r>
              <a:rPr sz="800" dirty="0">
                <a:solidFill>
                  <a:srgbClr val="888888"/>
                </a:solidFill>
              </a:rPr>
              <a:t>(7/7), </a:t>
            </a:r>
            <a:r>
              <a:rPr sz="800" dirty="0" err="1">
                <a:solidFill>
                  <a:srgbClr val="888888"/>
                </a:solidFill>
              </a:rPr>
              <a:t>빗금</a:t>
            </a:r>
            <a:r>
              <a:rPr sz="800" dirty="0">
                <a:solidFill>
                  <a:srgbClr val="888888"/>
                </a:solidFill>
              </a:rPr>
              <a:t>=</a:t>
            </a:r>
            <a:r>
              <a:rPr sz="800" dirty="0" err="1">
                <a:solidFill>
                  <a:srgbClr val="888888"/>
                </a:solidFill>
              </a:rPr>
              <a:t>추정치</a:t>
            </a:r>
            <a:endParaRPr sz="800" dirty="0">
              <a:solidFill>
                <a:srgbClr val="888888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-88085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266729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F58220"/>
                </a:solidFill>
                <a:latin typeface="맑은 고딕"/>
              </a:rPr>
              <a:t>04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484632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dirty="0">
                <a:solidFill>
                  <a:srgbClr val="043B72"/>
                </a:solidFill>
                <a:latin typeface="맑은 고딕"/>
              </a:rPr>
              <a:t>왜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지금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이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펀드인가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③ —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레버리지가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키운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변동성</a:t>
            </a:r>
            <a:endParaRPr sz="2300" b="1" dirty="0">
              <a:solidFill>
                <a:srgbClr val="043B72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070184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3A3A3A"/>
                </a:solidFill>
                <a:latin typeface="맑은 고딕"/>
              </a:rPr>
              <a:t>국내·해외(홍콩 CSOP 등) 레버리지 ETF 약 40조원(6/30 기준)이 삼성전자·SK하이닉스와 지수 변동성을 구조적으로 키우고 있습니다.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4224528"/>
            <a:ext cx="8503920" cy="1901952"/>
          </a:xfrm>
          <a:prstGeom prst="rect">
            <a:avLst/>
          </a:prstGeom>
          <a:solidFill>
            <a:srgbClr val="F2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68680" y="4315968"/>
            <a:ext cx="8138160" cy="22570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043B72"/>
                </a:solidFill>
                <a:latin typeface="맑은 고딕"/>
              </a:rPr>
              <a:t>변동성이</a:t>
            </a:r>
            <a:r>
              <a:rPr sz="1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맑은 고딕"/>
              </a:rPr>
              <a:t>변동성을</a:t>
            </a:r>
            <a:r>
              <a:rPr sz="1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맑은 고딕"/>
              </a:rPr>
              <a:t>부르는</a:t>
            </a:r>
            <a:r>
              <a:rPr sz="1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043B72"/>
                </a:solidFill>
                <a:latin typeface="맑은 고딕"/>
              </a:rPr>
              <a:t>되먹임</a:t>
            </a:r>
            <a:r>
              <a:rPr sz="1300" b="1" dirty="0">
                <a:solidFill>
                  <a:srgbClr val="043B72"/>
                </a:solidFill>
                <a:latin typeface="맑은 고딕"/>
              </a:rPr>
              <a:t> — 두 </a:t>
            </a:r>
            <a:r>
              <a:rPr sz="1300" b="1" dirty="0" err="1">
                <a:solidFill>
                  <a:srgbClr val="043B72"/>
                </a:solidFill>
                <a:latin typeface="맑은 고딕"/>
              </a:rPr>
              <a:t>종목이</a:t>
            </a:r>
            <a:r>
              <a:rPr sz="1300" b="1" dirty="0">
                <a:solidFill>
                  <a:srgbClr val="043B72"/>
                </a:solidFill>
                <a:latin typeface="맑은 고딕"/>
              </a:rPr>
              <a:t> KOSPI200의 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65.6%</a:t>
            </a:r>
            <a:r>
              <a:rPr sz="1200" b="0" dirty="0">
                <a:solidFill>
                  <a:srgbClr val="3A3A3A"/>
                </a:solidFill>
                <a:latin typeface="맑은 고딕"/>
              </a:rPr>
              <a:t> (6/30 KRX · </a:t>
            </a:r>
            <a:r>
              <a:rPr sz="1200" b="0" dirty="0" err="1">
                <a:solidFill>
                  <a:srgbClr val="3A3A3A"/>
                </a:solidFill>
                <a:latin typeface="맑은 고딕"/>
              </a:rPr>
              <a:t>연초</a:t>
            </a:r>
            <a:r>
              <a:rPr sz="1200" b="0" dirty="0">
                <a:solidFill>
                  <a:srgbClr val="3A3A3A"/>
                </a:solidFill>
                <a:latin typeface="맑은 고딕"/>
              </a:rPr>
              <a:t> 38.7% → </a:t>
            </a:r>
            <a:r>
              <a:rPr lang="en-US" sz="1200" b="0" dirty="0">
                <a:solidFill>
                  <a:srgbClr val="3A3A3A"/>
                </a:solidFill>
                <a:latin typeface="맑은 고딕"/>
              </a:rPr>
              <a:t>6</a:t>
            </a:r>
            <a:r>
              <a:rPr sz="1200" b="0" dirty="0">
                <a:solidFill>
                  <a:srgbClr val="3A3A3A"/>
                </a:solidFill>
                <a:latin typeface="맑은 고딕"/>
              </a:rPr>
              <a:t>/</a:t>
            </a:r>
            <a:r>
              <a:rPr lang="en-US" sz="1200" b="0" dirty="0">
                <a:solidFill>
                  <a:srgbClr val="3A3A3A"/>
                </a:solidFill>
                <a:latin typeface="맑은 고딕"/>
              </a:rPr>
              <a:t>30</a:t>
            </a:r>
            <a:r>
              <a:rPr sz="120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lang="en-US" sz="1200" b="0" dirty="0">
                <a:solidFill>
                  <a:srgbClr val="3A3A3A"/>
                </a:solidFill>
                <a:latin typeface="맑은 고딕"/>
              </a:rPr>
              <a:t>65.6</a:t>
            </a:r>
            <a:r>
              <a:rPr sz="1200" b="0" dirty="0">
                <a:solidFill>
                  <a:srgbClr val="3A3A3A"/>
                </a:solidFill>
                <a:latin typeface="맑은 고딕"/>
              </a:rPr>
              <a:t>%)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4892040"/>
            <a:ext cx="18470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43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3544" y="4892040"/>
            <a:ext cx="17373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43B72"/>
                </a:solidFill>
                <a:latin typeface="맑은 고딕"/>
              </a:rPr>
              <a:t>① 지수·종목 흔들림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15768" y="5074920"/>
            <a:ext cx="256032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8220"/>
                </a:solidFill>
                <a:latin typeface="맑은 고딕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71800" y="4892040"/>
            <a:ext cx="18470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43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026664" y="4892040"/>
            <a:ext cx="17373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43B72"/>
                </a:solidFill>
                <a:latin typeface="맑은 고딕"/>
              </a:rPr>
              <a:t>② 지수의 절반인
두 종목 급등락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5074920"/>
            <a:ext cx="256032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8220"/>
                </a:solidFill>
                <a:latin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74920" y="4892040"/>
            <a:ext cx="18470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43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129784" y="5026461"/>
            <a:ext cx="1737360" cy="691279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 dirty="0">
                <a:solidFill>
                  <a:srgbClr val="043B72"/>
                </a:solidFill>
                <a:latin typeface="맑은 고딕"/>
              </a:rPr>
              <a:t>③ </a:t>
            </a:r>
            <a:r>
              <a:rPr sz="1050" b="1" dirty="0" err="1">
                <a:solidFill>
                  <a:srgbClr val="043B72"/>
                </a:solidFill>
                <a:latin typeface="맑은 고딕"/>
              </a:rPr>
              <a:t>레버리지</a:t>
            </a:r>
            <a:r>
              <a:rPr sz="105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1050" b="1" dirty="0" err="1">
                <a:solidFill>
                  <a:srgbClr val="043B72"/>
                </a:solidFill>
                <a:latin typeface="맑은 고딕"/>
              </a:rPr>
              <a:t>종가</a:t>
            </a:r>
            <a:r>
              <a:rPr sz="1050" b="1" dirty="0">
                <a:solidFill>
                  <a:srgbClr val="043B72"/>
                </a:solidFill>
                <a:latin typeface="맑은 고딕"/>
              </a:rPr>
              <a:t>
</a:t>
            </a:r>
            <a:r>
              <a:rPr sz="1050" b="1" dirty="0" err="1">
                <a:solidFill>
                  <a:srgbClr val="043B72"/>
                </a:solidFill>
                <a:latin typeface="맑은 고딕"/>
              </a:rPr>
              <a:t>순응매매</a:t>
            </a:r>
            <a:r>
              <a:rPr sz="1050" b="1" dirty="0">
                <a:solidFill>
                  <a:srgbClr val="043B72"/>
                </a:solidFill>
                <a:latin typeface="맑은 고딕"/>
              </a:rPr>
              <a:t>(±10%→</a:t>
            </a:r>
            <a:r>
              <a:rPr sz="1050" b="1" dirty="0" err="1">
                <a:solidFill>
                  <a:srgbClr val="043B72"/>
                </a:solidFill>
                <a:latin typeface="맑은 고딕"/>
              </a:rPr>
              <a:t>약</a:t>
            </a:r>
            <a:r>
              <a:rPr sz="1050" b="1" dirty="0">
                <a:solidFill>
                  <a:srgbClr val="043B72"/>
                </a:solidFill>
                <a:latin typeface="맑은 고딕"/>
              </a:rPr>
              <a:t> 8조</a:t>
            </a:r>
            <a:r>
              <a:rPr lang="ko-KR" altLang="en-US" sz="1050" b="1" dirty="0">
                <a:solidFill>
                  <a:srgbClr val="043B72"/>
                </a:solidFill>
                <a:latin typeface="맑은 고딕"/>
              </a:rPr>
              <a:t>로 방향성 </a:t>
            </a:r>
            <a:r>
              <a:rPr lang="ko-KR" altLang="en-US" sz="1050" b="1" dirty="0" err="1">
                <a:solidFill>
                  <a:srgbClr val="043B72"/>
                </a:solidFill>
                <a:latin typeface="맑은 고딕"/>
              </a:rPr>
              <a:t>강황</a:t>
            </a:r>
            <a:r>
              <a:rPr sz="1050" b="1" dirty="0">
                <a:solidFill>
                  <a:srgbClr val="043B72"/>
                </a:solidFill>
                <a:latin typeface="맑은 고딕"/>
              </a:rPr>
              <a:t>)</a:t>
            </a:r>
            <a:r>
              <a:rPr lang="ko-KR" altLang="en-US" sz="1050" b="1" dirty="0">
                <a:solidFill>
                  <a:srgbClr val="043B72"/>
                </a:solidFill>
                <a:latin typeface="맑은 고딕"/>
              </a:rPr>
              <a:t> 종목변동성확대</a:t>
            </a:r>
            <a:endParaRPr sz="1050" b="1" dirty="0">
              <a:solidFill>
                <a:srgbClr val="043B72"/>
              </a:solidFill>
              <a:latin typeface="맑은 고딕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922008" y="5074920"/>
            <a:ext cx="256032" cy="5486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58220"/>
                </a:solidFill>
                <a:latin typeface="맑은 고딕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178040" y="4892040"/>
            <a:ext cx="1847088" cy="960120"/>
          </a:xfrm>
          <a:prstGeom prst="rect">
            <a:avLst/>
          </a:prstGeom>
          <a:solidFill>
            <a:srgbClr val="FFFFFF"/>
          </a:solidFill>
          <a:ln w="9525">
            <a:solidFill>
              <a:srgbClr val="043B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232904" y="4892040"/>
            <a:ext cx="17373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043B72"/>
                </a:solidFill>
                <a:latin typeface="맑은 고딕"/>
              </a:rPr>
              <a:t>④ 지수 변동성
재확대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5</a:t>
            </a:r>
          </a:p>
        </p:txBody>
      </p:sp>
      <p:pic>
        <p:nvPicPr>
          <p:cNvPr id="24" name="Picture 23" descr="slide5_lef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208" y="1527384"/>
            <a:ext cx="4160520" cy="2558699"/>
          </a:xfrm>
          <a:prstGeom prst="rect">
            <a:avLst/>
          </a:prstGeom>
        </p:spPr>
      </p:pic>
      <p:pic>
        <p:nvPicPr>
          <p:cNvPr id="25" name="Picture 24" descr="slide5_right_p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460257"/>
            <a:ext cx="4160520" cy="25586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24612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F58220"/>
                </a:solidFill>
                <a:latin typeface="맑은 고딕"/>
              </a:rPr>
              <a:t>05 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598932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dirty="0" err="1">
                <a:solidFill>
                  <a:srgbClr val="043B72"/>
                </a:solidFill>
                <a:latin typeface="맑은 고딕"/>
              </a:rPr>
              <a:t>레버리지의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'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잠식'을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우리는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'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수확'으로</a:t>
            </a:r>
            <a:endParaRPr sz="2300" b="1" dirty="0">
              <a:solidFill>
                <a:srgbClr val="043B72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014984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3A3A3A"/>
                </a:solidFill>
                <a:latin typeface="맑은 고딕"/>
              </a:rPr>
              <a:t>같은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변동성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,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정반대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매매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—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레버리지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ETF가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'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잃는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'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그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변동성을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본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펀드는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'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수익'으로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전환합니다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417320"/>
            <a:ext cx="4069080" cy="1280160"/>
          </a:xfrm>
          <a:prstGeom prst="rect">
            <a:avLst/>
          </a:prstGeom>
          <a:solidFill>
            <a:srgbClr val="FCEB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120640" y="1417320"/>
            <a:ext cx="4069080" cy="457200"/>
          </a:xfrm>
          <a:prstGeom prst="rect">
            <a:avLst/>
          </a:prstGeom>
          <a:solidFill>
            <a:srgbClr val="D02F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257800" y="1444752"/>
            <a:ext cx="3840480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레버리지 ETF — 변동성에 '잠식'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85232" y="1965960"/>
            <a:ext cx="3749039" cy="41133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dirty="0" err="1">
                <a:solidFill>
                  <a:srgbClr val="3A3A3A"/>
                </a:solidFill>
                <a:latin typeface="맑은 고딕"/>
              </a:rPr>
              <a:t>매일</a:t>
            </a:r>
            <a:r>
              <a:rPr sz="115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3A3A3A"/>
                </a:solidFill>
                <a:latin typeface="맑은 고딕"/>
              </a:rPr>
              <a:t>고가매수·저가매도</a:t>
            </a:r>
            <a:r>
              <a:rPr sz="1150" b="1" dirty="0">
                <a:solidFill>
                  <a:srgbClr val="3A3A3A"/>
                </a:solidFill>
                <a:latin typeface="맑은 고딕"/>
              </a:rPr>
              <a:t>(</a:t>
            </a:r>
            <a:r>
              <a:rPr sz="1150" b="1" dirty="0" err="1">
                <a:solidFill>
                  <a:srgbClr val="3A3A3A"/>
                </a:solidFill>
                <a:latin typeface="맑은 고딕"/>
              </a:rPr>
              <a:t>추세</a:t>
            </a:r>
            <a:r>
              <a:rPr sz="115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3A3A3A"/>
                </a:solidFill>
                <a:latin typeface="맑은 고딕"/>
              </a:rPr>
              <a:t>순응</a:t>
            </a:r>
            <a:r>
              <a:rPr sz="115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50" b="1" dirty="0" err="1">
                <a:solidFill>
                  <a:srgbClr val="3A3A3A"/>
                </a:solidFill>
                <a:latin typeface="맑은 고딕"/>
              </a:rPr>
              <a:t>리밸런싱</a:t>
            </a:r>
            <a:r>
              <a:rPr sz="1150" b="1" dirty="0">
                <a:solidFill>
                  <a:srgbClr val="3A3A3A"/>
                </a:solidFill>
                <a:latin typeface="맑은 고딕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100" b="0" dirty="0">
                <a:solidFill>
                  <a:srgbClr val="3A3A3A"/>
                </a:solidFill>
                <a:latin typeface="맑은 고딕"/>
              </a:rPr>
              <a:t>→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변동성이</a:t>
            </a:r>
            <a:r>
              <a:rPr sz="110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클수록</a:t>
            </a:r>
            <a:r>
              <a:rPr sz="110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자산이</a:t>
            </a:r>
            <a:r>
              <a:rPr sz="110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녹는다</a:t>
            </a:r>
            <a:r>
              <a:rPr sz="1100" b="0" dirty="0">
                <a:solidFill>
                  <a:srgbClr val="3A3A3A"/>
                </a:solidFill>
                <a:latin typeface="맑은 고딕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2761488"/>
            <a:ext cx="406908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▼ 정반대 매매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120640" y="3108960"/>
            <a:ext cx="4069080" cy="12801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5120640" y="3108960"/>
            <a:ext cx="4069080" cy="45720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7800" y="3136392"/>
            <a:ext cx="3840480" cy="4114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</a:rPr>
              <a:t>변동성 하베스트 펀드 — 변동성을 '수확'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85232" y="3657600"/>
            <a:ext cx="3749039" cy="40588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1" dirty="0" err="1">
                <a:solidFill>
                  <a:srgbClr val="043B72"/>
                </a:solidFill>
                <a:latin typeface="맑은 고딕"/>
              </a:rPr>
              <a:t>주가</a:t>
            </a:r>
            <a:r>
              <a:rPr sz="1150" b="1" dirty="0">
                <a:solidFill>
                  <a:srgbClr val="043B72"/>
                </a:solidFill>
                <a:latin typeface="맑은 고딕"/>
              </a:rPr>
              <a:t>↓ </a:t>
            </a:r>
            <a:r>
              <a:rPr sz="1150" b="1" dirty="0" err="1">
                <a:solidFill>
                  <a:srgbClr val="043B72"/>
                </a:solidFill>
                <a:latin typeface="맑은 고딕"/>
              </a:rPr>
              <a:t>비중</a:t>
            </a:r>
            <a:r>
              <a:rPr sz="1150" b="1" dirty="0">
                <a:solidFill>
                  <a:srgbClr val="043B72"/>
                </a:solidFill>
                <a:latin typeface="맑은 고딕"/>
              </a:rPr>
              <a:t>↑(</a:t>
            </a:r>
            <a:r>
              <a:rPr sz="1150" b="1" dirty="0" err="1">
                <a:solidFill>
                  <a:srgbClr val="043B72"/>
                </a:solidFill>
                <a:latin typeface="맑은 고딕"/>
              </a:rPr>
              <a:t>저가매수</a:t>
            </a:r>
            <a:r>
              <a:rPr sz="1150" b="1" dirty="0">
                <a:solidFill>
                  <a:srgbClr val="043B72"/>
                </a:solidFill>
                <a:latin typeface="맑은 고딕"/>
              </a:rPr>
              <a:t>)</a:t>
            </a:r>
            <a:r>
              <a:rPr lang="ko-KR" altLang="en-US" sz="115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1150" b="1" dirty="0">
                <a:solidFill>
                  <a:srgbClr val="043B72"/>
                </a:solidFill>
                <a:latin typeface="맑은 고딕"/>
              </a:rPr>
              <a:t>·</a:t>
            </a:r>
            <a:r>
              <a:rPr lang="ko-KR" altLang="en-US" sz="1150" b="1" dirty="0">
                <a:solidFill>
                  <a:srgbClr val="043B72"/>
                </a:solidFill>
                <a:latin typeface="맑은 고딕"/>
              </a:rPr>
              <a:t>  </a:t>
            </a:r>
            <a:r>
              <a:rPr sz="1150" b="1" dirty="0" err="1">
                <a:solidFill>
                  <a:srgbClr val="043B72"/>
                </a:solidFill>
                <a:latin typeface="맑은 고딕"/>
              </a:rPr>
              <a:t>주가</a:t>
            </a:r>
            <a:r>
              <a:rPr sz="1150" b="1" dirty="0">
                <a:solidFill>
                  <a:srgbClr val="043B72"/>
                </a:solidFill>
                <a:latin typeface="맑은 고딕"/>
              </a:rPr>
              <a:t>↑ </a:t>
            </a:r>
            <a:r>
              <a:rPr sz="1150" b="1" dirty="0" err="1">
                <a:solidFill>
                  <a:srgbClr val="043B72"/>
                </a:solidFill>
                <a:latin typeface="맑은 고딕"/>
              </a:rPr>
              <a:t>비중</a:t>
            </a:r>
            <a:r>
              <a:rPr sz="1150" b="1" dirty="0">
                <a:solidFill>
                  <a:srgbClr val="043B72"/>
                </a:solidFill>
                <a:latin typeface="맑은 고딕"/>
              </a:rPr>
              <a:t>↓(</a:t>
            </a:r>
            <a:r>
              <a:rPr sz="1150" b="1" dirty="0" err="1">
                <a:solidFill>
                  <a:srgbClr val="043B72"/>
                </a:solidFill>
                <a:latin typeface="맑은 고딕"/>
              </a:rPr>
              <a:t>고가매도</a:t>
            </a:r>
            <a:r>
              <a:rPr sz="1150" b="1" dirty="0">
                <a:solidFill>
                  <a:srgbClr val="043B72"/>
                </a:solidFill>
                <a:latin typeface="맑은 고딕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100" b="0" dirty="0">
                <a:solidFill>
                  <a:srgbClr val="3A3A3A"/>
                </a:solidFill>
                <a:latin typeface="맑은 고딕"/>
              </a:rPr>
              <a:t>→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확대된</a:t>
            </a:r>
            <a:r>
              <a:rPr sz="110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변동성을</a:t>
            </a:r>
            <a:r>
              <a:rPr sz="110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매매</a:t>
            </a:r>
            <a:r>
              <a:rPr sz="110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수익으로</a:t>
            </a:r>
            <a:r>
              <a:rPr sz="1100" b="0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100" b="0" dirty="0" err="1">
                <a:solidFill>
                  <a:srgbClr val="3A3A3A"/>
                </a:solidFill>
                <a:latin typeface="맑은 고딕"/>
              </a:rPr>
              <a:t>전환</a:t>
            </a:r>
            <a:endParaRPr sz="1100" b="0" dirty="0">
              <a:solidFill>
                <a:srgbClr val="3A3A3A"/>
              </a:solidFill>
              <a:latin typeface="맑은 고딕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85800" y="5074920"/>
            <a:ext cx="8503920" cy="96012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074920"/>
            <a:ext cx="8138160" cy="96012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1">
                <a:solidFill>
                  <a:srgbClr val="F58220"/>
                </a:solidFill>
                <a:latin typeface="맑은 고딕"/>
              </a:rPr>
              <a:t>핵심: 레버리지가 '잃는' 바로 그 변동성을, 본 펀드는 '수확'한다.</a:t>
            </a:r>
          </a:p>
          <a:p>
            <a:pPr algn="l">
              <a:lnSpc>
                <a:spcPct val="125000"/>
              </a:lnSpc>
            </a:pPr>
            <a:r>
              <a:rPr sz="1200" b="1">
                <a:solidFill>
                  <a:srgbClr val="3A3A3A"/>
                </a:solidFill>
                <a:latin typeface="맑은 고딕"/>
              </a:rPr>
              <a:t>변동성이 클수록(=잠식이 클수록) 본 펀드의 수익 기회는 오히려 커진다.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7</a:t>
            </a:r>
          </a:p>
        </p:txBody>
      </p:sp>
      <p:pic>
        <p:nvPicPr>
          <p:cNvPr id="21" name="Picture 20" descr="lev_rebal_hyn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526280" cy="364845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F58220"/>
                </a:solidFill>
                <a:latin typeface="맑은 고딕"/>
              </a:rPr>
              <a:t>0</a:t>
            </a:r>
            <a:r>
              <a:rPr lang="en-US" altLang="ko-KR" sz="1200" b="1" dirty="0">
                <a:solidFill>
                  <a:srgbClr val="F58220"/>
                </a:solidFill>
                <a:latin typeface="맑은 고딕"/>
              </a:rPr>
              <a:t>6</a:t>
            </a:r>
            <a:r>
              <a:rPr sz="1200" b="1" dirty="0">
                <a:solidFill>
                  <a:srgbClr val="F58220"/>
                </a:solidFill>
                <a:latin typeface="맑은 고딕"/>
              </a:rPr>
              <a:t>  STRATEGY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전략 — 변동성 매매 + 방향 투자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325880"/>
            <a:ext cx="8595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3A3A3A"/>
                </a:solidFill>
                <a:latin typeface="맑은 고딕"/>
              </a:rPr>
              <a:t>변동성이 높아 매매 기회는 많고, 방향은 위(상승 참여)라는 두 관점을 하나의 포트폴리오에 결합.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1965960"/>
            <a:ext cx="822960" cy="1051560"/>
          </a:xfrm>
          <a:prstGeom prst="rect">
            <a:avLst/>
          </a:prstGeom>
          <a:solidFill>
            <a:srgbClr val="043B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965960"/>
            <a:ext cx="822960" cy="10515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①</a:t>
            </a:r>
          </a:p>
        </p:txBody>
      </p:sp>
      <p:sp>
        <p:nvSpPr>
          <p:cNvPr id="9" name="Rectangle 8"/>
          <p:cNvSpPr/>
          <p:nvPr/>
        </p:nvSpPr>
        <p:spPr>
          <a:xfrm>
            <a:off x="1600200" y="196596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783080" y="2075688"/>
            <a:ext cx="722376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43B72"/>
                </a:solidFill>
                <a:latin typeface="맑은 고딕"/>
              </a:rPr>
              <a:t>변동성 매매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A3A3A"/>
                </a:solidFill>
                <a:latin typeface="맑은 고딕"/>
              </a:rPr>
              <a:t>저가매수·고가매도를 반복하여 높아진 변동성을 수익으로 전환.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" y="3200400"/>
            <a:ext cx="822960" cy="1051560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3200400"/>
            <a:ext cx="822960" cy="10515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00200" y="320040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783080" y="3310128"/>
            <a:ext cx="722376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F58220"/>
                </a:solidFill>
                <a:latin typeface="맑은 고딕"/>
              </a:rPr>
              <a:t>방향 투자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A3A3A"/>
                </a:solidFill>
                <a:latin typeface="맑은 고딕"/>
              </a:rPr>
              <a:t>상승 구간 추가 수익. 실적·AI·레버리지 수급의 상방에 베팅.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4434840"/>
            <a:ext cx="822960" cy="1051560"/>
          </a:xfrm>
          <a:prstGeom prst="rect">
            <a:avLst/>
          </a:prstGeom>
          <a:solidFill>
            <a:srgbClr val="00A9C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5800" y="4434840"/>
            <a:ext cx="822960" cy="105156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③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600200" y="4434840"/>
            <a:ext cx="7589520" cy="105156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783080" y="4544568"/>
            <a:ext cx="7223760" cy="86868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00A9CE"/>
                </a:solidFill>
                <a:latin typeface="맑은 고딕"/>
              </a:rPr>
              <a:t>시스템 운용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3A3A3A"/>
                </a:solidFill>
                <a:latin typeface="맑은 고딕"/>
              </a:rPr>
              <a:t>미래에셋 QPMS Vol Trading 시스템을 통해 검증된 운용.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205740"/>
            <a:ext cx="82296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F58220"/>
                </a:solidFill>
                <a:latin typeface="맑은 고딕"/>
              </a:rPr>
              <a:t>0</a:t>
            </a:r>
            <a:r>
              <a:rPr lang="en-US" altLang="ko-KR" sz="1200" b="1" dirty="0">
                <a:solidFill>
                  <a:srgbClr val="F58220"/>
                </a:solidFill>
                <a:latin typeface="맑은 고딕"/>
              </a:rPr>
              <a:t>7</a:t>
            </a:r>
            <a:r>
              <a:rPr sz="1200" b="1" dirty="0">
                <a:solidFill>
                  <a:srgbClr val="F58220"/>
                </a:solidFill>
                <a:latin typeface="맑은 고딕"/>
              </a:rPr>
              <a:t>  HOW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dirty="0" err="1">
                <a:solidFill>
                  <a:srgbClr val="043B72"/>
                </a:solidFill>
                <a:latin typeface="맑은 고딕"/>
              </a:rPr>
              <a:t>어떻게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운용하는가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—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저가매수·고가매도</a:t>
            </a:r>
            <a:endParaRPr sz="2300" b="1" dirty="0">
              <a:solidFill>
                <a:srgbClr val="043B72"/>
              </a:solidFill>
              <a:latin typeface="맑은 고딕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3A3A3A"/>
                </a:solidFill>
                <a:latin typeface="맑은 고딕"/>
              </a:rPr>
              <a:t>시장이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빠지면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편입을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늘리고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(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저가매수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),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오르면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줄인다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(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고가매도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).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등락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(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변동성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)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을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매매로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수취합니다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.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5623560"/>
            <a:ext cx="8503920" cy="54864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5623560"/>
            <a:ext cx="8138160" cy="548640"/>
          </a:xfrm>
          <a:prstGeom prst="rect">
            <a:avLst/>
          </a:prstGeom>
          <a:noFill/>
        </p:spPr>
        <p:txBody>
          <a:bodyPr wrap="square" lIns="25400" tIns="12700" rIns="25400" bIns="1270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58220"/>
                </a:solidFill>
                <a:latin typeface="맑은 고딕"/>
              </a:rPr>
              <a:t>→ 레버리지 ETF의 '고가매수·저가매도'와 정반대 — 변동성을 잃지 않고 '수취'하는 구조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10</a:t>
            </a:r>
          </a:p>
        </p:txBody>
      </p:sp>
      <p:pic>
        <p:nvPicPr>
          <p:cNvPr id="12" name="Picture 11" descr="oper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71600"/>
            <a:ext cx="8503920" cy="420806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85216" y="342021"/>
            <a:ext cx="8229600" cy="210314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F58220"/>
                </a:solidFill>
                <a:latin typeface="맑은 고딕"/>
              </a:rPr>
              <a:t>0</a:t>
            </a:r>
            <a:r>
              <a:rPr lang="en-US" altLang="ko-KR" sz="1200" b="1" dirty="0">
                <a:solidFill>
                  <a:srgbClr val="F58220"/>
                </a:solidFill>
                <a:latin typeface="맑은 고딕"/>
              </a:rPr>
              <a:t>8</a:t>
            </a:r>
            <a:r>
              <a:rPr sz="1200" b="1" dirty="0">
                <a:solidFill>
                  <a:srgbClr val="F58220"/>
                </a:solidFill>
                <a:latin typeface="맑은 고딕"/>
              </a:rPr>
              <a:t> 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585328"/>
            <a:ext cx="8686800" cy="37959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dirty="0" err="1">
                <a:solidFill>
                  <a:srgbClr val="043B72"/>
                </a:solidFill>
                <a:latin typeface="맑은 고딕"/>
              </a:rPr>
              <a:t>수익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구조</a:t>
            </a:r>
            <a:r>
              <a:rPr lang="en-US" altLang="ko-KR" sz="2300" b="1" dirty="0">
                <a:solidFill>
                  <a:srgbClr val="043B72"/>
                </a:solidFill>
                <a:latin typeface="맑은 고딕"/>
              </a:rPr>
              <a:t>1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—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성장변동성펀드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(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변동성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매매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+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상승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참여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960120"/>
            <a:ext cx="868680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3A3A3A"/>
                </a:solidFill>
                <a:latin typeface="맑은 고딕"/>
              </a:rPr>
              <a:t>운용 중 -40% 미도달 시 상승에 참여, -40% 도달 시 하방에 노출됩니다. 시뮬레이션 결과(각 점=1회).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004936"/>
            <a:ext cx="8595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dirty="0" err="1">
                <a:solidFill>
                  <a:srgbClr val="84888B"/>
                </a:solidFill>
                <a:latin typeface="맑은 고딕"/>
              </a:rPr>
              <a:t>변동성</a:t>
            </a:r>
            <a:r>
              <a:rPr sz="900" b="0" dirty="0">
                <a:solidFill>
                  <a:srgbClr val="84888B"/>
                </a:solidFill>
                <a:latin typeface="맑은 고딕"/>
              </a:rPr>
              <a:t> 50% </a:t>
            </a:r>
            <a:r>
              <a:rPr sz="900" b="0" dirty="0" err="1">
                <a:solidFill>
                  <a:srgbClr val="84888B"/>
                </a:solidFill>
                <a:latin typeface="맑은 고딕"/>
              </a:rPr>
              <a:t>가정</a:t>
            </a:r>
            <a:r>
              <a:rPr sz="900" b="0" dirty="0">
                <a:solidFill>
                  <a:srgbClr val="84888B"/>
                </a:solidFill>
                <a:latin typeface="맑은 고딕"/>
              </a:rPr>
              <a:t> · </a:t>
            </a:r>
            <a:r>
              <a:rPr sz="900" b="0" dirty="0" err="1">
                <a:solidFill>
                  <a:srgbClr val="84888B"/>
                </a:solidFill>
                <a:latin typeface="맑은 고딕"/>
              </a:rPr>
              <a:t>점</a:t>
            </a:r>
            <a:r>
              <a:rPr sz="900" b="0" dirty="0">
                <a:solidFill>
                  <a:srgbClr val="84888B"/>
                </a:solidFill>
                <a:latin typeface="맑은 고딕"/>
              </a:rPr>
              <a:t>=</a:t>
            </a:r>
            <a:r>
              <a:rPr sz="900" b="0" dirty="0" err="1">
                <a:solidFill>
                  <a:srgbClr val="84888B"/>
                </a:solidFill>
                <a:latin typeface="맑은 고딕"/>
              </a:rPr>
              <a:t>시뮬</a:t>
            </a:r>
            <a:r>
              <a:rPr sz="900" b="0" dirty="0">
                <a:solidFill>
                  <a:srgbClr val="84888B"/>
                </a:solidFill>
                <a:latin typeface="맑은 고딕"/>
              </a:rPr>
              <a:t> 1회 · </a:t>
            </a:r>
            <a:r>
              <a:rPr sz="900" b="1" dirty="0" err="1">
                <a:solidFill>
                  <a:srgbClr val="F58220"/>
                </a:solidFill>
                <a:latin typeface="맑은 고딕"/>
              </a:rPr>
              <a:t>노란선</a:t>
            </a:r>
            <a:r>
              <a:rPr sz="900" b="1" dirty="0">
                <a:solidFill>
                  <a:srgbClr val="F58220"/>
                </a:solidFill>
                <a:latin typeface="맑은 고딕"/>
              </a:rPr>
              <a:t>=</a:t>
            </a:r>
            <a:r>
              <a:rPr sz="900" b="1" dirty="0" err="1">
                <a:solidFill>
                  <a:srgbClr val="F58220"/>
                </a:solidFill>
                <a:latin typeface="맑은 고딕"/>
              </a:rPr>
              <a:t>구간</a:t>
            </a:r>
            <a:r>
              <a:rPr sz="900" b="1" dirty="0">
                <a:solidFill>
                  <a:srgbClr val="F58220"/>
                </a:solidFill>
                <a:latin typeface="맑은 고딕"/>
              </a:rPr>
              <a:t> </a:t>
            </a:r>
            <a:r>
              <a:rPr sz="900" b="1" dirty="0" err="1">
                <a:solidFill>
                  <a:srgbClr val="F58220"/>
                </a:solidFill>
                <a:latin typeface="맑은 고딕"/>
              </a:rPr>
              <a:t>평균</a:t>
            </a:r>
            <a:r>
              <a:rPr sz="900" b="0" dirty="0">
                <a:solidFill>
                  <a:srgbClr val="84888B"/>
                </a:solidFill>
                <a:latin typeface="맑은 고딕"/>
              </a:rPr>
              <a:t> · </a:t>
            </a:r>
            <a:r>
              <a:rPr sz="900" b="0" dirty="0" err="1">
                <a:solidFill>
                  <a:srgbClr val="84888B"/>
                </a:solidFill>
                <a:latin typeface="맑은 고딕"/>
              </a:rPr>
              <a:t>데이터</a:t>
            </a:r>
            <a:r>
              <a:rPr sz="900" b="0" dirty="0">
                <a:solidFill>
                  <a:srgbClr val="84888B"/>
                </a:solidFill>
                <a:latin typeface="맑은 고딕"/>
              </a:rPr>
              <a:t>: </a:t>
            </a:r>
            <a:r>
              <a:rPr sz="900" b="0" dirty="0" err="1">
                <a:solidFill>
                  <a:srgbClr val="84888B"/>
                </a:solidFill>
                <a:latin typeface="맑은 고딕"/>
              </a:rPr>
              <a:t>자체</a:t>
            </a:r>
            <a:r>
              <a:rPr sz="9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84888B"/>
                </a:solidFill>
                <a:latin typeface="맑은 고딕"/>
              </a:rPr>
              <a:t>시뮬레이션</a:t>
            </a:r>
            <a:r>
              <a:rPr sz="900" b="0" dirty="0">
                <a:solidFill>
                  <a:srgbClr val="84888B"/>
                </a:solidFill>
                <a:latin typeface="맑은 고딕"/>
              </a:rPr>
              <a:t>(</a:t>
            </a:r>
            <a:r>
              <a:rPr sz="900" b="0" dirty="0" err="1">
                <a:solidFill>
                  <a:srgbClr val="84888B"/>
                </a:solidFill>
                <a:latin typeface="맑은 고딕"/>
              </a:rPr>
              <a:t>거래비용·운용오차</a:t>
            </a:r>
            <a:r>
              <a:rPr sz="9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900" b="0" dirty="0" err="1">
                <a:solidFill>
                  <a:srgbClr val="84888B"/>
                </a:solidFill>
                <a:latin typeface="맑은 고딕"/>
              </a:rPr>
              <a:t>포함</a:t>
            </a:r>
            <a:r>
              <a:rPr sz="900" b="0" dirty="0">
                <a:solidFill>
                  <a:srgbClr val="84888B"/>
                </a:solidFill>
                <a:latin typeface="맑은 고딕"/>
              </a:rPr>
              <a:t>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11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5318819"/>
            <a:ext cx="8503920" cy="731520"/>
          </a:xfrm>
          <a:prstGeom prst="rect">
            <a:avLst/>
          </a:prstGeom>
          <a:solidFill>
            <a:srgbClr val="FDF1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14400" y="5373683"/>
            <a:ext cx="81381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0000"/>
              </a:lnSpc>
            </a:pPr>
            <a:r>
              <a:rPr sz="1300" b="1" dirty="0">
                <a:solidFill>
                  <a:srgbClr val="F58220"/>
                </a:solidFill>
                <a:latin typeface="맑은 고딕"/>
              </a:rPr>
              <a:t>※ -40% </a:t>
            </a:r>
            <a:r>
              <a:rPr sz="1300" b="1" dirty="0" err="1">
                <a:solidFill>
                  <a:srgbClr val="F58220"/>
                </a:solidFill>
                <a:latin typeface="맑은 고딕"/>
              </a:rPr>
              <a:t>도달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F58220"/>
                </a:solidFill>
                <a:latin typeface="맑은 고딕"/>
              </a:rPr>
              <a:t>시에는</a:t>
            </a:r>
            <a:r>
              <a:rPr sz="1300" b="1" dirty="0">
                <a:solidFill>
                  <a:srgbClr val="F58220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상승에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따른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수익을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수취하기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위해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변동성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매매를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수행하지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않으며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,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주식형과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유사하게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운용됩니다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.</a:t>
            </a:r>
          </a:p>
        </p:txBody>
      </p:sp>
      <p:pic>
        <p:nvPicPr>
          <p:cNvPr id="14" name="Picture 13" descr="scat_kospi_growth_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1"/>
            <a:ext cx="4526280" cy="3496174"/>
          </a:xfrm>
          <a:prstGeom prst="rect">
            <a:avLst/>
          </a:prstGeom>
        </p:spPr>
      </p:pic>
      <p:pic>
        <p:nvPicPr>
          <p:cNvPr id="15" name="Picture 14" descr="scat_kospi_growth_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417321"/>
            <a:ext cx="4526280" cy="35510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393192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dirty="0">
                <a:solidFill>
                  <a:srgbClr val="F58220"/>
                </a:solidFill>
                <a:latin typeface="맑은 고딕"/>
              </a:rPr>
              <a:t>10  PAYOFF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630936"/>
            <a:ext cx="8686800" cy="379591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 dirty="0" err="1">
                <a:solidFill>
                  <a:srgbClr val="043B72"/>
                </a:solidFill>
                <a:latin typeface="맑은 고딕"/>
              </a:rPr>
              <a:t>수익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구조</a:t>
            </a:r>
            <a:r>
              <a:rPr lang="en-US" altLang="ko-KR" sz="2300" b="1" dirty="0">
                <a:solidFill>
                  <a:srgbClr val="043B72"/>
                </a:solidFill>
                <a:latin typeface="맑은 고딕"/>
              </a:rPr>
              <a:t>2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—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안정변동성펀드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(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안정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변동성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 </a:t>
            </a:r>
            <a:r>
              <a:rPr sz="2300" b="1" dirty="0" err="1">
                <a:solidFill>
                  <a:srgbClr val="043B72"/>
                </a:solidFill>
                <a:latin typeface="맑은 고딕"/>
              </a:rPr>
              <a:t>매매</a:t>
            </a:r>
            <a:r>
              <a:rPr sz="2300" b="1" dirty="0">
                <a:solidFill>
                  <a:srgbClr val="043B72"/>
                </a:solidFill>
                <a:latin typeface="맑은 고딕"/>
              </a:rPr>
              <a:t>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05840"/>
            <a:ext cx="8686800" cy="225703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dirty="0" err="1">
                <a:solidFill>
                  <a:srgbClr val="3A3A3A"/>
                </a:solidFill>
                <a:latin typeface="맑은 고딕"/>
              </a:rPr>
              <a:t>보합·상승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구간에서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변동성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매매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수익을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안정적으로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확보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(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상단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 </a:t>
            </a:r>
            <a:r>
              <a:rPr sz="1300" b="1" dirty="0" err="1">
                <a:solidFill>
                  <a:srgbClr val="3A3A3A"/>
                </a:solidFill>
                <a:latin typeface="맑은 고딕"/>
              </a:rPr>
              <a:t>고정</a:t>
            </a:r>
            <a:r>
              <a:rPr sz="1300" b="1" dirty="0">
                <a:solidFill>
                  <a:srgbClr val="3A3A3A"/>
                </a:solidFill>
                <a:latin typeface="맑은 고딕"/>
              </a:rPr>
              <a:t>), </a:t>
            </a:r>
            <a:r>
              <a:rPr lang="ko-KR" altLang="en-US" sz="1300" b="1" dirty="0">
                <a:solidFill>
                  <a:srgbClr val="3A3A3A"/>
                </a:solidFill>
                <a:latin typeface="맑은 고딕"/>
              </a:rPr>
              <a:t>단</a:t>
            </a:r>
            <a:r>
              <a:rPr lang="en-US" altLang="ko-KR" sz="1300" b="1" dirty="0">
                <a:solidFill>
                  <a:srgbClr val="3A3A3A"/>
                </a:solidFill>
                <a:latin typeface="맑은 고딕"/>
              </a:rPr>
              <a:t>,</a:t>
            </a:r>
            <a:r>
              <a:rPr lang="ko-KR" altLang="en-US" sz="1300" b="1" dirty="0">
                <a:solidFill>
                  <a:srgbClr val="3A3A3A"/>
                </a:solidFill>
                <a:latin typeface="맑은 고딕"/>
              </a:rPr>
              <a:t> 상승이 제한됩니다</a:t>
            </a:r>
            <a:r>
              <a:rPr lang="en-US" altLang="ko-KR" sz="1300" b="1" dirty="0">
                <a:solidFill>
                  <a:srgbClr val="3A3A3A"/>
                </a:solidFill>
                <a:latin typeface="맑은 고딕"/>
              </a:rPr>
              <a:t>.</a:t>
            </a:r>
            <a:endParaRPr sz="1300" b="1" dirty="0">
              <a:solidFill>
                <a:srgbClr val="3A3A3A"/>
              </a:solidFill>
              <a:latin typeface="맑은 고딕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280160" y="5556144"/>
            <a:ext cx="8595360" cy="36576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84888B"/>
                </a:solidFill>
                <a:latin typeface="맑은 고딕"/>
              </a:rPr>
              <a:t>변동성 50% 가정 · 점=시뮬 1회 · </a:t>
            </a:r>
            <a:r>
              <a:rPr sz="900" b="1">
                <a:solidFill>
                  <a:srgbClr val="F58220"/>
                </a:solidFill>
                <a:latin typeface="맑은 고딕"/>
              </a:rPr>
              <a:t>노란선=구간 평균</a:t>
            </a:r>
            <a:r>
              <a:rPr sz="900" b="0">
                <a:solidFill>
                  <a:srgbClr val="84888B"/>
                </a:solidFill>
                <a:latin typeface="맑은 고딕"/>
              </a:rPr>
              <a:t> · 데이터: 자체 시뮬레이션(거래비용·운용오차 포함)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 dirty="0">
                <a:solidFill>
                  <a:srgbClr val="84888B"/>
                </a:solidFill>
                <a:latin typeface="맑은 고딕"/>
              </a:rPr>
              <a:t>※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상기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자료는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이해를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돕기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위한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예시이며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실제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투자내용을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의미하지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않습니다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.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시뮬레이션은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가정에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따른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것으로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실제와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다를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수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 </a:t>
            </a:r>
            <a:r>
              <a:rPr sz="700" b="0" dirty="0" err="1">
                <a:solidFill>
                  <a:srgbClr val="84888B"/>
                </a:solidFill>
                <a:latin typeface="맑은 고딕"/>
              </a:rPr>
              <a:t>있습니다</a:t>
            </a:r>
            <a:r>
              <a:rPr sz="700" b="0" dirty="0">
                <a:solidFill>
                  <a:srgbClr val="84888B"/>
                </a:solidFill>
                <a:latin typeface="맑은 고딕"/>
              </a:rPr>
              <a:t>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12</a:t>
            </a:r>
          </a:p>
        </p:txBody>
      </p:sp>
      <p:pic>
        <p:nvPicPr>
          <p:cNvPr id="11" name="Picture 10" descr="scat_kospi_stab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7320" y="1463040"/>
            <a:ext cx="7040880" cy="4044487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87552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457200" y="502920"/>
            <a:ext cx="128016" cy="566928"/>
          </a:xfrm>
          <a:prstGeom prst="rect">
            <a:avLst/>
          </a:prstGeom>
          <a:solidFill>
            <a:srgbClr val="F58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85800" y="457200"/>
            <a:ext cx="8229600" cy="3200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58220"/>
                </a:solidFill>
                <a:latin typeface="맑은 고딕"/>
              </a:rPr>
              <a:t>11  RISK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731520"/>
            <a:ext cx="8686800" cy="50292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043B72"/>
                </a:solidFill>
                <a:latin typeface="맑은 고딕"/>
              </a:rPr>
              <a:t>리스크 및 유의사항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63040"/>
            <a:ext cx="85039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1">
                <a:solidFill>
                  <a:srgbClr val="043B72"/>
                </a:solidFill>
                <a:latin typeface="맑은 고딕"/>
              </a:rPr>
              <a:t>■ 하방 손실 위험 (최대 위험요소): 전략 특성상 기초자산 급락 시 손실이 누적되며 원금의 상당 부분 손실이 가능합니다.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운용오차: 이산 리밸런싱·급변동·갭 하락 시 이론 수익과 실현손익이 크게 벌어질 수 있습니다(시뮬레이션상 이탈 사례 확인).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편입비 상한(180%) 효과: 급변동 구간에서 편입비 조절이 제한되어 추가 오차가 발생할 수 있습니다.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급락 국면 위험: 급격한 하락 시 하방 완충이 제한되어 손실에 노출될 수 있습니다.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지수 변동·시장 위험: 시장 전반의 급락 국면에서 손실이 발생할 수 있습니다.</a:t>
            </a:r>
          </a:p>
          <a:p>
            <a:pPr>
              <a:lnSpc>
                <a:spcPct val="130000"/>
              </a:lnSpc>
              <a:spcAft>
                <a:spcPts val="300"/>
              </a:spcAft>
            </a:pPr>
            <a:r>
              <a:rPr sz="1250" b="0">
                <a:solidFill>
                  <a:srgbClr val="3A3A3A"/>
                </a:solidFill>
                <a:latin typeface="맑은 고딕"/>
              </a:rPr>
              <a:t>■ 변동성 축소 위험: 시장 변동성이 가정보다 낮아지면 변동성 매매 수익 기회가 줄어 기대수익에 미달할 수 있습니다.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5074920"/>
            <a:ext cx="8503920" cy="960120"/>
          </a:xfrm>
          <a:prstGeom prst="rect">
            <a:avLst/>
          </a:prstGeom>
          <a:solidFill>
            <a:srgbClr val="EEF2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5193792"/>
            <a:ext cx="8138160" cy="777240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>
                <a:solidFill>
                  <a:srgbClr val="D02F00"/>
                </a:solidFill>
                <a:latin typeface="맑은 고딕"/>
              </a:rPr>
              <a:t>본 상품은 1등급(매우 높은 위험) 상품으로 원금의 전부(0~100%) 손실이 발생할 수 있으며, 그 손실은 투자자에게 귀속됩니다.</a:t>
            </a:r>
          </a:p>
          <a:p>
            <a:pPr algn="l">
              <a:lnSpc>
                <a:spcPct val="120000"/>
              </a:lnSpc>
            </a:pPr>
            <a:r>
              <a:rPr sz="1050" b="0">
                <a:solidFill>
                  <a:srgbClr val="84888B"/>
                </a:solidFill>
                <a:latin typeface="맑은 고딕"/>
              </a:rPr>
              <a:t>투자 전 상품설명서·약관·계약권유문서를 반드시 확인하시기 바랍니다.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510528"/>
            <a:ext cx="78638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700" b="0">
                <a:solidFill>
                  <a:srgbClr val="84888B"/>
                </a:solidFill>
                <a:latin typeface="맑은 고딕"/>
              </a:rPr>
              <a:t>※ 상기 자료는 이해를 돕기 위한 예시이며 실제 투자내용을 의미하지 않습니다. 시뮬레이션은 가정에 따른 것으로 실제와 다를 수 있습니다.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2560" y="6510528"/>
            <a:ext cx="548640" cy="292608"/>
          </a:xfrm>
          <a:prstGeom prst="rect">
            <a:avLst/>
          </a:prstGeom>
          <a:noFill/>
        </p:spPr>
        <p:txBody>
          <a:bodyPr wrap="square" lIns="25400" tIns="12700" rIns="25400" bIns="1270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1">
                <a:solidFill>
                  <a:srgbClr val="84888B"/>
                </a:solidFill>
                <a:latin typeface="맑은 고딕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1_Office 테마">
  <a:themeElements>
    <a:clrScheme name="Mirae Asset Color">
      <a:dk1>
        <a:srgbClr val="000000"/>
      </a:dk1>
      <a:lt1>
        <a:srgbClr val="FFFFFF"/>
      </a:lt1>
      <a:dk2>
        <a:srgbClr val="F0B26B"/>
      </a:dk2>
      <a:lt2>
        <a:srgbClr val="84888B"/>
      </a:lt2>
      <a:accent1>
        <a:srgbClr val="F58220"/>
      </a:accent1>
      <a:accent2>
        <a:srgbClr val="043B72"/>
      </a:accent2>
      <a:accent3>
        <a:srgbClr val="00A9CE"/>
      </a:accent3>
      <a:accent4>
        <a:srgbClr val="0086B8"/>
      </a:accent4>
      <a:accent5>
        <a:srgbClr val="AE634E"/>
      </a:accent5>
      <a:accent6>
        <a:srgbClr val="E12F00"/>
      </a:accent6>
      <a:hlink>
        <a:srgbClr val="000000"/>
      </a:hlink>
      <a:folHlink>
        <a:srgbClr val="FF0000"/>
      </a:folHlink>
    </a:clrScheme>
    <a:fontScheme name="Mirae Asset Font">
      <a:majorFont>
        <a:latin typeface="KoPub돋움체_Pro Bold"/>
        <a:ea typeface="KoPub돋움체_Pro Bold"/>
        <a:cs typeface=""/>
      </a:majorFont>
      <a:minorFont>
        <a:latin typeface="KoPub돋움체_Pro Medium"/>
        <a:ea typeface="KoPub돋움체_Pro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2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466d8de-a423-4c2e-b2dc-846f22c52444}" enabled="1" method="Standard" siteId="{60ed981f-ef6e-4603-9f81-ed6b34713134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1384</Words>
  <Application>Microsoft Macintosh PowerPoint</Application>
  <PresentationFormat>사용자 지정</PresentationFormat>
  <Paragraphs>130</Paragraphs>
  <Slides>12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12</vt:i4>
      </vt:variant>
    </vt:vector>
  </HeadingPairs>
  <TitlesOfParts>
    <vt:vector size="20" baseType="lpstr">
      <vt:lpstr>맑은 고딕</vt:lpstr>
      <vt:lpstr>KoPub돋움체_Pro Bold</vt:lpstr>
      <vt:lpstr>KoPub돋움체_Pro Medium</vt:lpstr>
      <vt:lpstr>Arial</vt:lpstr>
      <vt:lpstr>Calibri</vt:lpstr>
      <vt:lpstr>Noto Sans</vt:lpstr>
      <vt:lpstr>Office Theme</vt:lpstr>
      <vt:lpstr>1_Office 테마</vt:lpstr>
      <vt:lpstr>변동성 하베스트 펀드 제안서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Joonho Shin(신준호)</dc:creator>
  <cp:keywords/>
  <dc:description>generated using python-pptx</dc:description>
  <cp:lastModifiedBy>현경 이</cp:lastModifiedBy>
  <cp:revision>12</cp:revision>
  <dcterms:created xsi:type="dcterms:W3CDTF">2013-01-27T09:14:16Z</dcterms:created>
  <dcterms:modified xsi:type="dcterms:W3CDTF">2026-07-15T12:56:01Z</dcterms:modified>
  <cp:category/>
</cp:coreProperties>
</file>