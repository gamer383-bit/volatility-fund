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4541" r:id="rId1"/>
  </p:sldMasterIdLst>
  <p:notesMasterIdLst>
    <p:notesMasterId r:id="rId24"/>
  </p:notesMasterIdLst>
  <p:handoutMasterIdLst>
    <p:handoutMasterId r:id="rId25"/>
  </p:handoutMasterIdLst>
  <p:sldIdLst>
    <p:sldId id="1029" r:id="rId2"/>
    <p:sldId id="1249" r:id="rId3"/>
    <p:sldId id="1250" r:id="rId4"/>
    <p:sldId id="1251" r:id="rId5"/>
    <p:sldId id="1252" r:id="rId6"/>
    <p:sldId id="1254" r:id="rId7"/>
    <p:sldId id="1253" r:id="rId8"/>
    <p:sldId id="1272" r:id="rId9"/>
    <p:sldId id="1273" r:id="rId10"/>
    <p:sldId id="1257" r:id="rId11"/>
    <p:sldId id="1261" r:id="rId12"/>
    <p:sldId id="1260" r:id="rId13"/>
    <p:sldId id="1275" r:id="rId14"/>
    <p:sldId id="1278" r:id="rId15"/>
    <p:sldId id="1264" r:id="rId16"/>
    <p:sldId id="1258" r:id="rId17"/>
    <p:sldId id="1259" r:id="rId18"/>
    <p:sldId id="1277" r:id="rId19"/>
    <p:sldId id="1262" r:id="rId20"/>
    <p:sldId id="1265" r:id="rId21"/>
    <p:sldId id="1271" r:id="rId22"/>
    <p:sldId id="1270" r:id="rId23"/>
  </p:sldIdLst>
  <p:sldSz cx="9906000" cy="6858000" type="A4"/>
  <p:notesSz cx="6669088" cy="99266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4" userDrawn="1">
          <p15:clr>
            <a:srgbClr val="A4A3A4"/>
          </p15:clr>
        </p15:guide>
        <p15:guide id="2" pos="6046" userDrawn="1">
          <p15:clr>
            <a:srgbClr val="A4A3A4"/>
          </p15:clr>
        </p15:guide>
        <p15:guide id="3" orient="horz" pos="3135" userDrawn="1">
          <p15:clr>
            <a:srgbClr val="A4A3A4"/>
          </p15:clr>
        </p15:guide>
        <p15:guide id="4" orient="horz" pos="3475" userDrawn="1">
          <p15:clr>
            <a:srgbClr val="A4A3A4"/>
          </p15:clr>
        </p15:guide>
        <p15:guide id="5" orient="horz" pos="2999" userDrawn="1">
          <p15:clr>
            <a:srgbClr val="A4A3A4"/>
          </p15:clr>
        </p15:guide>
        <p15:guide id="6" orient="horz" pos="3045" userDrawn="1">
          <p15:clr>
            <a:srgbClr val="A4A3A4"/>
          </p15:clr>
        </p15:guide>
        <p15:guide id="7" pos="671" userDrawn="1">
          <p15:clr>
            <a:srgbClr val="A4A3A4"/>
          </p15:clr>
        </p15:guide>
        <p15:guide id="8" pos="6091" userDrawn="1">
          <p15:clr>
            <a:srgbClr val="A4A3A4"/>
          </p15:clr>
        </p15:guide>
        <p15:guide id="9" pos="739" userDrawn="1">
          <p15:clr>
            <a:srgbClr val="A4A3A4"/>
          </p15:clr>
        </p15:guide>
        <p15:guide id="10" pos="4095" userDrawn="1">
          <p15:clr>
            <a:srgbClr val="A4A3A4"/>
          </p15:clr>
        </p15:guide>
        <p15:guide id="11" pos="512" userDrawn="1">
          <p15:clr>
            <a:srgbClr val="A4A3A4"/>
          </p15:clr>
        </p15:guide>
        <p15:guide id="12" orient="horz" pos="2750" userDrawn="1">
          <p15:clr>
            <a:srgbClr val="A4A3A4"/>
          </p15:clr>
        </p15:guide>
        <p15:guide id="13" orient="horz" pos="3090" userDrawn="1">
          <p15:clr>
            <a:srgbClr val="A4A3A4"/>
          </p15:clr>
        </p15:guide>
        <p15:guide id="14" orient="horz" pos="34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EF61DE-ABB9-9CC0-6B6B-BBC573CEFA82}" name="Jang, Soon Tack (장순택)" initials="장" userId="S::soontack.jang@m365.miraeasset.com::e44f2a39-a901-4c24-bf86-0fb869b33d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FFF8F0"/>
    <a:srgbClr val="043B72"/>
    <a:srgbClr val="E7E6E6"/>
    <a:srgbClr val="84888B"/>
    <a:srgbClr val="CDCECB"/>
    <a:srgbClr val="00A9CE"/>
    <a:srgbClr val="F0B26B"/>
    <a:srgbClr val="FFAA5F"/>
    <a:srgbClr val="FF99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91" autoAdjust="0"/>
  </p:normalViewPr>
  <p:slideViewPr>
    <p:cSldViewPr snapToGrid="0" snapToObjects="1">
      <p:cViewPr varScale="1">
        <p:scale>
          <a:sx n="105" d="100"/>
          <a:sy n="105" d="100"/>
        </p:scale>
        <p:origin x="1524" y="76"/>
      </p:cViewPr>
      <p:guideLst>
        <p:guide orient="horz" pos="2704"/>
        <p:guide pos="6046"/>
        <p:guide orient="horz" pos="3135"/>
        <p:guide orient="horz" pos="3475"/>
        <p:guide orient="horz" pos="2999"/>
        <p:guide orient="horz" pos="3045"/>
        <p:guide pos="671"/>
        <p:guide pos="6091"/>
        <p:guide pos="739"/>
        <p:guide pos="4095"/>
        <p:guide pos="512"/>
        <p:guide orient="horz" pos="2750"/>
        <p:guide orient="horz" pos="3090"/>
        <p:guide orient="horz" pos="34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5" d="100"/>
          <a:sy n="75" d="100"/>
        </p:scale>
        <p:origin x="4056" y="66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6247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1086D62-7092-4270-8E85-B25E76D0311F}" type="datetimeFigureOut">
              <a:rPr lang="en-US" altLang="ko-KR"/>
              <a:pPr>
                <a:defRPr/>
              </a:pPr>
              <a:t>7/29/2026</a:t>
            </a:fld>
            <a:endParaRPr lang="en-US" altLang="ko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6247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3604A4C2-D245-44B0-BA3D-8829337D57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247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C591F7EA-F9D8-47C5-9A5E-E46AECD8E4DD}" type="datetimeFigureOut">
              <a:rPr lang="en-US" altLang="ko-KR"/>
              <a:pPr>
                <a:defRPr/>
              </a:pPr>
              <a:t>7/29/2026</a:t>
            </a:fld>
            <a:endParaRPr lang="en-US" altLang="ko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7700" y="746125"/>
            <a:ext cx="5373688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0" tIns="45564" rIns="91130" bIns="4556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7220" y="4715193"/>
            <a:ext cx="5334648" cy="4466274"/>
          </a:xfrm>
          <a:prstGeom prst="rect">
            <a:avLst/>
          </a:prstGeom>
        </p:spPr>
        <p:txBody>
          <a:bodyPr vert="horz" lIns="91130" tIns="45564" rIns="91130" bIns="45564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247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ECF5700A-1F91-4CD5-8303-F47E19D2D7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0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1" r="17059"/>
          <a:stretch/>
        </p:blipFill>
        <p:spPr>
          <a:xfrm>
            <a:off x="6483651" y="838799"/>
            <a:ext cx="3422349" cy="4039521"/>
          </a:xfrm>
          <a:prstGeom prst="rect">
            <a:avLst/>
          </a:prstGeom>
        </p:spPr>
      </p:pic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49244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594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8876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2922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5769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794" y="1"/>
            <a:ext cx="9904413" cy="949591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34" name="직사각형 33"/>
          <p:cNvSpPr/>
          <p:nvPr userDrawn="1"/>
        </p:nvSpPr>
        <p:spPr>
          <a:xfrm flipV="1">
            <a:off x="794" y="946937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16" name="직선 연결선[R] 11"/>
          <p:cNvCxnSpPr/>
          <p:nvPr userDrawn="1"/>
        </p:nvCxnSpPr>
        <p:spPr>
          <a:xfrm>
            <a:off x="631942" y="4553991"/>
            <a:ext cx="733111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848064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5108218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  <p:sp>
        <p:nvSpPr>
          <p:cNvPr id="14" name="텍스트 개체 틀 3"/>
          <p:cNvSpPr txBox="1">
            <a:spLocks/>
          </p:cNvSpPr>
          <p:nvPr userDrawn="1"/>
        </p:nvSpPr>
        <p:spPr bwMode="auto">
          <a:xfrm>
            <a:off x="631825" y="193675"/>
            <a:ext cx="8604250" cy="11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2813" rtl="0" fontAlgn="base" latinLnBrk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  <a:cs typeface="+mn-cs"/>
              </a:defRPr>
            </a:lvl1pPr>
            <a:lvl2pPr marL="6842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14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86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58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813" rtl="0" eaLnBrk="1" fontAlgn="base" latin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자산운용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컴플라이언스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 외부지출확인필 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22-0383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호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(2022.06.07)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itchFamily="18" charset="-127"/>
              <a:ea typeface="KoPub돋움체_Pro Mediu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40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631825" y="5923846"/>
            <a:ext cx="6768000" cy="46564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631825" y="5610971"/>
            <a:ext cx="6768000" cy="1815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※ 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본 자료는 </a:t>
            </a:r>
            <a:r>
              <a:rPr kumimoji="1" lang="ko-KR" altLang="en-US" sz="1180" b="1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판매사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r>
              <a:rPr kumimoji="1" lang="ko-KR" altLang="en-US" sz="1180" b="1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사내한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자료로 작성되었으며 투자자에게 배포될 수 없습니다</a:t>
            </a: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 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외부 유출에 유의해 주십시오</a:t>
            </a: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endParaRPr kumimoji="1" lang="ko-KR" altLang="en-US" sz="1180" b="1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552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4" y="5913437"/>
            <a:ext cx="4561693" cy="63145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454358" y="5414729"/>
            <a:ext cx="4820011" cy="3750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※ 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본 자료는 </a:t>
            </a:r>
            <a:r>
              <a:rPr kumimoji="1" lang="ko-KR" altLang="en-US" sz="1180" b="0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판매사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r>
              <a:rPr kumimoji="1" lang="ko-KR" altLang="en-US" sz="1180" b="0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사내한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자료로 작성되었으며 투자자에게 배포될 수 없습니다</a:t>
            </a: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endParaRPr kumimoji="1" lang="en-US" altLang="ko-KR" sz="1180" b="0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   외부 유출에 유의해 주십시오</a:t>
            </a: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endParaRPr kumimoji="1" lang="ko-KR" altLang="en-US" sz="1180" b="0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4371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60438" y="1725714"/>
            <a:ext cx="8461375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5" name="직사각형 4"/>
          <p:cNvSpPr/>
          <p:nvPr userDrawn="1"/>
        </p:nvSpPr>
        <p:spPr>
          <a:xfrm flipV="1">
            <a:off x="0" y="1312414"/>
            <a:ext cx="9907587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7" name="제목 1"/>
          <p:cNvSpPr txBox="1">
            <a:spLocks/>
          </p:cNvSpPr>
          <p:nvPr userDrawn="1"/>
        </p:nvSpPr>
        <p:spPr>
          <a:xfrm>
            <a:off x="939093" y="757517"/>
            <a:ext cx="130898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43B72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/>
              </a:rPr>
              <a:t>목차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43B72"/>
              </a:solidFill>
              <a:effectLst/>
              <a:uLnTx/>
              <a:uFillTx/>
              <a:latin typeface="Noto Sans"/>
              <a:ea typeface="KoPub돋움체_Pro Bold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326199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5970" y="3143390"/>
            <a:ext cx="84600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868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Mirae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변동성 하베스트 KOSPI200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일반사모투자신탁 제안서</a:t>
            </a:r>
            <a:endParaRPr kumimoji="0" lang="en-US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2492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고객사 로고 추가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Mirae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미래에셋멀티코어일반사모투자신탁</a:t>
            </a:r>
            <a:r>
              <a:rPr kumimoji="0" lang="en-US" altLang="ko-KR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2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호 제안서</a:t>
            </a:r>
            <a:endParaRPr kumimoji="0" lang="en-US" altLang="ko-KR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857843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2950" y="2935288"/>
            <a:ext cx="8420100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9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감사합니다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0525" y="5648898"/>
            <a:ext cx="1709186" cy="68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09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오렌지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231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화이트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56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75" y="5711825"/>
            <a:ext cx="1951038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39738" y="6026150"/>
            <a:ext cx="65405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본 자료는 미래에셋자산운용이 제작한 것이며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투자권유를 위한 광고물로 활용될 수 없고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투자자에게 배포될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본 자료에 수록된 내용은 신뢰할만한 자료 및 정보로부터 </a:t>
            </a:r>
            <a:endParaRPr lang="en-US" altLang="ko-KR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얻어진 것이나 당사는 그 정확상이나 안정성을 보장할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39734" y="1828799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39733" y="2442517"/>
            <a:ext cx="4629151" cy="365125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rgbClr val="F58220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39736" y="2727938"/>
            <a:ext cx="4629151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 b="0" i="0">
                <a:solidFill>
                  <a:srgbClr val="48535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54566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Type B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837" y="884596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rgbClr val="F58220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6425" y="1741636"/>
            <a:ext cx="8415338" cy="2620963"/>
          </a:xfrm>
          <a:prstGeom prst="rect">
            <a:avLst/>
          </a:prstGeom>
        </p:spPr>
        <p:txBody>
          <a:bodyPr>
            <a:norm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3218401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Type B_Re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내지 Type A-2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6677025" y="6451600"/>
            <a:ext cx="2790825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dirty="0" err="1">
                <a:latin typeface="Arial" pitchFamily="34" charset="0"/>
                <a:cs typeface="Arial" pitchFamily="34" charset="0"/>
              </a:rPr>
              <a:t>Mirae</a:t>
            </a:r>
            <a:r>
              <a:rPr lang="en-US" sz="800" b="1" dirty="0">
                <a:latin typeface="Arial" pitchFamily="34" charset="0"/>
                <a:cs typeface="Arial" pitchFamily="34" charset="0"/>
              </a:rPr>
              <a:t> Asset Global Investments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11749" y="417792"/>
            <a:ext cx="8915400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20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3C3C3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79413" y="6451600"/>
            <a:ext cx="1990725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48535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86C853B-9730-4DF6-B6A6-7FBD3719BC33}" type="slidenum">
              <a:rPr lang="en-US"/>
              <a:pPr>
                <a:defRPr/>
              </a:pPr>
              <a:t>‹#›</a:t>
            </a:fld>
            <a:r>
              <a:rPr lang="en-US"/>
              <a:t> | Document name | </a:t>
            </a:r>
            <a:r>
              <a:rPr lang="en-US" altLang="ko-KR"/>
              <a:t>DD/MM/YYYY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54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0" y="5648325"/>
            <a:ext cx="170973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3000" b="1" i="0" baseline="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19663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6465888" y="6451600"/>
            <a:ext cx="2963862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spc="-50">
                <a:latin typeface="맑은 고딕" pitchFamily="50" charset="-127"/>
                <a:ea typeface="맑은 고딕" pitchFamily="50" charset="-127"/>
              </a:rPr>
              <a:t>Mirae Asset Global Investments</a:t>
            </a:r>
            <a:endParaRPr lang="en-US" sz="800" b="1" spc="-5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" name="Straight Connector 10"/>
          <p:cNvCxnSpPr/>
          <p:nvPr userDrawn="1"/>
        </p:nvCxnSpPr>
        <p:spPr>
          <a:xfrm>
            <a:off x="484188" y="6354763"/>
            <a:ext cx="8877300" cy="0"/>
          </a:xfrm>
          <a:prstGeom prst="line">
            <a:avLst/>
          </a:prstGeom>
          <a:ln>
            <a:solidFill>
              <a:srgbClr val="83878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10"/>
          <p:cNvCxnSpPr/>
          <p:nvPr userDrawn="1"/>
        </p:nvCxnSpPr>
        <p:spPr>
          <a:xfrm>
            <a:off x="484188" y="896938"/>
            <a:ext cx="8877300" cy="0"/>
          </a:xfrm>
          <a:prstGeom prst="line">
            <a:avLst/>
          </a:prstGeom>
          <a:ln>
            <a:solidFill>
              <a:srgbClr val="83878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15769" y="427281"/>
            <a:ext cx="6303408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400" b="1">
                <a:solidFill>
                  <a:srgbClr val="0D2D4F"/>
                </a:soli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703847" y="1044000"/>
            <a:ext cx="8915400" cy="526532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>
                <a:solidFill>
                  <a:srgbClr val="F58220"/>
                </a:soli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미래에셋멀티코어일반사모투자신탁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제안서     </a:t>
            </a:r>
            <a:endParaRPr kumimoji="0" lang="en-US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04441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525" y="5648325"/>
            <a:ext cx="170973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2935288"/>
            <a:ext cx="8420100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9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856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54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  <p:sldLayoutId id="2147484546" r:id="rId5"/>
    <p:sldLayoutId id="2147484547" r:id="rId6"/>
    <p:sldLayoutId id="2147484548" r:id="rId7"/>
    <p:sldLayoutId id="2147484549" r:id="rId8"/>
    <p:sldLayoutId id="2147484550" r:id="rId9"/>
    <p:sldLayoutId id="2147484551" r:id="rId10"/>
    <p:sldLayoutId id="2147484552" r:id="rId11"/>
    <p:sldLayoutId id="2147484553" r:id="rId12"/>
    <p:sldLayoutId id="2147484554" r:id="rId13"/>
    <p:sldLayoutId id="2147484555" r:id="rId14"/>
    <p:sldLayoutId id="2147484533" r:id="rId15"/>
    <p:sldLayoutId id="2147484534" r:id="rId16"/>
    <p:sldLayoutId id="2147484535" r:id="rId17"/>
    <p:sldLayoutId id="2147484536" r:id="rId18"/>
    <p:sldLayoutId id="2147484537" r:id="rId19"/>
    <p:sldLayoutId id="2147484539" r:id="rId2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3.png"/><Relationship Id="rId3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1477328"/>
          </a:xfrm>
        </p:spPr>
        <p:txBody>
          <a:bodyPr/>
          <a:lstStyle/>
          <a:p>
            <a:r>
              <a:rPr lang="ko-KR" altLang="en-US" dirty="0" err="1"/>
              <a:t>미래에셋</a:t>
            </a:r>
            <a:br>
              <a:rPr lang="en-US" altLang="ko-KR" dirty="0"/>
            </a:br>
            <a:r>
              <a:rPr lang="ko-KR" altLang="en-US" dirty="0" err="1"/>
              <a:t>변동성 하베스트 KOSPI200</a:t>
            </a:r>
            <a:br>
              <a:rPr lang="en-US" altLang="ko-KR" dirty="0"/>
            </a:br>
            <a:r>
              <a:rPr lang="ko-KR" altLang="en-US" dirty="0"/>
              <a:t>일반사모투자신탁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미래에셋자산운용 AI금융공학운용부문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11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2026.07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631825" y="244103"/>
            <a:ext cx="5040000" cy="1231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 err="1"/>
              <a:t>미래에셋자산운용</a:t>
            </a:r>
            <a:r>
              <a:rPr lang="ko-KR" altLang="en-US" dirty="0"/>
              <a:t> 컴플라이언스 외부제출 확인필 제 </a:t>
            </a:r>
            <a:r>
              <a:rPr lang="en-US" altLang="ko-KR" dirty="0"/>
              <a:t>00</a:t>
            </a:r>
            <a:r>
              <a:rPr lang="ko-KR" altLang="en-US" dirty="0"/>
              <a:t>호</a:t>
            </a:r>
            <a:r>
              <a:rPr lang="en-US" altLang="ko-KR" dirty="0"/>
              <a:t>(0000.00.00)</a:t>
            </a:r>
          </a:p>
        </p:txBody>
      </p:sp>
    </p:spTree>
    <p:extLst>
      <p:ext uri="{BB962C8B-B14F-4D97-AF65-F5344CB8AC3E}">
        <p14:creationId xmlns:p14="http://schemas.microsoft.com/office/powerpoint/2010/main" val="303105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9264-9650-F876-7EDE-EABDE699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2">
            <a:extLst>
              <a:ext uri="{FF2B5EF4-FFF2-40B4-BE49-F238E27FC236}">
                <a16:creationId xmlns:a16="http://schemas.microsoft.com/office/drawing/2014/main" id="{FBCAFBEB-4446-F8C4-241D-00A4D679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23756"/>
            <a:ext cx="6480000" cy="276999"/>
          </a:xfrm>
        </p:spPr>
        <p:txBody>
          <a:bodyPr/>
          <a:lstStyle/>
          <a:p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변동성 </a:t>
            </a:r>
            <a:r>
              <a:rPr lang="ko-KR" altLang="en-US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하베스트</a:t>
            </a:r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투자포인트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28794CD-51D0-B4DA-6C14-958875D69648}"/>
              </a:ext>
            </a:extLst>
          </p:cNvPr>
          <p:cNvSpPr txBox="1"/>
          <p:nvPr/>
        </p:nvSpPr>
        <p:spPr>
          <a:xfrm>
            <a:off x="457199" y="5943508"/>
            <a:ext cx="8871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* 상기 수치는 자체 시뮬레이션 가정에 따른 예시이며 실제 성과를 보장하지 않습니다. 실현변동성은 KOSPI200 최근 60영업일 기준(2026-07-28).</a:t>
            </a:r>
            <a:endParaRPr lang="ko-KR" altLang="en-US" sz="10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r>
              <a:rPr sz="800" dirty="0">
                <a:latin typeface="KoPub돋움체_Pro Medium"/>
              </a:rPr>
              <a:t>** 하락 방어 산출: 몬테카를로 1만회(변동성 50%·만기 1년·매매비용 포함) 중 만기 지수 -30% 구간의 전략 평균 수익률(성장 -11%·안정 -13%). 시뮬레이션 가정에 따른 예시이며 원금 보장 아님.</a:t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" y="960120"/>
            <a:ext cx="8915400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변동성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장세에서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수익을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낸다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 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역대급 변동성(KOSPI200 실현변동성 79%, 5년 평균의 3.4배)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을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저가매수·고가매도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매매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수익으로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전환</a:t>
            </a:r>
            <a:endParaRPr sz="1150" b="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</a:t>
            </a:r>
            <a:r>
              <a:rPr lang="en-US" sz="1300" b="1" dirty="0">
                <a:solidFill>
                  <a:srgbClr val="F58220"/>
                </a:solidFill>
                <a:latin typeface="KoPub돋움체_Pro Bold"/>
              </a:rPr>
              <a:t> </a:t>
            </a:r>
            <a:r>
              <a:rPr sz="1300" b="1" dirty="0">
                <a:solidFill>
                  <a:srgbClr val="F58220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차별화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전략으로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하락을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방어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한다</a:t>
            </a:r>
            <a:r>
              <a:rPr lang="en-US" altLang="ko-KR" sz="1300" b="1" dirty="0">
                <a:solidFill>
                  <a:srgbClr val="043B72"/>
                </a:solidFill>
                <a:latin typeface="KoPub돋움체_Pro Bold"/>
              </a:rPr>
              <a:t>.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  </a:t>
            </a:r>
            <a:r>
              <a:rPr lang="ko-KR" altLang="en-US" sz="1150" dirty="0">
                <a:solidFill>
                  <a:srgbClr val="333333"/>
                </a:solidFill>
                <a:latin typeface="KoPub돋움체_Pro Medium"/>
              </a:rPr>
              <a:t>변동성을 활용하여 하락 했을 때도 수익이 가능</a:t>
            </a:r>
            <a:endParaRPr lang="en-US" altLang="ko-KR" sz="115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lang="ko-KR" altLang="en-US" sz="12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포트폴리오에 반드시 필요한 전략입니다</a:t>
            </a:r>
            <a:r>
              <a:rPr lang="en-US" altLang="ko-KR" sz="1200" b="1" dirty="0">
                <a:solidFill>
                  <a:srgbClr val="043B72"/>
                </a:solidFill>
                <a:latin typeface="KoPub돋움체_Pro Bold"/>
              </a:rPr>
              <a:t>.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lang="en-US" altLang="ko-KR" sz="1200" b="1" dirty="0">
                <a:solidFill>
                  <a:srgbClr val="043B72"/>
                </a:solidFill>
                <a:latin typeface="KoPub돋움체_Pro Bold"/>
              </a:rPr>
              <a:t>—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  </a:t>
            </a:r>
            <a:r>
              <a:rPr lang="ko-KR" altLang="en-US" sz="1100" b="1" dirty="0">
                <a:solidFill>
                  <a:srgbClr val="333333"/>
                </a:solidFill>
                <a:latin typeface="KoPub돋움체_Pro Medium"/>
              </a:rPr>
              <a:t>대부분의 </a:t>
            </a:r>
            <a:r>
              <a:rPr lang="en-US" altLang="ko-KR" sz="1100" b="1" dirty="0">
                <a:solidFill>
                  <a:srgbClr val="333333"/>
                </a:solidFill>
                <a:latin typeface="KoPub돋움체_Pro Medium"/>
              </a:rPr>
              <a:t>ETF</a:t>
            </a:r>
            <a:r>
              <a:rPr lang="ko-KR" altLang="en-US" sz="1100" b="1" dirty="0">
                <a:solidFill>
                  <a:srgbClr val="333333"/>
                </a:solidFill>
                <a:latin typeface="KoPub돋움체_Pro Medium"/>
              </a:rPr>
              <a:t>및 펀드가 시장 변동성이 커졌을 때 손실이 커지는 반면 해당 운용은 추가수익이 발생</a:t>
            </a:r>
            <a:endParaRPr lang="ko-KR" altLang="en-US" sz="110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목표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15%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달성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시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분배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후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원금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재운용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 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수익은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분배하고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원금만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남겨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재운용하는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목표배당형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구조로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반복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수익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실현</a:t>
            </a:r>
            <a:endParaRPr sz="1150" b="0" dirty="0">
              <a:solidFill>
                <a:srgbClr val="333333"/>
              </a:solidFill>
              <a:latin typeface="KoPub돋움체_Pro Medium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502920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변동성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수확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02920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2848356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하락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방어</a:t>
            </a:r>
            <a:r>
              <a:rPr lang="ko-KR" altLang="en-US" sz="1150" b="1" dirty="0">
                <a:solidFill>
                  <a:srgbClr val="FFFFFF"/>
                </a:solidFill>
                <a:latin typeface="KoPub돋움체_Pro Bold"/>
              </a:rPr>
              <a:t>에도 일정부분 수익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2848356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5193792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목표배당형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5193792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30352" y="3310128"/>
            <a:ext cx="2103120" cy="1851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 dirty="0" err="1">
                <a:solidFill>
                  <a:srgbClr val="043B72"/>
                </a:solidFill>
                <a:latin typeface="KoPub돋움체_Pro Bold"/>
              </a:rPr>
              <a:t>KOSPI200 실현변동성</a:t>
            </a:r>
            <a:r>
              <a:rPr sz="1100" b="1" dirty="0">
                <a:solidFill>
                  <a:srgbClr val="043B72"/>
                </a:solidFill>
                <a:latin typeface="KoPub돋움체_Pro Bold"/>
              </a:rPr>
              <a:t/>
            </a:r>
            <a:r>
              <a:rPr sz="1100" b="1" dirty="0" err="1">
                <a:solidFill>
                  <a:srgbClr val="043B72"/>
                </a:solidFill>
                <a:latin typeface="KoPub돋움체_Pro Bold"/>
              </a:rPr>
              <a:t/>
            </a:r>
            <a:endParaRPr sz="1100" b="1" dirty="0">
              <a:solidFill>
                <a:srgbClr val="043B72"/>
              </a:solidFill>
              <a:latin typeface="KoPub돋움체_Pro Bold"/>
            </a:endParaRPr>
          </a:p>
          <a:p>
            <a:pPr algn="ctr">
              <a:spcAft>
                <a:spcPts val="600"/>
              </a:spcAft>
            </a:pPr>
            <a:r>
              <a:rPr sz="3400" b="1" dirty="0">
                <a:solidFill>
                  <a:srgbClr val="F58220"/>
                </a:solidFill>
                <a:latin typeface="KoPub돋움체_Pro Bold"/>
              </a:rPr>
              <a:t>79%</a:t>
            </a:r>
          </a:p>
          <a:p>
            <a:pPr algn="ctr">
              <a:spcAft>
                <a:spcPts val="1000"/>
              </a:spcAft>
            </a:pPr>
            <a:r>
              <a:rPr sz="1050" b="0" dirty="0">
                <a:solidFill>
                  <a:srgbClr val="555555"/>
                </a:solidFill>
                <a:latin typeface="KoPub돋움체_Pro Medium"/>
              </a:rPr>
              <a:t>vs 5년평균 23%</a:t>
            </a:r>
            <a:endParaRPr lang="en-US" sz="1050" b="0" dirty="0">
              <a:solidFill>
                <a:srgbClr val="555555"/>
              </a:solidFill>
              <a:latin typeface="KoPub돋움체_Pro Medium"/>
            </a:endParaRPr>
          </a:p>
          <a:p>
            <a:pPr algn="ctr">
              <a:spcAft>
                <a:spcPts val="1000"/>
              </a:spcAft>
            </a:pPr>
            <a:endParaRPr sz="1050" b="0" dirty="0">
              <a:solidFill>
                <a:srgbClr val="555555"/>
              </a:solidFill>
              <a:latin typeface="KoPub돋움체_Pro Medium"/>
            </a:endParaRPr>
          </a:p>
          <a:p>
            <a:pPr algn="ctr"/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변동성이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클수록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KoPub돋움체_Pro Medium"/>
              </a:rPr>
              <a:t>저가매수·고가매도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
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매매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수익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기회가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커집니다</a:t>
            </a:r>
            <a:endParaRPr sz="1000" b="0" dirty="0">
              <a:solidFill>
                <a:srgbClr val="333333"/>
              </a:solidFill>
              <a:latin typeface="KoPub돋움체_Pro Medium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285232" y="3310128"/>
            <a:ext cx="197967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43B72"/>
                </a:solidFill>
                <a:latin typeface="KoPub돋움체_Pro Bold"/>
              </a:rPr>
              <a:t>목표 수익률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58220"/>
                </a:solidFill>
                <a:latin typeface="KoPub돋움체_Pro Bold"/>
              </a:rPr>
              <a:t>연 15%</a:t>
            </a:r>
          </a:p>
          <a:p>
            <a:pPr algn="ctr">
              <a:spcAft>
                <a:spcPts val="1000"/>
              </a:spcAft>
            </a:pPr>
            <a:r>
              <a:rPr sz="1050" b="0">
                <a:solidFill>
                  <a:srgbClr val="555555"/>
                </a:solidFill>
                <a:latin typeface="KoPub돋움체_Pro Medium"/>
              </a:rPr>
              <a:t>달성 시 분배 · 원금 재운용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KoPub돋움체_Pro Medium"/>
              </a:rPr>
              <a:t>'수익은 챙기고 원금은 굴린다'
다음 사이클로 반복 수익 실현</a:t>
            </a:r>
          </a:p>
        </p:txBody>
      </p:sp>
      <p:sp>
        <p:nvSpPr>
          <p:cNvPr id="2" name="Rounded Rectangle 96"/>
          <p:cNvSpPr/>
          <p:nvPr/>
        </p:nvSpPr>
        <p:spPr>
          <a:xfrm>
            <a:off x="7539228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변동성 국면별 성과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3" name="Rectangle 97"/>
          <p:cNvSpPr/>
          <p:nvPr/>
        </p:nvSpPr>
        <p:spPr>
          <a:xfrm>
            <a:off x="7539228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102" descr="vol_regime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668" y="3163824"/>
            <a:ext cx="1979676" cy="2424093"/>
          </a:xfrm>
          <a:prstGeom prst="rect">
            <a:avLst/>
          </a:prstGeom>
        </p:spPr>
      </p:pic>
      <p:pic>
        <p:nvPicPr>
          <p:cNvPr id="104" name="Picture 103" descr="mini_defens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796" y="3182112"/>
            <a:ext cx="1979676" cy="926191"/>
          </a:xfrm>
          <a:prstGeom prst="rect">
            <a:avLst/>
          </a:prstGeom>
        </p:spPr>
      </p:pic>
      <p:pic>
        <p:nvPicPr>
          <p:cNvPr id="105" name="Picture 104" descr="mini_defense_s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796" y="4261104"/>
            <a:ext cx="1979676" cy="9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4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투자포인트 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①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KOSPI200 변동성이 최근 5년 중 최고 수준 — 변동성이 클수록 변동성 매매의 수익 기회가 커집니다.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8412480" cy="3785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지금은 변동성을 '피할' 때가 아니라 '수확'하기 가장 유리한 국면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②</a:t>
            </a:r>
            <a:r>
              <a:rPr sz="2200" b="1" dirty="0">
                <a:solidFill>
                  <a:srgbClr val="222222"/>
                </a:solidFill>
              </a:rPr>
              <a:t>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 지속</a:t>
            </a:r>
            <a:r>
              <a:rPr lang="en-US" altLang="ko-KR" sz="2200" b="1" dirty="0">
                <a:solidFill>
                  <a:srgbClr val="222222"/>
                </a:solidFill>
              </a:rPr>
              <a:t>.</a:t>
            </a:r>
            <a:r>
              <a:rPr lang="ko-KR" altLang="en-US" sz="2200" b="1" dirty="0">
                <a:solidFill>
                  <a:srgbClr val="222222"/>
                </a:solidFill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상방을</a:t>
            </a:r>
            <a:r>
              <a:rPr sz="2200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누르는</a:t>
            </a:r>
            <a:r>
              <a:rPr sz="2200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수급</a:t>
            </a:r>
            <a:endParaRPr sz="2200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국민연금·외국인·개인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모두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지수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상단에서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매도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우위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—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반등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시마다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매물벽이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형성되는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구조입니다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.</a:t>
            </a:r>
          </a:p>
        </p:txBody>
      </p:sp>
      <p:pic>
        <p:nvPicPr>
          <p:cNvPr id="5" name="Picture 4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74" y="3578132"/>
            <a:ext cx="8560051" cy="19997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국민연금·외국인 매도 우위 + 반등 시 개인 차익실현 → 상방이 구조적으로 제한된다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0E03F60E-3F6B-E78A-3CC5-F98DD97813D0}"/>
              </a:ext>
            </a:extLst>
          </p:cNvPr>
          <p:cNvSpPr/>
          <p:nvPr/>
        </p:nvSpPr>
        <p:spPr>
          <a:xfrm>
            <a:off x="67297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DCE0490B-777D-0993-878A-BC195A1A7CF9}"/>
              </a:ext>
            </a:extLst>
          </p:cNvPr>
          <p:cNvSpPr/>
          <p:nvPr/>
        </p:nvSpPr>
        <p:spPr>
          <a:xfrm>
            <a:off x="67297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4A35E6-4826-CC97-1C8B-BE151F0813CB}"/>
              </a:ext>
            </a:extLst>
          </p:cNvPr>
          <p:cNvSpPr txBox="1"/>
          <p:nvPr/>
        </p:nvSpPr>
        <p:spPr>
          <a:xfrm>
            <a:off x="81013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국민연금 매도 대기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2A00F4-F3EC-C3AA-4B4C-5F31B6204331}"/>
              </a:ext>
            </a:extLst>
          </p:cNvPr>
          <p:cNvSpPr txBox="1"/>
          <p:nvPr/>
        </p:nvSpPr>
        <p:spPr>
          <a:xfrm>
            <a:off x="83756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목표비중 상향(14.9→20.8%, 5/28 기금위)에도 지수 반등 시 허용상단(28.8%) 재접근 — KOSPI 8,200선부터 대기 매도 물량 출회 추정.</a:t>
            </a:r>
          </a:p>
        </p:txBody>
      </p:sp>
      <p:sp>
        <p:nvSpPr>
          <p:cNvPr id="44" name="Rectangle 11">
            <a:extLst>
              <a:ext uri="{FF2B5EF4-FFF2-40B4-BE49-F238E27FC236}">
                <a16:creationId xmlns:a16="http://schemas.microsoft.com/office/drawing/2014/main" id="{A32AE51A-A90C-46FE-29F2-002B8D00362A}"/>
              </a:ext>
            </a:extLst>
          </p:cNvPr>
          <p:cNvSpPr/>
          <p:nvPr/>
        </p:nvSpPr>
        <p:spPr>
          <a:xfrm>
            <a:off x="355333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022A618D-CEFC-BEBB-8F08-7F0DD329BF05}"/>
              </a:ext>
            </a:extLst>
          </p:cNvPr>
          <p:cNvSpPr/>
          <p:nvPr/>
        </p:nvSpPr>
        <p:spPr>
          <a:xfrm>
            <a:off x="355333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A60B63-A258-6F61-0816-697EBAC51F13}"/>
              </a:ext>
            </a:extLst>
          </p:cNvPr>
          <p:cNvSpPr txBox="1"/>
          <p:nvPr/>
        </p:nvSpPr>
        <p:spPr>
          <a:xfrm>
            <a:off x="369049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외국인 리밸런싱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F9B3A0-5309-9E47-CC19-B1C2532172FE}"/>
              </a:ext>
            </a:extLst>
          </p:cNvPr>
          <p:cNvSpPr txBox="1"/>
          <p:nvPr/>
        </p:nvSpPr>
        <p:spPr>
          <a:xfrm>
            <a:off x="371792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dirty="0" err="1">
                <a:solidFill>
                  <a:srgbClr val="3A3A3A"/>
                </a:solidFill>
                <a:latin typeface="맑은 고딕"/>
              </a:rPr>
              <a:t>반도체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쏠림에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따른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편입비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조정·차익실현으로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상승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국면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매도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우위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—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연초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이후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KOSPI200 159조원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순매도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sp>
        <p:nvSpPr>
          <p:cNvPr id="52" name="Rectangle 15">
            <a:extLst>
              <a:ext uri="{FF2B5EF4-FFF2-40B4-BE49-F238E27FC236}">
                <a16:creationId xmlns:a16="http://schemas.microsoft.com/office/drawing/2014/main" id="{9E7E2BEE-0DD4-329F-E1B6-6E0EF28000B5}"/>
              </a:ext>
            </a:extLst>
          </p:cNvPr>
          <p:cNvSpPr/>
          <p:nvPr/>
        </p:nvSpPr>
        <p:spPr>
          <a:xfrm>
            <a:off x="643369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3598453F-26CA-11B4-1D57-47B2215CAA9E}"/>
              </a:ext>
            </a:extLst>
          </p:cNvPr>
          <p:cNvSpPr/>
          <p:nvPr/>
        </p:nvSpPr>
        <p:spPr>
          <a:xfrm>
            <a:off x="643369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1505D4-EB47-4C7E-0259-94A451A2453A}"/>
              </a:ext>
            </a:extLst>
          </p:cNvPr>
          <p:cNvSpPr txBox="1"/>
          <p:nvPr/>
        </p:nvSpPr>
        <p:spPr>
          <a:xfrm>
            <a:off x="657085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개인 순응매도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44D9AB-E86A-8267-24F8-03B1F88B429D}"/>
              </a:ext>
            </a:extLst>
          </p:cNvPr>
          <p:cNvSpPr txBox="1"/>
          <p:nvPr/>
        </p:nvSpPr>
        <p:spPr>
          <a:xfrm>
            <a:off x="659828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연초 이후 109조원 순매수로 하방을 받쳤으나, 반등 시마다 차익실현(상승 시 매도)으로 전환.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8307310" cy="27699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③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 지속</a:t>
            </a:r>
            <a:r>
              <a:rPr lang="en-US" altLang="ko-KR" sz="2200" b="1" dirty="0">
                <a:solidFill>
                  <a:srgbClr val="222222"/>
                </a:solidFill>
              </a:rPr>
              <a:t>.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하방을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받치는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밸류에이션·실적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1051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latin typeface="+mn-ea"/>
                <a:cs typeface="KoPub돋움체_Pro Bold"/>
              </a:rPr>
              <a:t>12M </a:t>
            </a:r>
            <a:r>
              <a:rPr sz="1400" b="1" i="0" dirty="0" err="1">
                <a:latin typeface="+mn-ea"/>
                <a:cs typeface="KoPub돋움체_Pro Bold"/>
              </a:rPr>
              <a:t>Fwd</a:t>
            </a:r>
            <a:r>
              <a:rPr sz="1400" b="1" i="0" dirty="0">
                <a:latin typeface="+mn-ea"/>
                <a:cs typeface="KoPub돋움체_Pro Bold"/>
              </a:rPr>
              <a:t> PER 5.8배로 '21년 </a:t>
            </a:r>
            <a:r>
              <a:rPr sz="1400" b="1" i="0" dirty="0" err="1">
                <a:latin typeface="+mn-ea"/>
                <a:cs typeface="KoPub돋움체_Pro Bold"/>
              </a:rPr>
              <a:t>이후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최저권</a:t>
            </a:r>
            <a:r>
              <a:rPr sz="1400" b="1" i="0" dirty="0">
                <a:latin typeface="+mn-ea"/>
                <a:cs typeface="KoPub돋움체_Pro Bold"/>
              </a:rPr>
              <a:t> — </a:t>
            </a:r>
            <a:r>
              <a:rPr sz="1400" b="1" i="0" dirty="0" err="1">
                <a:latin typeface="+mn-ea"/>
                <a:cs typeface="KoPub돋움체_Pro Bold"/>
              </a:rPr>
              <a:t>이익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추정치는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사상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최고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수준으로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상향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중입니다</a:t>
            </a:r>
            <a:r>
              <a:rPr sz="1400" b="1" i="0" dirty="0">
                <a:latin typeface="+mn-ea"/>
                <a:cs typeface="KoPub돋움체_Pro Bold"/>
              </a:rPr>
              <a:t>.</a:t>
            </a:r>
            <a:endParaRPr lang="en-US" sz="1400" b="1" i="0" dirty="0">
              <a:latin typeface="+mn-ea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 err="1">
                <a:latin typeface="+mn-ea"/>
              </a:rPr>
              <a:t>하방을</a:t>
            </a:r>
            <a:r>
              <a:rPr lang="ko-KR" altLang="en-US" sz="1400" b="1" dirty="0">
                <a:latin typeface="+mn-ea"/>
              </a:rPr>
              <a:t> 받치는 밸류에이션 및 </a:t>
            </a:r>
            <a:r>
              <a:rPr lang="ko-KR" altLang="en-US" sz="1400" b="1" dirty="0" err="1">
                <a:latin typeface="+mn-ea"/>
              </a:rPr>
              <a:t>실적상향</a:t>
            </a:r>
            <a:r>
              <a:rPr lang="en-US" altLang="ko-KR" sz="1400" b="1" dirty="0">
                <a:latin typeface="+mn-ea"/>
              </a:rPr>
              <a:t>: 12M </a:t>
            </a:r>
            <a:r>
              <a:rPr lang="en-US" altLang="ko-KR" sz="1400" b="1" dirty="0" err="1">
                <a:latin typeface="+mn-ea"/>
              </a:rPr>
              <a:t>Fwd</a:t>
            </a:r>
            <a:r>
              <a:rPr lang="en-US" altLang="ko-KR" sz="1400" b="1" dirty="0">
                <a:latin typeface="+mn-ea"/>
              </a:rPr>
              <a:t> PER 5.8</a:t>
            </a:r>
            <a:r>
              <a:rPr lang="ko-KR" altLang="en-US" sz="1400" b="1" dirty="0">
                <a:latin typeface="+mn-ea"/>
              </a:rPr>
              <a:t>배</a:t>
            </a:r>
            <a:r>
              <a:rPr lang="en-US" altLang="ko-KR" sz="1400" b="1" dirty="0">
                <a:latin typeface="+mn-ea"/>
              </a:rPr>
              <a:t>('21</a:t>
            </a:r>
            <a:r>
              <a:rPr lang="ko-KR" altLang="en-US" sz="1400" b="1" dirty="0">
                <a:latin typeface="+mn-ea"/>
              </a:rPr>
              <a:t>년 이후 </a:t>
            </a:r>
            <a:r>
              <a:rPr lang="ko-KR" altLang="en-US" sz="1400" b="1" dirty="0" err="1">
                <a:latin typeface="+mn-ea"/>
              </a:rPr>
              <a:t>최저권</a:t>
            </a:r>
            <a:r>
              <a:rPr lang="en-US" altLang="ko-KR" sz="1400" b="1" dirty="0">
                <a:latin typeface="+mn-ea"/>
              </a:rPr>
              <a:t>·</a:t>
            </a:r>
            <a:r>
              <a:rPr lang="ko-KR" altLang="en-US" sz="1400" b="1" dirty="0">
                <a:latin typeface="+mn-ea"/>
              </a:rPr>
              <a:t>하위 </a:t>
            </a:r>
            <a:r>
              <a:rPr lang="en-US" altLang="ko-KR" sz="1400" b="1" dirty="0">
                <a:latin typeface="+mn-ea"/>
              </a:rPr>
              <a:t>0.2%)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400" b="1" dirty="0">
                <a:latin typeface="+mn-ea"/>
              </a:rPr>
              <a:t>FY26/27 </a:t>
            </a:r>
            <a:r>
              <a:rPr lang="ko-KR" altLang="en-US" sz="1400" b="1" dirty="0">
                <a:latin typeface="+mn-ea"/>
              </a:rPr>
              <a:t>이익 컨센서스 추가 상향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latin typeface="+mn-ea"/>
              <a:cs typeface="KoPub돋움체_Pro Bold"/>
            </a:endParaRP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35" y="2653821"/>
            <a:ext cx="9001765" cy="23522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상방 제한 + 하방 지지 = 등락 반복 → 방향성 투자에 '변동성 수확'을 더한다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B9FA2-1339-755E-46EE-50E3067C887F}"/>
              </a:ext>
            </a:extLst>
          </p:cNvPr>
          <p:cNvSpPr txBox="1"/>
          <p:nvPr/>
        </p:nvSpPr>
        <p:spPr>
          <a:xfrm>
            <a:off x="502920" y="5134041"/>
            <a:ext cx="8869680" cy="16927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00" dirty="0" err="1">
                <a:solidFill>
                  <a:srgbClr val="888888"/>
                </a:solidFill>
              </a:rPr>
              <a:t>자료</a:t>
            </a:r>
            <a:r>
              <a:rPr sz="800" dirty="0">
                <a:solidFill>
                  <a:srgbClr val="888888"/>
                </a:solidFill>
              </a:rPr>
              <a:t>: </a:t>
            </a:r>
            <a:r>
              <a:rPr sz="800" dirty="0" err="1">
                <a:solidFill>
                  <a:srgbClr val="888888"/>
                </a:solidFill>
              </a:rPr>
              <a:t>FnGuide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DataGuide</a:t>
            </a:r>
            <a:r>
              <a:rPr sz="800" dirty="0">
                <a:solidFill>
                  <a:srgbClr val="888888"/>
                </a:solidFill>
              </a:rPr>
              <a:t>, IBES </a:t>
            </a:r>
            <a:r>
              <a:rPr sz="800" dirty="0" err="1">
                <a:solidFill>
                  <a:srgbClr val="888888"/>
                </a:solidFill>
              </a:rPr>
              <a:t>컨센서스</a:t>
            </a:r>
            <a:r>
              <a:rPr sz="800" dirty="0">
                <a:solidFill>
                  <a:srgbClr val="888888"/>
                </a:solidFill>
              </a:rPr>
              <a:t> (2026.7.14 </a:t>
            </a:r>
            <a:r>
              <a:rPr sz="800" dirty="0" err="1">
                <a:solidFill>
                  <a:srgbClr val="888888"/>
                </a:solidFill>
              </a:rPr>
              <a:t>기준</a:t>
            </a:r>
            <a:r>
              <a:rPr sz="800" dirty="0">
                <a:solidFill>
                  <a:srgbClr val="888888"/>
                </a:solidFill>
              </a:rPr>
              <a:t>, 1개월 전=6/12)  |  주: PER·PBR </a:t>
            </a:r>
            <a:r>
              <a:rPr sz="800" dirty="0" err="1">
                <a:solidFill>
                  <a:srgbClr val="888888"/>
                </a:solidFill>
              </a:rPr>
              <a:t>평균은</a:t>
            </a:r>
            <a:r>
              <a:rPr sz="800" dirty="0">
                <a:solidFill>
                  <a:srgbClr val="888888"/>
                </a:solidFill>
              </a:rPr>
              <a:t> '21년 </a:t>
            </a:r>
            <a:r>
              <a:rPr sz="800" dirty="0" err="1">
                <a:solidFill>
                  <a:srgbClr val="888888"/>
                </a:solidFill>
              </a:rPr>
              <a:t>이후</a:t>
            </a:r>
            <a:r>
              <a:rPr sz="800" dirty="0">
                <a:solidFill>
                  <a:srgbClr val="888888"/>
                </a:solidFill>
              </a:rPr>
              <a:t> · 2Q26 </a:t>
            </a:r>
            <a:r>
              <a:rPr sz="800" dirty="0" err="1">
                <a:solidFill>
                  <a:srgbClr val="888888"/>
                </a:solidFill>
              </a:rPr>
              <a:t>삼성전자는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잠정실적</a:t>
            </a:r>
            <a:r>
              <a:rPr sz="800" dirty="0">
                <a:solidFill>
                  <a:srgbClr val="888888"/>
                </a:solidFill>
              </a:rPr>
              <a:t>(7/7), </a:t>
            </a:r>
            <a:r>
              <a:rPr sz="800" dirty="0" err="1">
                <a:solidFill>
                  <a:srgbClr val="888888"/>
                </a:solidFill>
              </a:rPr>
              <a:t>빗금</a:t>
            </a:r>
            <a:r>
              <a:rPr sz="800" dirty="0">
                <a:solidFill>
                  <a:srgbClr val="888888"/>
                </a:solidFill>
              </a:rPr>
              <a:t>=</a:t>
            </a:r>
            <a:r>
              <a:rPr sz="800" dirty="0" err="1">
                <a:solidFill>
                  <a:srgbClr val="888888"/>
                </a:solidFill>
              </a:rPr>
              <a:t>추정치</a:t>
            </a:r>
            <a:endParaRPr sz="800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④ 레버리지가 키운 변동성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88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i="0" dirty="0">
                <a:latin typeface="+mn-lt"/>
                <a:ea typeface="KoPub돋움체_Pro Bold"/>
                <a:cs typeface="KoPub돋움체_Pro Bold"/>
              </a:rPr>
              <a:t>레버리지는 구조적으로 변동성을 키우게 됨</a:t>
            </a:r>
            <a:r>
              <a:rPr lang="en-US" altLang="ko-KR" sz="1350" b="1" i="0" dirty="0">
                <a:latin typeface="+mn-lt"/>
                <a:ea typeface="KoPub돋움체_Pro Bold"/>
                <a:cs typeface="KoPub돋움체_Pro Bold"/>
              </a:rPr>
              <a:t>. </a:t>
            </a:r>
            <a:r>
              <a:rPr lang="ko-KR" altLang="en-US" sz="1400" b="1" dirty="0">
                <a:latin typeface="+mn-lt"/>
                <a:ea typeface="KoPub돋움체_Pro Bold"/>
                <a:cs typeface="KoPub돋움체_Pro Bold"/>
              </a:rPr>
              <a:t> </a:t>
            </a:r>
            <a:endParaRPr lang="en-US" altLang="ko-KR" sz="1400" b="1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레버리지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ETF가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'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잃는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' 그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변동성을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본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펀드는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'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수익'으로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전환</a:t>
            </a:r>
            <a:endParaRPr sz="1350" b="1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19776" y="1974049"/>
            <a:ext cx="4160520" cy="1420490"/>
          </a:xfrm>
          <a:prstGeom prst="roundRect">
            <a:avLst>
              <a:gd name="adj" fmla="val 5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레버리지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 ETF — </a:t>
            </a: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변동성에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 '</a:t>
            </a: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잠식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매일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고가매수·저가매도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
(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추세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순응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리밸런싱)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→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변동성이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클수록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자산이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녹는다</a:t>
            </a:r>
            <a:r>
              <a:rPr 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(1month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가 조금 </a:t>
            </a:r>
            <a:r>
              <a:rPr lang="ko-KR" altLang="en-US"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넘는기간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동안 </a:t>
            </a:r>
            <a:r>
              <a:rPr lang="en-US" altLang="ko-KR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18%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의 변동성 잠식 손실이 나타남</a:t>
            </a:r>
            <a:r>
              <a:rPr lang="en-US" altLang="ko-KR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)</a:t>
            </a:r>
            <a:endParaRPr sz="1200" b="0" i="0" dirty="0">
              <a:solidFill>
                <a:srgbClr val="C0392B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70571" y="3751623"/>
            <a:ext cx="4160520" cy="1420489"/>
          </a:xfrm>
          <a:prstGeom prst="roundRect">
            <a:avLst>
              <a:gd name="adj" fmla="val 5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ko-KR" altLang="en-US" sz="12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레버리지의 변동성 확대 구조</a:t>
            </a:r>
            <a:endParaRPr sz="12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주가</a:t>
            </a:r>
            <a:r>
              <a:rPr lang="ko-KR" altLang="en-US" sz="12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↑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비중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↑ (</a:t>
            </a:r>
            <a:r>
              <a:rPr lang="ko-KR" altLang="en-US"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상승시</a:t>
            </a:r>
            <a:r>
              <a:rPr lang="ko-KR" altLang="en-US"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매수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
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주가</a:t>
            </a:r>
            <a:r>
              <a:rPr lang="ko-KR" altLang="en-US" sz="12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↓ 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비중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↓ (</a:t>
            </a:r>
            <a:r>
              <a:rPr lang="ko-KR" altLang="en-US"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하락시</a:t>
            </a:r>
            <a:r>
              <a:rPr lang="ko-KR" altLang="en-US"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매도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→ </a:t>
            </a:r>
            <a:r>
              <a:rPr 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SK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하이닉스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40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</a:t>
            </a:r>
            <a:r>
              <a:rPr lang="ko-KR" altLang="en-US" sz="1200" b="0" i="0" dirty="0" err="1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가정시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10% 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상승시에 편입비를 맞추기 위해 약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8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순매수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, 10% 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하락시에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8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순매도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. </a:t>
            </a:r>
            <a:endParaRPr sz="1200" b="0" i="0" dirty="0">
              <a:solidFill>
                <a:srgbClr val="1E8E5A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5529197"/>
            <a:ext cx="9052560" cy="50292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변동성이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클수록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(=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잠식이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클수록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본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펀드의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기회는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오히려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커진다</a:t>
            </a:r>
            <a:endParaRPr sz="13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12" name="Picture 20" descr="lev_rebal_hynix.png">
            <a:extLst>
              <a:ext uri="{FF2B5EF4-FFF2-40B4-BE49-F238E27FC236}">
                <a16:creationId xmlns:a16="http://schemas.microsoft.com/office/drawing/2014/main" id="{30EF6221-CA1D-EB96-D316-1E51C519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9450"/>
            <a:ext cx="452628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④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레버리지가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키운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레버리지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ETF 약 40조원(6/30)이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삼성전자·SK하이닉스와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지수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구조적으로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키우고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있습니다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  <a:endParaRPr lang="en-US" sz="1400" b="1" i="0" dirty="0"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변동성이 변동성을 부르는 되먹임 </a:t>
            </a:r>
            <a:r>
              <a:rPr lang="en-US" altLang="ko-KR" sz="14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— 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두 종목이 </a:t>
            </a:r>
            <a:r>
              <a:rPr lang="en-US" altLang="ko-KR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KOSPI200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의 </a:t>
            </a:r>
            <a:r>
              <a:rPr lang="en-US" altLang="ko-KR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65.6% 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차지</a:t>
            </a:r>
            <a:r>
              <a:rPr lang="ko-KR" altLang="en-US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 </a:t>
            </a:r>
            <a:r>
              <a:rPr lang="en-US" altLang="ko-KR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(</a:t>
            </a:r>
            <a:r>
              <a:rPr lang="ko-KR" altLang="en-US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연초 </a:t>
            </a:r>
            <a:r>
              <a:rPr lang="en-US" altLang="ko-KR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38.7% → 6/30 65.6%, KRX)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①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지수·종목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흔들림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4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07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②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지수의 절반인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두 종목 급등락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10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93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③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레버리지 종가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순응매매 확대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96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79790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④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 변동성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재확대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구조적으로 커진 변동성 → 변동성 매매 전략의 '원재료'가 풍부해진다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19" name="Picture 23" descr="slide5_left_size.png">
            <a:extLst>
              <a:ext uri="{FF2B5EF4-FFF2-40B4-BE49-F238E27FC236}">
                <a16:creationId xmlns:a16="http://schemas.microsoft.com/office/drawing/2014/main" id="{A01DB162-DC4F-D378-9914-A539399A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832959"/>
            <a:ext cx="3796318" cy="2334717"/>
          </a:xfrm>
          <a:prstGeom prst="rect">
            <a:avLst/>
          </a:prstGeom>
        </p:spPr>
      </p:pic>
      <p:pic>
        <p:nvPicPr>
          <p:cNvPr id="21" name="Picture 24" descr="slide5_right_pie.png">
            <a:extLst>
              <a:ext uri="{FF2B5EF4-FFF2-40B4-BE49-F238E27FC236}">
                <a16:creationId xmlns:a16="http://schemas.microsoft.com/office/drawing/2014/main" id="{7F40DA46-7187-B4A3-9397-99BC27CE4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1" y="1765832"/>
            <a:ext cx="3796318" cy="2334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dirty="0"/>
              <a:t>변동성 </a:t>
            </a:r>
            <a:r>
              <a:rPr lang="ko-KR" altLang="en-US" sz="2200" dirty="0" err="1"/>
              <a:t>하베스트</a:t>
            </a:r>
            <a:r>
              <a:rPr lang="ko-KR" altLang="en-US" sz="2200" dirty="0"/>
              <a:t> </a:t>
            </a:r>
            <a:r>
              <a:rPr sz="2200" b="1" i="0" dirty="0" err="1">
                <a:solidFill>
                  <a:srgbClr val="222222"/>
                </a:solidFill>
                <a:cs typeface="KoPub돋움체_Pro Bold"/>
              </a:rPr>
              <a:t>전략</a:t>
            </a:r>
            <a:endParaRPr sz="2200" b="1" i="0" dirty="0">
              <a:solidFill>
                <a:srgbClr val="222222"/>
              </a:solidFill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70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시스템을 활용해 만기 목표수익에 도달하도록 편입비율을 계산합니다</a:t>
            </a: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현재 </a:t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lang="en-US" altLang="ko-KR" sz="1400" b="1" i="0" dirty="0"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>지수</a:t>
            </a:r>
            <a:r>
              <a:rPr lang="en-US" altLang="ko-KR" sz="1400" b="1" i="0" dirty="0"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>만기시점 및 변동성과 같은 시장 상황을 고려하고 </a:t>
            </a: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목표 수익에 도달하도록 포트폴리오를 관리합니다</a:t>
            </a: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16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endParaRPr lang="ko-KR" altLang="en-US"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저가매수</a:t>
            </a:r>
            <a:r>
              <a:rPr lang="en-US" altLang="ko-KR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·</a:t>
            </a: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고가매도를 반복하여 높아진 변동성을 수익으로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40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투자</a:t>
            </a:r>
            <a:endParaRPr lang="ko-KR" altLang="en-US"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실적 상향으로 상승 여력 유효</a:t>
            </a:r>
            <a:r>
              <a:rPr lang="en-US" altLang="ko-KR" sz="120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상승 구간에서 추가 수익 참여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464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dirty="0" err="1">
                <a:solidFill>
                  <a:srgbClr val="222222"/>
                </a:solidFill>
                <a:cs typeface="KoPub돋움체_Pro Medium"/>
              </a:rPr>
              <a:t>미래에셋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 </a:t>
            </a:r>
            <a:r>
              <a:rPr lang="en-US" altLang="ko-KR" sz="1200" dirty="0">
                <a:solidFill>
                  <a:srgbClr val="222222"/>
                </a:solidFill>
                <a:cs typeface="KoPub돋움체_Pro Medium"/>
              </a:rPr>
              <a:t>QPMS Vol Trading 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시스템으로 규칙 기반</a:t>
            </a:r>
            <a:r>
              <a:rPr lang="en-US" altLang="ko-KR" sz="1200" dirty="0">
                <a:solidFill>
                  <a:srgbClr val="222222"/>
                </a:solidFill>
                <a:cs typeface="KoPub돋움체_Pro Medium"/>
              </a:rPr>
              <a:t>·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검증된 운용</a:t>
            </a:r>
            <a:endParaRPr sz="120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5575217"/>
            <a:ext cx="9052560" cy="50292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엔진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+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투자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상승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참여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+ </a:t>
            </a:r>
            <a:r>
              <a:rPr lang="en-US" altLang="ko-KR" sz="13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전략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상세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①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(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저가매수·고가매도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시장이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빠지면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편입을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늘리고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저가매수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),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오르면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줄입니다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고가매도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).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등락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)을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매매로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수취합니다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  <a:endParaRPr lang="en-US" sz="1400" b="1" i="0" dirty="0"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latin typeface="KoPub돋움체_Pro Bold"/>
              <a:ea typeface="KoPub돋움체_Pro Bold"/>
              <a:cs typeface="KoPub돋움체_Pro Bold"/>
            </a:endParaRPr>
          </a:p>
        </p:txBody>
      </p:sp>
      <p:pic>
        <p:nvPicPr>
          <p:cNvPr id="5" name="Picture 4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85787"/>
            <a:ext cx="5118180" cy="28958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6820" y="2237695"/>
            <a:ext cx="3766877" cy="3192053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포트폴리오</a:t>
            </a:r>
            <a:r>
              <a:rPr sz="12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내 </a:t>
            </a:r>
            <a:r>
              <a:rPr sz="12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역할</a:t>
            </a:r>
            <a:endParaRPr sz="12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정의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기초자산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편입비를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조절해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변동성을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수익으로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전환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상황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변동성이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높은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등락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반복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장세에서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lang="ko-KR" altLang="en-US"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 극대화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역할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펀드의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핵심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엔진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사례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레버리지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ETF의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'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고가매수·저가매도'와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정반대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전략 상세 ② 방향 투자 (상승 참여)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매매에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더해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상승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방향에도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참여하여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추가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수익을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노립니다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83664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 매매 위에 순매수(롱) 방향 포지션을 얹어 상승 구간 수익을 함께 취득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활용 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724912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실적 컨센서스가 상향되고 밸류에이션이 낮은 국면 — 상승 여력이 유효할 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11296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포트폴리오 내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56616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'등락은 수확, 방향은 위' — 변동성 매매의 보완 수익원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52544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작동 논리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407407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하락 시 편입 확대(저가매수)가 곧 상승 참여 비중이 되어 반등을 수취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93792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투자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5248655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성장변동성펀드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: -40%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미도달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구간은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변동성+상승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참여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도달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시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주식형과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유사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운용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수익 구조 ① 성장변동성펀드 (변동성 매매 + 상승 참여)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-40%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미도달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구간은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매매+상승에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참여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, -40%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도달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시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주식형과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유사하게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상승에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집중합니다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pic>
        <p:nvPicPr>
          <p:cNvPr id="5" name="Picture 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4434840" cy="3581986"/>
          </a:xfrm>
          <a:prstGeom prst="rect">
            <a:avLst/>
          </a:prstGeom>
        </p:spPr>
      </p:pic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737360"/>
            <a:ext cx="4434840" cy="35819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8640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변동성 60% 가정 · 점=시뮬 1회 · 노란선=구간 평균 · 자체 시뮬레이션(매매비용 매수 5bp/매도 30bp·운용오차 포함)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-40%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도달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시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변동성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매매를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멈추고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상승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수취를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위해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주식형과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유사하게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운용됩니다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지수대별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편입비·예상수익률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—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성장변동성펀드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ea"/>
                <a:cs typeface="KoPub돋움체_Pro Bold"/>
              </a:rPr>
              <a:t>리밸런싱일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지수</a:t>
            </a:r>
            <a:r>
              <a:rPr sz="1350" b="1" i="0" dirty="0">
                <a:latin typeface="+mn-ea"/>
                <a:cs typeface="KoPub돋움체_Pro Bold"/>
              </a:rPr>
              <a:t>=100 </a:t>
            </a:r>
            <a:r>
              <a:rPr sz="1350" b="1" i="0" dirty="0" err="1">
                <a:latin typeface="+mn-ea"/>
                <a:cs typeface="KoPub돋움체_Pro Bold"/>
              </a:rPr>
              <a:t>기준</a:t>
            </a:r>
            <a:r>
              <a:rPr sz="1350" b="1" i="0" dirty="0">
                <a:latin typeface="+mn-ea"/>
                <a:cs typeface="KoPub돋움체_Pro Bold"/>
              </a:rPr>
              <a:t> · </a:t>
            </a:r>
            <a:r>
              <a:rPr sz="1350" b="1" i="0" dirty="0" err="1">
                <a:latin typeface="+mn-ea"/>
                <a:cs typeface="KoPub돋움체_Pro Bold"/>
              </a:rPr>
              <a:t>잔존만기별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편입비와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원금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대비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예상수익률</a:t>
            </a:r>
            <a:r>
              <a:rPr sz="1350" b="1" i="0" dirty="0">
                <a:latin typeface="+mn-ea"/>
                <a:cs typeface="KoPub돋움체_Pro Bold"/>
              </a:rPr>
              <a:t> (</a:t>
            </a:r>
            <a:r>
              <a:rPr sz="1350" b="1" i="0" dirty="0" err="1">
                <a:latin typeface="+mn-ea"/>
                <a:cs typeface="KoPub돋움체_Pro Bold"/>
              </a:rPr>
              <a:t>최대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편입비</a:t>
            </a:r>
            <a:r>
              <a:rPr sz="1350" b="1" i="0" dirty="0">
                <a:latin typeface="+mn-ea"/>
                <a:cs typeface="KoPub돋움체_Pro Bold"/>
              </a:rPr>
              <a:t> 180%)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12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편입비</a:t>
            </a:r>
            <a:endParaRPr sz="12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118%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7492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예상수익률 (원금 대비 · 15%↑ 음영)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537795"/>
              </p:ext>
            </p:extLst>
          </p:nvPr>
        </p:nvGraphicFramePr>
        <p:xfrm>
          <a:off x="507492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+17.4%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+20.7%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+24.0%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+27.2%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+38.6%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+14.1%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+17.5%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+20.9%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+23.8%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+28.6%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+13.6%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+17.2%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+19.9%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+18.6%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+5.5%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+12.8%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+15.8%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+8.6%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+11.4%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+8.6%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-6.5%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+0.5%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+5.9%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+8.6%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-14.0%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-11.6%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-8.1%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+8.6%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-22.7%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-21.1%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-18.9%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-14.2%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+8.6%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-32.3%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-31.9%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-31.3%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-31.4%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 50%·매매비용 매수 5bp/매도 30bp 가정 · 지수 60 도달 시 하방 완충 소멸로 주식형과 유사 운용 · 만기 편입비는 만기 1영업일 전 기준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변동성이 변하면 예상 편입비·예상수익률은 달라질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구조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②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안정변동성펀드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지수가 크게 하락할수록</a:t>
            </a:r>
            <a:r>
              <a:rPr lang="en-US" altLang="ko-KR" sz="1400" dirty="0">
                <a:latin typeface="+mn-lt"/>
                <a:ea typeface="KoPub돋움체_Pro Bold"/>
                <a:cs typeface="KoPub돋움체_Pro Bold"/>
              </a:rPr>
              <a:t>, </a:t>
            </a: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저가매수 편입 구조가 손실 폭을 지수보다 완화시킴</a:t>
            </a:r>
            <a:r>
              <a:rPr lang="en-US" altLang="ko-KR" sz="1400" dirty="0">
                <a:latin typeface="+mn-lt"/>
                <a:ea typeface="KoPub돋움체_Pro Bold"/>
                <a:cs typeface="KoPub돋움체_Pro Bold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지수가 </a:t>
            </a:r>
            <a:r>
              <a:rPr lang="en-US" altLang="ko-KR" sz="1400" dirty="0">
                <a:latin typeface="+mn-lt"/>
                <a:ea typeface="KoPub돋움체_Pro Bold"/>
                <a:cs typeface="KoPub돋움체_Pro Bold"/>
              </a:rPr>
              <a:t>-20%</a:t>
            </a: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 수준의 하락하더라도 원금 보존을 추구하고 </a:t>
            </a:r>
            <a:endParaRPr lang="en-US" altLang="ko-KR" sz="1400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보합·상승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구간에서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변동성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매매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수익을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안정적으로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확보</a:t>
            </a:r>
            <a:r>
              <a:rPr lang="en-US" sz="1400" i="0" dirty="0">
                <a:latin typeface="+mn-lt"/>
                <a:ea typeface="KoPub돋움체_Pro Bold"/>
                <a:cs typeface="KoPub돋움체_Pro Bold"/>
              </a:rPr>
              <a:t>.</a:t>
            </a:r>
            <a:endParaRPr sz="1400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변동성 60% 가정 · 점=시뮬 1회 .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8" name="Picture 7" descr="scat_stable_a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56" y="1886812"/>
            <a:ext cx="6675120" cy="41872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8FB3E-870E-8B8B-E34D-CAB3FE60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1C29C7-2344-F4E6-6823-A78DF130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지수대별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편입비·예상수익률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—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안정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변동성펀드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72E26-A0D7-9937-BE19-A51C62A31BD2}"/>
              </a:ext>
            </a:extLst>
          </p:cNvPr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ea"/>
                <a:cs typeface="KoPub돋움체_Pro Bold"/>
              </a:rPr>
              <a:t>리밸런싱일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지수</a:t>
            </a:r>
            <a:r>
              <a:rPr sz="1350" b="1" i="0" dirty="0">
                <a:latin typeface="+mn-ea"/>
                <a:cs typeface="KoPub돋움체_Pro Bold"/>
              </a:rPr>
              <a:t>=100 </a:t>
            </a:r>
            <a:r>
              <a:rPr sz="1350" b="1" i="0" dirty="0" err="1">
                <a:latin typeface="+mn-ea"/>
                <a:cs typeface="KoPub돋움체_Pro Bold"/>
              </a:rPr>
              <a:t>기준</a:t>
            </a:r>
            <a:r>
              <a:rPr sz="1350" b="1" i="0" dirty="0">
                <a:latin typeface="+mn-ea"/>
                <a:cs typeface="KoPub돋움체_Pro Bold"/>
              </a:rPr>
              <a:t> · </a:t>
            </a:r>
            <a:r>
              <a:rPr sz="1350" b="1" i="0" dirty="0" err="1">
                <a:latin typeface="+mn-ea"/>
                <a:cs typeface="KoPub돋움체_Pro Bold"/>
              </a:rPr>
              <a:t>잔존만기별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편입비와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원금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대비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>
                <a:latin typeface="+mn-ea"/>
                <a:cs typeface="KoPub돋움체_Pro Bold"/>
              </a:rPr>
              <a:t>예상수익률</a:t>
            </a:r>
            <a:endParaRPr sz="1350" b="1" i="0" dirty="0">
              <a:latin typeface="+mn-ea"/>
              <a:cs typeface="KoPub돋움체_Pro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74F29-D460-2C5B-FF6D-C8792877B94C}"/>
              </a:ext>
            </a:extLst>
          </p:cNvPr>
          <p:cNvSpPr txBox="1"/>
          <p:nvPr/>
        </p:nvSpPr>
        <p:spPr>
          <a:xfrm>
            <a:off x="54864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12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편입비</a:t>
            </a:r>
            <a:endParaRPr sz="12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5C2188-D7E8-E23F-EA89-17CB3055C919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2C1419-0007-675C-5050-0A022D7A3D9D}"/>
              </a:ext>
            </a:extLst>
          </p:cNvPr>
          <p:cNvSpPr txBox="1"/>
          <p:nvPr/>
        </p:nvSpPr>
        <p:spPr>
          <a:xfrm>
            <a:off x="507492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예상수익률 (원금 대비 · 15%↑ 음영)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D1CBF1-AB6B-21E7-C1F6-384B11F2F812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7492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+11.9%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+14.5%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+17.3%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+20.3%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+21.7%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+9.7%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+12.5%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+15.7%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+19.2%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+21.7%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+7.1%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+13.4%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+17.5%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+21.7%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+6.8%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+10.3%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+14.8%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+21.7%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+6.2%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+21.7%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-4.7%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-2.2%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+0.9%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+4.9%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+10.7%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-5.7%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-17.2%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-15.5%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-13.8%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-12.0%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-11.3%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-25.0%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-24.0%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-23.0%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-22.3%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-22.3%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F87FA24-EFEE-406F-1AAB-596537B9359C}"/>
              </a:ext>
            </a:extLst>
          </p:cNvPr>
          <p:cNvSpPr txBox="1"/>
          <p:nvPr/>
        </p:nvSpPr>
        <p:spPr>
          <a:xfrm>
            <a:off x="548640" y="566928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 50%·매매비용 매수 5bp/매도 30bp 가정  · ATM 풋매도 복제(참여율 110%·최대 편입비 100%) · 만기 편입비는 만기 1영업일 전 기준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변동성이 변하면 예상 편입비·예상수익률은 달라질 수 있습니다.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2F277-88F3-4D75-8574-D138AFD271E6}"/>
              </a:ext>
            </a:extLst>
          </p:cNvPr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4675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목표배당형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구조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— </a:t>
            </a:r>
            <a:r>
              <a:rPr lang="ko-KR" altLang="en-US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>목표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달성 시 분배 후 재운용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0" dirty="0" err="1">
                <a:latin typeface="+mn-ea"/>
                <a:cs typeface="KoPub돋움체_Pro Bold"/>
              </a:rPr>
              <a:t>목표수익률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도달</a:t>
            </a:r>
            <a:r>
              <a:rPr sz="1400" i="0" dirty="0">
                <a:latin typeface="+mn-ea"/>
                <a:cs typeface="KoPub돋움체_Pro Bold"/>
              </a:rPr>
              <a:t> 시 </a:t>
            </a:r>
            <a:r>
              <a:rPr sz="1400" i="0" dirty="0" err="1">
                <a:latin typeface="+mn-ea"/>
                <a:cs typeface="KoPub돋움체_Pro Bold"/>
              </a:rPr>
              <a:t>수익을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분배하고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원금만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남겨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다시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운용</a:t>
            </a:r>
            <a:r>
              <a:rPr sz="1400" i="0" dirty="0">
                <a:latin typeface="+mn-ea"/>
                <a:cs typeface="KoPub돋움체_Pro Bold"/>
              </a:rPr>
              <a:t> — '</a:t>
            </a:r>
            <a:r>
              <a:rPr sz="1400" i="0" dirty="0" err="1">
                <a:latin typeface="+mn-ea"/>
                <a:cs typeface="KoPub돋움체_Pro Bold"/>
              </a:rPr>
              <a:t>수익은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챙기고</a:t>
            </a:r>
            <a:r>
              <a:rPr sz="1400" i="0" dirty="0">
                <a:latin typeface="+mn-ea"/>
                <a:cs typeface="KoPub돋움체_Pro Bold"/>
              </a:rPr>
              <a:t>, </a:t>
            </a:r>
            <a:r>
              <a:rPr sz="1400" i="0" dirty="0" err="1">
                <a:latin typeface="+mn-ea"/>
                <a:cs typeface="KoPub돋움체_Pro Bold"/>
              </a:rPr>
              <a:t>원금은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굴린다</a:t>
            </a:r>
            <a:r>
              <a:rPr sz="1400" i="0" dirty="0">
                <a:latin typeface="+mn-ea"/>
                <a:cs typeface="KoPub돋움체_Pro Bold"/>
              </a:rPr>
              <a:t>'.</a:t>
            </a:r>
            <a:endParaRPr lang="en-US" sz="1400" i="0" dirty="0">
              <a:latin typeface="+mn-ea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+mn-ea"/>
                <a:cs typeface="KoPub돋움체_Pro Medium"/>
              </a:rPr>
              <a:t>변동성 장세에 지친 투자자에게 안정적 현금흐름을 제공하는 </a:t>
            </a:r>
            <a:r>
              <a:rPr lang="ko-KR" altLang="en-US" sz="1400" dirty="0" err="1">
                <a:solidFill>
                  <a:srgbClr val="222222"/>
                </a:solidFill>
                <a:latin typeface="+mn-ea"/>
                <a:cs typeface="KoPub돋움체_Pro Medium"/>
              </a:rPr>
              <a:t>오아시스같은</a:t>
            </a:r>
            <a:r>
              <a:rPr lang="ko-KR" altLang="en-US" sz="1400" dirty="0">
                <a:solidFill>
                  <a:srgbClr val="222222"/>
                </a:solidFill>
                <a:latin typeface="+mn-ea"/>
                <a:cs typeface="KoPub돋움체_Pro Medium"/>
              </a:rPr>
              <a:t> 전략입니다</a:t>
            </a:r>
            <a:r>
              <a:rPr lang="en-US" altLang="ko-KR" sz="1400" dirty="0">
                <a:solidFill>
                  <a:srgbClr val="222222"/>
                </a:solidFill>
                <a:latin typeface="+mn-ea"/>
                <a:cs typeface="KoPub돋움체_Pro Medium"/>
              </a:rPr>
              <a:t>.</a:t>
            </a:r>
            <a:endParaRPr sz="1400" i="0" dirty="0">
              <a:latin typeface="+mn-ea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운용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 매매 + 방향 투자로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목표수익률(연 15%)을 추구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39" y="2697479"/>
            <a:ext cx="411480" cy="50292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4904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목표 달성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누적 수익률 15% 도달 시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 부분을 투자자에게 분배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00800" y="2697479"/>
            <a:ext cx="411480" cy="50292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재운용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원금만 남겨 다음 사이클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재운용 — 반복 수익 실현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자료는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이해를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돕기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시뮬레이션은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가정에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것으로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투자내용·성과와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다를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수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있습니다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운용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규칙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기반의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리밸런싱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로직을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1350" b="1" i="0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시스템에서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연산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자료는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이해를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돕기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시뮬레이션은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가정에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것으로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투자내용·성과와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다를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수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있습니다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201C8A-55AB-5D48-9EF0-33B114A6F9F4}"/>
              </a:ext>
            </a:extLst>
          </p:cNvPr>
          <p:cNvSpPr/>
          <p:nvPr/>
        </p:nvSpPr>
        <p:spPr>
          <a:xfrm>
            <a:off x="6138250" y="2471596"/>
            <a:ext cx="3508671" cy="3106243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dirty="0">
              <a:solidFill>
                <a:srgbClr val="F58220"/>
              </a:solidFill>
              <a:latin typeface="KoPub돋움체_Pro Bold"/>
              <a:ea typeface="KoPub돋움체_Pro Bold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일별 </a:t>
            </a: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리밸런싱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실시간으로 목표 편입비를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재산출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자의적 판단 배제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규칙대로 집행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일별 종가기준 목표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매칭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저가매수</a:t>
            </a:r>
            <a:r>
              <a:rPr lang="en-US" altLang="ko-KR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·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고가매도 규칙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지수 하락 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확대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상승 시 축소합니다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endParaRPr lang="en-US"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급등장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청산 규칙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지수가 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+10%·+20%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상승하면 편입비를 단계적으로 축소해 이익을 확정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</p:txBody>
      </p:sp>
      <p:pic>
        <p:nvPicPr>
          <p:cNvPr id="14" name="Picture 13" descr="monitor_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90" y="2471596"/>
            <a:ext cx="5435927" cy="31062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727656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</a:t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QPMS </a:t>
            </a:r>
            <a:r>
              <a:rPr lang="en-US" altLang="ko-KR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>Vol Trading </a:t>
            </a:r>
            <a:r>
              <a:rPr lang="ko-KR" altLang="en-US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>시스템운용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—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성장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하베스트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롱(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)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비중을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장세에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따라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탄력적으로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조절합니다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E4E23-DEA2-918E-E2A0-AE0EA1D5A557}"/>
              </a:ext>
            </a:extLst>
          </p:cNvPr>
          <p:cNvSpPr txBox="1"/>
          <p:nvPr/>
        </p:nvSpPr>
        <p:spPr>
          <a:xfrm>
            <a:off x="548640" y="6173974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비중은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일반적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운용은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변동됩니다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6C43864-46D9-C9D0-AF84-94FA7B7A8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3624919"/>
            <a:ext cx="4549719" cy="1857376"/>
          </a:xfrm>
          <a:prstGeom prst="rect">
            <a:avLst/>
          </a:prstGeom>
        </p:spPr>
      </p:pic>
      <p:pic>
        <p:nvPicPr>
          <p:cNvPr id="21" name="Picture 20" descr="qpms_down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953871"/>
            <a:ext cx="3364992" cy="1064568"/>
          </a:xfrm>
          <a:prstGeom prst="rect">
            <a:avLst/>
          </a:prstGeom>
        </p:spPr>
      </p:pic>
      <p:pic>
        <p:nvPicPr>
          <p:cNvPr id="22" name="Picture 21" descr="qpms_up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110218"/>
            <a:ext cx="3364992" cy="1064567"/>
          </a:xfrm>
          <a:prstGeom prst="rect">
            <a:avLst/>
          </a:prstGeom>
        </p:spPr>
      </p:pic>
      <p:pic>
        <p:nvPicPr>
          <p:cNvPr id="23" name="Picture 22" descr="qpms_flat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5175504"/>
            <a:ext cx="3364992" cy="1115195"/>
          </a:xfrm>
          <a:prstGeom prst="rect">
            <a:avLst/>
          </a:prstGeom>
        </p:spPr>
      </p:pic>
      <p:pic>
        <p:nvPicPr>
          <p:cNvPr id="24" name="Picture 23" descr="bp_k2_growt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1395006"/>
            <a:ext cx="8705850" cy="14878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C80F6-760D-7173-6BEA-D23F902D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7FEC8F-0A4A-B876-9C9D-FE5B64BF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67301"/>
            <a:ext cx="874452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</a:t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: QPMS Vol Trading –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안정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하베스트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DA9A7-86E0-1795-12C4-11547F9BC5F7}"/>
              </a:ext>
            </a:extLst>
          </p:cNvPr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롱(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)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비중을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장세에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따라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탄력적으로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조절합니다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BC4D29-7259-FAA5-5328-005DA8C700FC}"/>
              </a:ext>
            </a:extLst>
          </p:cNvPr>
          <p:cNvSpPr txBox="1"/>
          <p:nvPr/>
        </p:nvSpPr>
        <p:spPr>
          <a:xfrm>
            <a:off x="548640" y="6173974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비중은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일반적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운용은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변동됩니다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87282E-C283-C7A3-8DCA-FBE81892D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3528612"/>
            <a:ext cx="4643438" cy="2254707"/>
          </a:xfrm>
          <a:prstGeom prst="rect">
            <a:avLst/>
          </a:prstGeom>
        </p:spPr>
      </p:pic>
      <p:pic>
        <p:nvPicPr>
          <p:cNvPr id="18" name="Picture 17" descr="qpms_down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806469"/>
            <a:ext cx="3364992" cy="1154933"/>
          </a:xfrm>
          <a:prstGeom prst="rect">
            <a:avLst/>
          </a:prstGeom>
        </p:spPr>
      </p:pic>
      <p:pic>
        <p:nvPicPr>
          <p:cNvPr id="19" name="Picture 18" descr="qpms_up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4019853"/>
            <a:ext cx="3364992" cy="1154933"/>
          </a:xfrm>
          <a:prstGeom prst="rect">
            <a:avLst/>
          </a:prstGeom>
        </p:spPr>
      </p:pic>
      <p:pic>
        <p:nvPicPr>
          <p:cNvPr id="20" name="Picture 19" descr="qpms_flat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5175504"/>
            <a:ext cx="3364992" cy="1067128"/>
          </a:xfrm>
          <a:prstGeom prst="rect">
            <a:avLst/>
          </a:prstGeom>
        </p:spPr>
      </p:pic>
      <p:pic>
        <p:nvPicPr>
          <p:cNvPr id="21" name="Picture 20" descr="bp_k2_stab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945" y="1325567"/>
            <a:ext cx="8743950" cy="142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90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905256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: 최근 3개월 급변동 구간 실측 — 목표 환매 없음 vs +15% 재운용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기초가 +48%까지 급등 후 -5%로 되돌린 최근 3개월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ko-KR" sz="1400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067748"/>
            <a:ext cx="9052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기간 기준가 2026-04-28 종가 ~ 07-28(노출 60영업일) · 기초=KOSPI200 종가지수 · σ=직전 60영업일 연율화(상한 60%) · r=q 2.5% · 편입비 하한 10% · 잔여 현금 연 2.5% · 매매비용 매수 5bp/매도 30bp · 실거래일 기준(주말 변동 없음) · 상기 자료는 예시이며 실제 성과와 다를 수 있습니다.</a:t>
            </a:r>
          </a:p>
        </p:txBody>
      </p:sp>
      <p:pic>
        <p:nvPicPr>
          <p:cNvPr id="8" name="Picture 7" descr="qpms_3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1952"/>
            <a:ext cx="4480560" cy="4092819"/>
          </a:xfrm>
          <a:prstGeom prst="rect">
            <a:avLst/>
          </a:prstGeom>
        </p:spPr>
      </p:pic>
      <p:pic>
        <p:nvPicPr>
          <p:cNvPr id="9" name="Picture 8" descr="qpms_3m_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901952"/>
            <a:ext cx="4480560" cy="41846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ko-KR" sz="2200" b="1" dirty="0">
                <a:solidFill>
                  <a:srgbClr val="222222"/>
                </a:solidFill>
              </a:rPr>
              <a:t>FAQ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122044"/>
            <a:ext cx="88696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하락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시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지수와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같이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떨어지는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것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아닌가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다릅니다. 하락할수록 저가매수로 편입을 늘리는 구조라, 같은 지수 -30%에서도 시뮬 손실 중앙값은 -5% 수준(안정형)으로 완화됩니다. 반등 시 늘어난 편입이 회복을 가속합니다.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94660"/>
            <a:ext cx="88696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상방은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제한되는데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하방만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열려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있는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것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아닌가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</a:t>
            </a:r>
            <a:r>
              <a:rPr lang="ko-KR" altLang="en-US" sz="1400" dirty="0">
                <a:solidFill>
                  <a:srgbClr val="222222"/>
                </a:solidFill>
                <a:cs typeface="KoPub돋움체_Pro Medium"/>
              </a:rPr>
              <a:t>변동성 매매 수익을 안정적으로 확정</a:t>
            </a:r>
            <a:r>
              <a:rPr lang="ko-KR" altLang="en-US" sz="1400" dirty="0">
                <a:solidFill>
                  <a:schemeClr val="tx1"/>
                </a:solidFill>
                <a:cs typeface="KoPub돋움체_Pro Medium"/>
              </a:rPr>
              <a:t>하기</a:t>
            </a:r>
            <a:r>
              <a:rPr lang="ko-KR" altLang="en-US" sz="1400" dirty="0">
                <a:solidFill>
                  <a:srgbClr val="222222"/>
                </a:solidFill>
                <a:cs typeface="KoPub돋움체_Pro Medium"/>
              </a:rPr>
              <a:t> 위한 설계입니다</a:t>
            </a:r>
            <a:r>
              <a:rPr lang="en-US" altLang="ko-KR" sz="1400" dirty="0">
                <a:solidFill>
                  <a:srgbClr val="222222"/>
                </a:solidFill>
                <a:cs typeface="KoPub돋움체_Pro Medium"/>
              </a:rPr>
              <a:t>.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+mn-ea"/>
                <a:cs typeface="KoPub돋움체_Pro Bold"/>
              </a:rPr>
              <a:t>안정 변동성펀드에서 보이는 수익구조는</a:t>
            </a:r>
            <a:r>
              <a:rPr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lang="ko-KR" altLang="en-US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지수가 </a:t>
            </a:r>
            <a:r>
              <a:rPr lang="en-US" altLang="ko-KR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-20%</a:t>
            </a:r>
            <a:r>
              <a:rPr lang="ko-KR" altLang="en-US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까지 하락하더라도 원금을 </a:t>
            </a:r>
            <a:r>
              <a:rPr lang="ko-KR" altLang="en-US" sz="1400" i="0" dirty="0" err="1">
                <a:solidFill>
                  <a:srgbClr val="222222"/>
                </a:solidFill>
                <a:ea typeface="KoPub돋움체_Pro Medium"/>
                <a:cs typeface="KoPub돋움체_Pro Medium"/>
              </a:rPr>
              <a:t>확보하도록하며</a:t>
            </a:r>
            <a:r>
              <a:rPr lang="ko-KR" altLang="en-US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sz="1400" i="0" dirty="0" err="1">
                <a:solidFill>
                  <a:srgbClr val="222222"/>
                </a:solidFill>
                <a:ea typeface="KoPub돋움체_Pro Medium"/>
                <a:cs typeface="KoPub돋움체_Pro Medium"/>
              </a:rPr>
              <a:t>시뮬레이션</a:t>
            </a:r>
            <a:r>
              <a:rPr lang="en-US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상 </a:t>
            </a:r>
            <a:r>
              <a:rPr sz="1400" i="0" dirty="0" err="1">
                <a:solidFill>
                  <a:srgbClr val="222222"/>
                </a:solidFill>
                <a:ea typeface="KoPub돋움체_Pro Medium"/>
                <a:cs typeface="KoPub돋움체_Pro Medium"/>
              </a:rPr>
              <a:t>손실이</a:t>
            </a:r>
            <a:r>
              <a:rPr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sz="1400" i="0" dirty="0" err="1">
                <a:solidFill>
                  <a:srgbClr val="222222"/>
                </a:solidFill>
                <a:ea typeface="KoPub돋움체_Pro Medium"/>
                <a:cs typeface="KoPub돋움체_Pro Medium"/>
              </a:rPr>
              <a:t>지수보다</a:t>
            </a:r>
            <a:r>
              <a:rPr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sz="1400" i="0" dirty="0" err="1">
                <a:solidFill>
                  <a:srgbClr val="222222"/>
                </a:solidFill>
                <a:ea typeface="KoPub돋움체_Pro Medium"/>
                <a:cs typeface="KoPub돋움체_Pro Medium"/>
              </a:rPr>
              <a:t>작습니다</a:t>
            </a:r>
            <a:r>
              <a:rPr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.</a:t>
            </a:r>
            <a:r>
              <a:rPr lang="en-US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lang="ko-KR" altLang="en-US" sz="1400" dirty="0" err="1">
                <a:solidFill>
                  <a:srgbClr val="222222"/>
                </a:solidFill>
                <a:cs typeface="KoPub돋움체_Pro Medium"/>
              </a:rPr>
              <a:t>하방은</a:t>
            </a:r>
            <a:r>
              <a:rPr lang="ko-KR" altLang="en-US" sz="1400" dirty="0">
                <a:solidFill>
                  <a:srgbClr val="222222"/>
                </a:solidFill>
                <a:cs typeface="KoPub돋움체_Pro Medium"/>
              </a:rPr>
              <a:t> 저가매수 편입 확대 기회로 판단하고</a:t>
            </a:r>
            <a:r>
              <a:rPr lang="en-US" altLang="ko-KR" sz="1400" dirty="0">
                <a:solidFill>
                  <a:srgbClr val="222222"/>
                </a:solidFill>
                <a:cs typeface="KoPub돋움체_Pro Medium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cs typeface="KoPub돋움체_Pro Medium"/>
              </a:rPr>
              <a:t>지수가</a:t>
            </a:r>
            <a:r>
              <a:rPr lang="en-US" altLang="ko-KR" sz="1400" dirty="0">
                <a:solidFill>
                  <a:srgbClr val="222222"/>
                </a:solidFill>
                <a:cs typeface="KoPub돋움체_Pro Medium"/>
              </a:rPr>
              <a:t> </a:t>
            </a:r>
            <a:r>
              <a:rPr lang="en-US" altLang="ko-KR" sz="1400" dirty="0">
                <a:solidFill>
                  <a:srgbClr val="222222"/>
                </a:solidFill>
              </a:rPr>
              <a:t>-40% </a:t>
            </a:r>
            <a:r>
              <a:rPr lang="ko-KR" altLang="en-US" sz="1400" dirty="0">
                <a:solidFill>
                  <a:srgbClr val="222222"/>
                </a:solidFill>
              </a:rPr>
              <a:t>도달 시 변동성 매매를 멈추고 상승 수취를 위해 주식형과 유사하게 운용합니다</a:t>
            </a:r>
            <a:r>
              <a:rPr lang="en-US" altLang="ko-KR" sz="1400" dirty="0">
                <a:solidFill>
                  <a:srgbClr val="222222"/>
                </a:solidFill>
              </a:rPr>
              <a:t>.</a:t>
            </a:r>
            <a:endParaRPr sz="1400" dirty="0">
              <a:solidFill>
                <a:srgbClr val="222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D2E8-E69E-9043-5C65-D0F865F2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382F3A-6378-60B7-67D1-4A94CADC7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ko-KR" sz="2200" b="1" dirty="0">
                <a:solidFill>
                  <a:srgbClr val="222222"/>
                </a:solidFill>
              </a:rPr>
              <a:t>FAQ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EF8FE7-BE6A-9E43-CB0B-628DB1EC69A9}"/>
              </a:ext>
            </a:extLst>
          </p:cNvPr>
          <p:cNvSpPr/>
          <p:nvPr/>
        </p:nvSpPr>
        <p:spPr>
          <a:xfrm>
            <a:off x="640080" y="1122044"/>
            <a:ext cx="8869680" cy="10591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lang="ko-KR" altLang="en-US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상승장이 지속되면 조기에 끝나는 것 아닌가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목표수익 달성 시 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'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분배 후 재운용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'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으로 이어져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종료가 아니라 다음 수익 사이클로 연결됩니다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BA374-4903-113F-1CEC-DEEFD69CAAA6}"/>
              </a:ext>
            </a:extLst>
          </p:cNvPr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B82EA581-A1C0-663A-BEB8-65BAEBD1A5AB}"/>
              </a:ext>
            </a:extLst>
          </p:cNvPr>
          <p:cNvSpPr/>
          <p:nvPr/>
        </p:nvSpPr>
        <p:spPr>
          <a:xfrm>
            <a:off x="640080" y="2305625"/>
            <a:ext cx="8869680" cy="10591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lang="ko-KR" altLang="en-US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변동성이 줄어들면 수익을 못 내나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 매매 수익은 줄지만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방향 투자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(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롱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)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로 상승 수익을 확보합니다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현재는 </a:t>
            </a:r>
            <a:r>
              <a:rPr lang="ko-KR" altLang="en-US"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역대급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변동성 국면입니다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189CEBE0-8A1D-7F91-B8FD-E0EB2A5251A9}"/>
              </a:ext>
            </a:extLst>
          </p:cNvPr>
          <p:cNvSpPr/>
          <p:nvPr/>
        </p:nvSpPr>
        <p:spPr>
          <a:xfrm>
            <a:off x="640080" y="3517206"/>
            <a:ext cx="8869680" cy="10591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</a:t>
            </a:r>
            <a:r>
              <a:rPr lang="ko-KR" altLang="en-US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란 무엇인가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</a:t>
            </a:r>
            <a:r>
              <a:rPr lang="ko-KR" altLang="en-US"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미래에셋의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lang="ko-KR" altLang="en-US"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퀀트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운용 시스템으로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규칙 기반 </a:t>
            </a:r>
            <a:r>
              <a:rPr lang="ko-KR" altLang="en-US"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리밸런싱을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진행합니다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매일 편입비를 계산해 자의적 판단을 배제합니다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D66611C7-745F-A213-102D-52AC20A5B14E}"/>
              </a:ext>
            </a:extLst>
          </p:cNvPr>
          <p:cNvSpPr/>
          <p:nvPr/>
        </p:nvSpPr>
        <p:spPr>
          <a:xfrm>
            <a:off x="640080" y="4728787"/>
            <a:ext cx="8869680" cy="10591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lang="ko-KR" altLang="en-US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왜 이 전략이고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lang="ko-KR" altLang="en-US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왜 </a:t>
            </a:r>
            <a:r>
              <a:rPr lang="ko-KR" altLang="en-US"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미래에셋인가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</a:t>
            </a:r>
            <a:r>
              <a:rPr lang="ko-KR" altLang="en-US" sz="1250" dirty="0">
                <a:solidFill>
                  <a:srgbClr val="222222"/>
                </a:solidFill>
                <a:cs typeface="KoPub돋움체_Pro Medium"/>
              </a:rPr>
              <a:t>현재는 </a:t>
            </a:r>
            <a:r>
              <a:rPr lang="ko-KR" altLang="en-US" sz="1250" dirty="0" err="1">
                <a:solidFill>
                  <a:srgbClr val="222222"/>
                </a:solidFill>
                <a:cs typeface="KoPub돋움체_Pro Medium"/>
              </a:rPr>
              <a:t>역대급</a:t>
            </a:r>
            <a:r>
              <a:rPr lang="ko-KR" altLang="en-US" sz="1250" dirty="0">
                <a:solidFill>
                  <a:srgbClr val="222222"/>
                </a:solidFill>
                <a:cs typeface="KoPub돋움체_Pro Medium"/>
              </a:rPr>
              <a:t> 변동성 국면이기에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 수확 전략을 고려하기 좋은 시기라고 판단합니다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더불어 베테랑 운용역과 검증된 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QPMS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인프라를 활용할 수 있기 때문입니다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90844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감사합니다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Office 테마">
  <a:themeElements>
    <a:clrScheme name="미래에셋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F58220"/>
      </a:accent1>
      <a:accent2>
        <a:srgbClr val="043B72"/>
      </a:accent2>
      <a:accent3>
        <a:srgbClr val="00A9CE"/>
      </a:accent3>
      <a:accent4>
        <a:srgbClr val="F0B26B"/>
      </a:accent4>
      <a:accent5>
        <a:srgbClr val="AE634E"/>
      </a:accent5>
      <a:accent6>
        <a:srgbClr val="84888B"/>
      </a:accent6>
      <a:hlink>
        <a:srgbClr val="0563C1"/>
      </a:hlink>
      <a:folHlink>
        <a:srgbClr val="954F72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155074</TotalTime>
  <Words>2657</Words>
  <Application>Microsoft Office PowerPoint</Application>
  <PresentationFormat>A4 용지(210x297mm)</PresentationFormat>
  <Paragraphs>422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KoPub돋움체_Pro Bold</vt:lpstr>
      <vt:lpstr>KoPub돋움체_Pro Medium</vt:lpstr>
      <vt:lpstr>맑은 고딕</vt:lpstr>
      <vt:lpstr>Arial</vt:lpstr>
      <vt:lpstr>Calibri</vt:lpstr>
      <vt:lpstr>Noto Sans</vt:lpstr>
      <vt:lpstr>Office 테마</vt:lpstr>
      <vt:lpstr>미래에셋 변동성 하베스트 AI Top2 일반사모투자신탁</vt:lpstr>
      <vt:lpstr>변동성 하베스트 투자포인트</vt:lpstr>
      <vt:lpstr>투자포인트 ① 변동성 장세</vt:lpstr>
      <vt:lpstr>투자포인트 ② 변동성 장세 지속. 상방을 누르는 수급</vt:lpstr>
      <vt:lpstr>투자포인트 ③ 변동성 장세 지속. 하방을 받치는 밸류에이션·실적</vt:lpstr>
      <vt:lpstr>투자포인트 ④ 레버리지가 키운 변동성</vt:lpstr>
      <vt:lpstr>투자포인트 ④ 레버리지가 키운 변동성</vt:lpstr>
      <vt:lpstr>변동성 하베스트 전략</vt:lpstr>
      <vt:lpstr>전략 상세 ① 변동성 매매 (저가매수·고가매도)</vt:lpstr>
      <vt:lpstr>전략 상세 ② 방향 투자 (상승 참여)</vt:lpstr>
      <vt:lpstr>수익 구조 ① 성장변동성펀드 (변동성 매매 + 상승 참여)</vt:lpstr>
      <vt:lpstr>지수대별 실제 편입비·예상수익률 — 성장변동성펀드</vt:lpstr>
      <vt:lpstr>수익 구조 ② 안정변동성펀드</vt:lpstr>
      <vt:lpstr>지수대별 실제 편입비·예상수익률 — 안정변동성펀드</vt:lpstr>
      <vt:lpstr>목표배당형 구조 — 목표 달성 시 분배 후 재운용</vt:lpstr>
      <vt:lpstr>별첨 QPMS Vol Trading 시스템 운용</vt:lpstr>
      <vt:lpstr>별첨 QPMS Vol Trading 시스템운용 — 성장 변동성 하베스트</vt:lpstr>
      <vt:lpstr>별첨 : QPMS Vol Trading – 안정 변동성 하베스트</vt:lpstr>
      <vt:lpstr>별첨 : 최근 3개월 급변동 구간 실측 — 목표 환매 없음 vs +15% 재운용</vt:lpstr>
      <vt:lpstr>FAQ</vt:lpstr>
      <vt:lpstr>FAQ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yurim</dc:creator>
  <cp:lastModifiedBy>Lee, Hyun Kyung (이현경)</cp:lastModifiedBy>
  <cp:revision>3371</cp:revision>
  <cp:lastPrinted>2025-06-10T01:28:42Z</cp:lastPrinted>
  <dcterms:created xsi:type="dcterms:W3CDTF">2015-10-26T01:08:58Z</dcterms:created>
  <dcterms:modified xsi:type="dcterms:W3CDTF">2026-07-29T01:29:05Z</dcterms:modified>
</cp:coreProperties>
</file>