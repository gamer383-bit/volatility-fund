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2"/>
  </p:notesMasterIdLst>
  <p:handoutMasterIdLst>
    <p:handoutMasterId r:id="rId23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64" r:id="rId14"/>
    <p:sldId id="1258" r:id="rId15"/>
    <p:sldId id="1259" r:id="rId16"/>
    <p:sldId id="1283" r:id="rId17"/>
    <p:sldId id="1262" r:id="rId18"/>
    <p:sldId id="1281" r:id="rId19"/>
    <p:sldId id="1282" r:id="rId20"/>
    <p:sldId id="1270" r:id="rId21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7/30/2026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7/30/2026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 TOP2 변동성 하베스트 채권혼합 ETF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3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Relationship Id="rId3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TOP2 변동성 하베스트</a:t>
            </a:r>
            <a:br>
              <a:rPr lang="en-US" altLang="ko-KR" dirty="0"/>
            </a:br>
            <a:r>
              <a:rPr lang="ko-KR" altLang="en-US" dirty="0"/>
              <a:t>채권혼합 ETF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기준(2026-07-28).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하락 방어 산출: 분기(3개월) 구조 만기 기준 지수 -30% 시 펀드 예상 -11.5%(주식 50%·채권 50%, 변동성 70% 가정). 시뮬레이션 가정에 따른 예시이며 원금 보장 아님.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채권 50% + 하락 시 저가매수로 낙폭을 크게 완화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3개월 단위 구조 리셋  —  분기마다 기준을 새로 설정하는 오픈형(상장) 구조로 언제든 매매 가능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3개월 리셋 구조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만기 3개월 고정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분기 리셋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분기마다 기준을 새로 설정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'구조가 늘 새로 시작'
오픈형(상장)으로 언제든 매매</a:t>
            </a:r>
          </a:p>
        </p:txBody>
      </p:sp>
      <p:sp>
        <p:nvSpPr>
          <p:cNvPr id="2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3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Picture 103" descr="mini_bond_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224" y="3182112"/>
            <a:ext cx="1984248" cy="941915"/>
          </a:xfrm>
          <a:prstGeom prst="rect">
            <a:avLst/>
          </a:prstGeom>
        </p:spPr>
      </p:pic>
      <p:pic>
        <p:nvPicPr>
          <p:cNvPr id="105" name="Picture 104" descr="mini_bond_f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224" y="4261104"/>
            <a:ext cx="1984248" cy="941915"/>
          </a:xfrm>
          <a:prstGeom prst="rect">
            <a:avLst/>
          </a:prstGeom>
        </p:spPr>
      </p:pic>
      <p:pic>
        <p:nvPicPr>
          <p:cNvPr id="106" name="Picture 105" descr="vol_regime_card_bo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분기(3개월) 구조 기준으로 목표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지수, 잔존만기, 변동성과 같은 시장 상황을 고려해 규칙에 따라 포트폴리오를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채권혼합 ETF: 하락 시 저가매수, 상승 구간(+10% 이후)에도 참여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— 분기(3개월) 단위 변동성 매매 + 상승 참여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하락 시 저가매수·프리미엄 수취, 상승 구간(+10%~+50%)에 참여합니다 (주식파트 100% 기준).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70% 가정 · 3개월 만기 · 점=시뮬 1회 · 노란선=구간 평균 · 매매비용 매수 5bp/매도 30bp 포함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주식 배분 50% 적용 시 펀드 기여는 표시값의 절반 수준이며, 잔여는 1년 국고채·현금으로 운용됩니다.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9" name="Picture 8" descr="scat_bond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691640"/>
            <a:ext cx="6035040" cy="37463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 주식 편입비·예상수익률 — 분기(3개월) 구조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 지수=100 기준 · 잔존만기 3.0~0.5개월(0.5개월 단위)·만기 · 주식 배분 50%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70%·매매비용 매수 5bp/매도 30bp 가정 · 예상수익률 = 주식파트 50% + 채권 50%(1년 국고채, 연 2.5%) · 잔존 2주 미만은 τ=2주로 고정해 편입비 산출(만기 열=동 규칙 기준)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1" name="Picture 10" descr="tbl_bond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4480560" cy="2240280"/>
          </a:xfrm>
          <a:prstGeom prst="rect">
            <a:avLst/>
          </a:prstGeom>
        </p:spPr>
      </p:pic>
      <p:pic>
        <p:nvPicPr>
          <p:cNvPr id="12" name="Picture 11" descr="tbl_bond_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874519"/>
            <a:ext cx="448056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3개월 리셋 구조 — 분기마다 새로 시작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만기를 3개월로 고정하고, 분기마다 매매 기준을 현재 지수로 재설정합니다.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구조가 늘 새로 시작되어 진입 시점 부담이 없고, 오픈형(상장)으로 언제든 매매할 수 있습니다.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상승 참여로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분기 수익을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분기 만기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3개월마다 구조를 정산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손익을 기준가에 반영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리셋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기준을 현재 지수로 재설정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다음 분기 새로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분기 리셋 규칙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만기 3개월 구조를 분기마다 현재 지수로 재설정. 잔존 2주 미만은 2주 기준으로 편입비를 산출해 급변을 완화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/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/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14" name="Picture 13" descr="monitor_bo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QPMS 백테스트 — TOP2 실측 (분기 리셋)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2021-07-28~2026-07-30 · 분기마다 기준 재설정 · σ=직전 60영업일 연환산(상한 70%) · 주식 배분 50% · 채권 연 2.5% 가정 · 잔존 2주 미만 τ=2주 고정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18" name="Picture 17" descr="bp_bo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417320"/>
            <a:ext cx="8705088" cy="1682496"/>
          </a:xfrm>
          <a:prstGeom prst="rect">
            <a:avLst/>
          </a:prstGeom>
        </p:spPr>
      </p:pic>
      <p:pic>
        <p:nvPicPr>
          <p:cNvPr id="19" name="Picture 18" descr="bt_bo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3611880"/>
            <a:ext cx="4553712" cy="2074857"/>
          </a:xfrm>
          <a:prstGeom prst="rect">
            <a:avLst/>
          </a:prstGeom>
        </p:spPr>
      </p:pic>
      <p:pic>
        <p:nvPicPr>
          <p:cNvPr id="20" name="Picture 19" descr="bt_bond_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3520440"/>
            <a:ext cx="3931920" cy="22669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구간별 성과 예시 — 상승 · 변동장 · 하락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9052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급등락 장세일수록 강한 구조입니다 — 변동장·하락장에서 BM을 앞서고, 상승장에도 참여합니다. (각 구간 시작일에 신규 운용 개시 가정)</a:t>
            </a:r>
          </a:p>
        </p:txBody>
      </p:sp>
      <p:pic>
        <p:nvPicPr>
          <p:cNvPr id="4" name="Picture 3" descr="bt_bond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2971800" cy="2289629"/>
          </a:xfrm>
          <a:prstGeom prst="rect">
            <a:avLst/>
          </a:prstGeom>
        </p:spPr>
      </p:pic>
      <p:pic>
        <p:nvPicPr>
          <p:cNvPr id="5" name="Picture 4" descr="bt_bond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148841"/>
            <a:ext cx="2971800" cy="1738384"/>
          </a:xfrm>
          <a:prstGeom prst="rect">
            <a:avLst/>
          </a:prstGeom>
        </p:spPr>
      </p:pic>
      <p:pic>
        <p:nvPicPr>
          <p:cNvPr id="6" name="Picture 5" descr="bt_bond_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8830" y="4155948"/>
            <a:ext cx="2971800" cy="16399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각 구간 시작일에 신규 설정 가정 · BM=TOP2 40%+1년국고채(매일 리밸런싱) · σ=직전 60영업일 연환산(상한 70%) · 세로선=분기 리셋 · 상기 자료는 예시이며 실제 성과와 다를 수 있습니다.</a:t>
            </a:r>
          </a:p>
        </p:txBody>
      </p:sp>
      <p:pic>
        <p:nvPicPr>
          <p:cNvPr id="8" name="Picture 7" descr="bt_bond_down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148840"/>
            <a:ext cx="2971800" cy="228962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실측 — 급등 후 되돌림 구간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+94%까지 급등 후 -1%로 되돌린 최근 3개월 — 왕복 구간에서 펀드 +6.9% (BM +3.2%)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2026-04-30 종가 ~ 07-30(노출 60영업일) · 기초=TOP2 지수(삼성·하이닉스 50:50 일별리밸) · σ=직전 60영업일 연율화(상한 70%) · r=q 2.5% · 주식 배분 50%·채권 연 2.5% · 매매비용 매수 5bp/매도 30bp · 잔존 2주 미만 τ=2주 고정 · BM=TOP2 40%+1년국고채 · 상기 자료는 예시이며 실제 성과와 다를 수 있습니다.</a:t>
            </a:r>
          </a:p>
        </p:txBody>
      </p:sp>
      <p:pic>
        <p:nvPicPr>
          <p:cNvPr id="8" name="Picture 7" descr="bt_bond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783080"/>
            <a:ext cx="6949440" cy="386419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채권(1년 국고채) 50%가 기본 방어선이고, 주식 파트는 하락할수록 저가매수로 편입을 늘려 낙폭을 완화합니다. 분기 만기 기준 지수 -30% 시 펀드 예상 손실은 약 -11.5%(변동성 70% 가정)로 지수의 절반 이하입니다.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상승 구간(+10%~+50%)에 참여하도록 설계되어 분기 지수 +30% 시 주식 파트가 약 +25%(펀드 기준 약 +13%)를 수취합니다. 상승이 계속되면 분기마다 기준이 리셋되어 새로운 상승 참여 구간이 다시 열립니다.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3개월 리셋이란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매매의 기준(만기 3개월 구조)을 분기마다 그 시점 지수로 새로 설정하는 방식입니다. 구조가 늘 새로 시작되므로 진입 시점에 따른 유불리가 작고, 오픈형(상장)으로 언제든 매매할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벤치마크(BM)와 비교하면 어떤가요?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BM은 TOP2 지수 40% + 1년 국고채입니다. 실측 백테스트(2021.07~2026.07)에서 펀드 +136.5%로 BM(+143.9%)과 유사한 성과를 기록했고, 급등 후 되돌림 같은 왕복 구간(최근 3개월 펀드 +6.9% vs BM +3.2%)에서 변동성 매매 초과수익이 발생합니다. 하락 구간 방어는 채권 50%와 저가매수 구조가 담당합니다.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상승 참여와 채권 이자로 수익을 보완합니다. 현재 삼성전자·SK하이닉스 실현변동성은 85~99%로 5년 평균(32~47%)을 크게 웃도는 역대급 국면이며, 이 펀드는 극단적 변동성 왜곡을 막기 위해 운용 변동성 상한을 70%로 둡니다.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155075</TotalTime>
  <Words>2195</Words>
  <Application>Microsoft Office PowerPoint</Application>
  <PresentationFormat>A4 용지(210x297mm)</PresentationFormat>
  <Paragraphs>171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7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TOP2 변동성 하베스트 채권혼합 ETF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— 분기(3개월) 단위 변동성 매매 + 상승 참여</vt:lpstr>
      <vt:lpstr>지수대별 주식 편입비·예상수익률 — 분기(3개월) 구조</vt:lpstr>
      <vt:lpstr>3개월 리셋 구조 — 분기마다 새로 시작</vt:lpstr>
      <vt:lpstr>별첨 QPMS Vol Trading 시스템 운용</vt:lpstr>
      <vt:lpstr>별첨 QPMS 백테스트 — TOP2 실측 (분기 리셋)</vt:lpstr>
      <vt:lpstr>PowerPoint 프레젠테이션</vt:lpstr>
      <vt:lpstr>별첨 : 최근 3개월 실측 — 급등 후 되돌림 구간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3372</cp:revision>
  <cp:lastPrinted>2025-06-10T01:28:42Z</cp:lastPrinted>
  <dcterms:created xsi:type="dcterms:W3CDTF">2015-10-26T01:08:58Z</dcterms:created>
  <dcterms:modified xsi:type="dcterms:W3CDTF">2026-07-30T08:39:31Z</dcterms:modified>
</cp:coreProperties>
</file>