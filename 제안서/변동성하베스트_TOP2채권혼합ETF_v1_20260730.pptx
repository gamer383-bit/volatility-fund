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4541" r:id="rId1"/>
  </p:sldMasterIdLst>
  <p:notesMasterIdLst>
    <p:notesMasterId r:id="rId24"/>
  </p:notesMasterIdLst>
  <p:handoutMasterIdLst>
    <p:handoutMasterId r:id="rId25"/>
  </p:handoutMasterIdLst>
  <p:sldIdLst>
    <p:sldId id="1029" r:id="rId2"/>
    <p:sldId id="1249" r:id="rId3"/>
    <p:sldId id="1250" r:id="rId4"/>
    <p:sldId id="1251" r:id="rId5"/>
    <p:sldId id="1252" r:id="rId6"/>
    <p:sldId id="1254" r:id="rId7"/>
    <p:sldId id="1253" r:id="rId8"/>
    <p:sldId id="1272" r:id="rId9"/>
    <p:sldId id="1273" r:id="rId10"/>
    <p:sldId id="1257" r:id="rId11"/>
    <p:sldId id="1261" r:id="rId12"/>
    <p:sldId id="1260" r:id="rId13"/>
    <p:sldId id="1264" r:id="rId16"/>
    <p:sldId id="1258" r:id="rId17"/>
    <p:sldId id="1259" r:id="rId18"/>
    <p:sldId id="1283" r:id="rId19"/>
    <p:sldId id="1262" r:id="rId20"/>
    <p:sldId id="1281" r:id="rId22"/>
    <p:sldId id="1282" r:id="rId21"/>
    <p:sldId id="1270" r:id="rId23"/>
  </p:sldIdLst>
  <p:sldSz cx="9906000" cy="6858000" type="A4"/>
  <p:notesSz cx="6669088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4" userDrawn="1">
          <p15:clr>
            <a:srgbClr val="A4A3A4"/>
          </p15:clr>
        </p15:guide>
        <p15:guide id="2" pos="6046" userDrawn="1">
          <p15:clr>
            <a:srgbClr val="A4A3A4"/>
          </p15:clr>
        </p15:guide>
        <p15:guide id="3" orient="horz" pos="3135" userDrawn="1">
          <p15:clr>
            <a:srgbClr val="A4A3A4"/>
          </p15:clr>
        </p15:guide>
        <p15:guide id="4" orient="horz" pos="3475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  <p15:guide id="6" orient="horz" pos="3045" userDrawn="1">
          <p15:clr>
            <a:srgbClr val="A4A3A4"/>
          </p15:clr>
        </p15:guide>
        <p15:guide id="7" pos="671" userDrawn="1">
          <p15:clr>
            <a:srgbClr val="A4A3A4"/>
          </p15:clr>
        </p15:guide>
        <p15:guide id="8" pos="6091" userDrawn="1">
          <p15:clr>
            <a:srgbClr val="A4A3A4"/>
          </p15:clr>
        </p15:guide>
        <p15:guide id="9" pos="739" userDrawn="1">
          <p15:clr>
            <a:srgbClr val="A4A3A4"/>
          </p15:clr>
        </p15:guide>
        <p15:guide id="10" pos="4095" userDrawn="1">
          <p15:clr>
            <a:srgbClr val="A4A3A4"/>
          </p15:clr>
        </p15:guide>
        <p15:guide id="11" pos="512" userDrawn="1">
          <p15:clr>
            <a:srgbClr val="A4A3A4"/>
          </p15:clr>
        </p15:guide>
        <p15:guide id="12" orient="horz" pos="2750" userDrawn="1">
          <p15:clr>
            <a:srgbClr val="A4A3A4"/>
          </p15:clr>
        </p15:guide>
        <p15:guide id="13" orient="horz" pos="3090" userDrawn="1">
          <p15:clr>
            <a:srgbClr val="A4A3A4"/>
          </p15:clr>
        </p15:guide>
        <p15:guide id="14" orient="horz" pos="34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EF61DE-ABB9-9CC0-6B6B-BBC573CEFA82}" name="Jang, Soon Tack (장순택)" initials="장" userId="S::soontack.jang@m365.miraeasset.com::e44f2a39-a901-4c24-bf86-0fb869b33d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FFF8F0"/>
    <a:srgbClr val="043B72"/>
    <a:srgbClr val="E7E6E6"/>
    <a:srgbClr val="84888B"/>
    <a:srgbClr val="CDCECB"/>
    <a:srgbClr val="00A9CE"/>
    <a:srgbClr val="F0B26B"/>
    <a:srgbClr val="FFAA5F"/>
    <a:srgbClr val="FF9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91" autoAdjust="0"/>
  </p:normalViewPr>
  <p:slideViewPr>
    <p:cSldViewPr snapToGrid="0" snapToObjects="1">
      <p:cViewPr varScale="1">
        <p:scale>
          <a:sx n="105" d="100"/>
          <a:sy n="105" d="100"/>
        </p:scale>
        <p:origin x="1524" y="76"/>
      </p:cViewPr>
      <p:guideLst>
        <p:guide orient="horz" pos="2704"/>
        <p:guide pos="6046"/>
        <p:guide orient="horz" pos="3135"/>
        <p:guide orient="horz" pos="3475"/>
        <p:guide orient="horz" pos="2999"/>
        <p:guide orient="horz" pos="3045"/>
        <p:guide pos="671"/>
        <p:guide pos="6091"/>
        <p:guide pos="739"/>
        <p:guide pos="4095"/>
        <p:guide pos="512"/>
        <p:guide orient="horz" pos="2750"/>
        <p:guide orient="horz" pos="3090"/>
        <p:guide orient="horz" pos="34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4056" y="66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18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1086D62-7092-4270-8E85-B25E76D0311F}" type="datetimeFigureOut">
              <a:rPr lang="en-US" altLang="ko-KR"/>
              <a:pPr>
                <a:defRPr/>
              </a:pPr>
              <a:t>7/29/2026</a:t>
            </a:fld>
            <a:endParaRPr lang="en-US" altLang="ko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3604A4C2-D245-44B0-BA3D-8829337D57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591F7EA-F9D8-47C5-9A5E-E46AECD8E4DD}" type="datetimeFigureOut">
              <a:rPr lang="en-US" altLang="ko-KR"/>
              <a:pPr>
                <a:defRPr/>
              </a:pPr>
              <a:t>7/29/2026</a:t>
            </a:fld>
            <a:endParaRPr lang="en-US" altLang="ko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7700" y="746125"/>
            <a:ext cx="5373688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0" tIns="45564" rIns="91130" bIns="4556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220" y="4715193"/>
            <a:ext cx="5334648" cy="4466274"/>
          </a:xfrm>
          <a:prstGeom prst="rect">
            <a:avLst/>
          </a:prstGeom>
        </p:spPr>
        <p:txBody>
          <a:bodyPr vert="horz" lIns="91130" tIns="45564" rIns="91130" bIns="45564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CF5700A-1F91-4CD5-8303-F47E19D2D7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0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r="17059"/>
          <a:stretch/>
        </p:blipFill>
        <p:spPr>
          <a:xfrm>
            <a:off x="6483651" y="838799"/>
            <a:ext cx="3422349" cy="4039521"/>
          </a:xfrm>
          <a:prstGeom prst="rect">
            <a:avLst/>
          </a:prstGeom>
        </p:spPr>
      </p:pic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4924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594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887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292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5769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794" y="1"/>
            <a:ext cx="9904413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4" name="직사각형 33"/>
          <p:cNvSpPr/>
          <p:nvPr userDrawn="1"/>
        </p:nvSpPr>
        <p:spPr>
          <a:xfrm flipV="1">
            <a:off x="794" y="946937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16" name="직선 연결선[R] 11"/>
          <p:cNvCxnSpPr/>
          <p:nvPr userDrawn="1"/>
        </p:nvCxnSpPr>
        <p:spPr>
          <a:xfrm>
            <a:off x="631942" y="4553991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848064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5108218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4" name="텍스트 개체 틀 3"/>
          <p:cNvSpPr txBox="1">
            <a:spLocks/>
          </p:cNvSpPr>
          <p:nvPr userDrawn="1"/>
        </p:nvSpPr>
        <p:spPr bwMode="auto">
          <a:xfrm>
            <a:off x="631825" y="193675"/>
            <a:ext cx="8604250" cy="11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2813" rtl="0" fontAlgn="base" latinLnBrk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  <a:cs typeface="+mn-cs"/>
              </a:defRPr>
            </a:lvl1pPr>
            <a:lvl2pPr marL="6842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4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86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8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13" rtl="0" eaLnBrk="1" fontAlgn="base" latin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자산운용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컴플라이언스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 외부지출확인필 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22-0383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호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(2022.06.07)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itchFamily="18" charset="-127"/>
              <a:ea typeface="KoPub돋움체_Pro Mediu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40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1825" y="5923846"/>
            <a:ext cx="6768000" cy="46564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631825" y="5610971"/>
            <a:ext cx="6768000" cy="181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외부 유출에 유의해 주십시오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1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552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4" y="5913437"/>
            <a:ext cx="4561693" cy="63145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454358" y="5414729"/>
            <a:ext cx="4820011" cy="3750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endParaRPr kumimoji="1" lang="en-US" altLang="ko-KR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   외부 유출에 유의해 주십시오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4371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438" y="1725714"/>
            <a:ext cx="8461375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 flipV="1">
            <a:off x="0" y="1312414"/>
            <a:ext cx="9907587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939093" y="757517"/>
            <a:ext cx="13089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43B72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/>
              </a:rPr>
              <a:t>목차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43B72"/>
              </a:solidFill>
              <a:effectLst/>
              <a:uLnTx/>
              <a:uFillTx/>
              <a:latin typeface="Noto Sans"/>
              <a:ea typeface="KoPub돋움체_Pro Bold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326199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970" y="3143390"/>
            <a:ext cx="84600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68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 TOP2 변동성 하베스트 채권혼합 ETF 제안서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/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/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/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492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고객사 로고 추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en-US" altLang="ko-KR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2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호 제안서</a:t>
            </a:r>
            <a:endParaRPr kumimoji="0" lang="en-US" altLang="ko-KR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857843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8"/>
            <a:ext cx="1709186" cy="6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09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오렌지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231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화이트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56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75" y="5711825"/>
            <a:ext cx="195103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39738" y="6026150"/>
            <a:ext cx="65405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자료는 미래에셋자산운용이 제작한 것이며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투자권유를 위한 광고물로 활용될 수 없고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투자자에게 배포될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자료에 수록된 내용은 신뢰할만한 자료 및 정보로부터 </a:t>
            </a:r>
            <a:endParaRPr lang="en-US" altLang="ko-KR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얻어진 것이나 당사는 그 정확상이나 안정성을 보장할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39734" y="1828799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39733" y="2442517"/>
            <a:ext cx="4629151" cy="365125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39736" y="2727938"/>
            <a:ext cx="4629151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54566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Type B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837" y="884596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6425" y="1741636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3218401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내지 Type A-2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677025" y="6451600"/>
            <a:ext cx="2790825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 err="1">
                <a:latin typeface="Arial" pitchFamily="34" charset="0"/>
                <a:cs typeface="Arial" pitchFamily="34" charset="0"/>
              </a:rPr>
              <a:t>Mirae</a:t>
            </a:r>
            <a:r>
              <a:rPr lang="en-US" sz="800" b="1" dirty="0">
                <a:latin typeface="Arial" pitchFamily="34" charset="0"/>
                <a:cs typeface="Arial" pitchFamily="34" charset="0"/>
              </a:rPr>
              <a:t> Asset Global Investments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11749" y="417792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79413" y="6451600"/>
            <a:ext cx="1990725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86C853B-9730-4DF6-B6A6-7FBD3719BC33}" type="slidenum">
              <a:rPr lang="en-US"/>
              <a:pPr>
                <a:defRPr/>
              </a:pPr>
              <a:t>‹#›</a:t>
            </a:fld>
            <a:r>
              <a:rPr lang="en-US"/>
              <a:t> | Document name | </a:t>
            </a:r>
            <a:r>
              <a:rPr lang="en-US" altLang="ko-KR"/>
              <a:t>DD/MM/YYYY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54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0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1" i="0" baseline="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19663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6465888" y="6451600"/>
            <a:ext cx="2963862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spc="-50">
                <a:latin typeface="맑은 고딕" pitchFamily="50" charset="-127"/>
                <a:ea typeface="맑은 고딕" pitchFamily="50" charset="-127"/>
              </a:rPr>
              <a:t>Mirae Asset Global Investments</a:t>
            </a:r>
            <a:endParaRPr lang="en-US" sz="800" b="1" spc="-5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4188" y="6354763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10"/>
          <p:cNvCxnSpPr/>
          <p:nvPr userDrawn="1"/>
        </p:nvCxnSpPr>
        <p:spPr>
          <a:xfrm>
            <a:off x="484188" y="896938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5769" y="427281"/>
            <a:ext cx="6303408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400" b="1">
                <a:solidFill>
                  <a:srgbClr val="0D2D4F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03847" y="1044000"/>
            <a:ext cx="8915400" cy="526532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F58220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제안서     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04441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856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54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  <p:sldLayoutId id="2147484553" r:id="rId12"/>
    <p:sldLayoutId id="2147484554" r:id="rId13"/>
    <p:sldLayoutId id="2147484555" r:id="rId14"/>
    <p:sldLayoutId id="2147484533" r:id="rId15"/>
    <p:sldLayoutId id="2147484534" r:id="rId16"/>
    <p:sldLayoutId id="2147484535" r:id="rId17"/>
    <p:sldLayoutId id="2147484536" r:id="rId18"/>
    <p:sldLayoutId id="2147484537" r:id="rId19"/>
    <p:sldLayoutId id="2147484539" r:id="rId2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0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1477328"/>
          </a:xfrm>
        </p:spPr>
        <p:txBody>
          <a:bodyPr/>
          <a:lstStyle/>
          <a:p>
            <a:r>
              <a:rPr lang="ko-KR" altLang="en-US" dirty="0" err="1"/>
              <a:t>미래에셋</a:t>
            </a:r>
            <a:br>
              <a:rPr lang="en-US" altLang="ko-KR" dirty="0"/>
            </a:br>
            <a:r>
              <a:rPr lang="ko-KR" altLang="en-US" dirty="0" err="1"/>
              <a:t>TOP2 변동성 하베스트</a:t>
            </a:r>
            <a:br>
              <a:rPr lang="en-US" altLang="ko-KR" dirty="0"/>
            </a:br>
            <a:r>
              <a:rPr lang="ko-KR" altLang="en-US" dirty="0"/>
              <a:t>채권혼합 ETF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 AI금융공학운용부문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11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2026.07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631825" y="244103"/>
            <a:ext cx="5040000" cy="1231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컴플라이언스 외부제출 확인필 제 </a:t>
            </a:r>
            <a:r>
              <a:rPr lang="en-US" altLang="ko-KR" dirty="0"/>
              <a:t>00</a:t>
            </a:r>
            <a:r>
              <a:rPr lang="ko-KR" altLang="en-US" dirty="0"/>
              <a:t>호</a:t>
            </a:r>
            <a:r>
              <a:rPr lang="en-US" altLang="ko-KR" dirty="0"/>
              <a:t>(0000.00.00)</a:t>
            </a:r>
          </a:p>
        </p:txBody>
      </p:sp>
    </p:spTree>
    <p:extLst>
      <p:ext uri="{BB962C8B-B14F-4D97-AF65-F5344CB8AC3E}">
        <p14:creationId xmlns:p14="http://schemas.microsoft.com/office/powerpoint/2010/main" val="303105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9264-9650-F876-7EDE-EABDE699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2">
            <a:extLst>
              <a:ext uri="{FF2B5EF4-FFF2-40B4-BE49-F238E27FC236}">
                <a16:creationId xmlns:a16="http://schemas.microsoft.com/office/drawing/2014/main" id="{FBCAFBEB-4446-F8C4-241D-00A4D679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변동성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하베스트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투자포인트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8794CD-51D0-B4DA-6C14-958875D69648}"/>
              </a:ext>
            </a:extLst>
          </p:cNvPr>
          <p:cNvSpPr txBox="1"/>
          <p:nvPr/>
        </p:nvSpPr>
        <p:spPr>
          <a:xfrm>
            <a:off x="457199" y="5943508"/>
            <a:ext cx="8871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* 상기 수치는 자체 시뮬레이션 가정에 따른 예시이며 실제 성과를 보장하지 않습니다. 실현변동성은 삼성전자·SK하이닉스 최근 60영업일 기준(2026-07-28).</a:t>
            </a:r>
            <a:endParaRPr lang="ko-KR" altLang="en-US" sz="10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r>
              <a:rPr sz="800" dirty="0">
                <a:latin typeface="KoPub돋움체_Pro Medium"/>
              </a:rPr>
              <a:t>** 하락 방어 산출: 분기(3개월) 구조 만기 기준 지수 -30% 시 펀드 예상 -11.5%(주식 50%·채권 50%, 변동성 70% 가정). 시뮬레이션 가정에 따른 예시이며 원금 보장 아님.</a:t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  <a:r>
              <a:rPr sz="800" dirty="0" err="1">
                <a:latin typeface="KoPub돋움체_Pro Medium"/>
              </a:rPr>
              <a:t/>
            </a:r>
            <a:r>
              <a:rPr sz="800" dirty="0">
                <a:latin typeface="KoPub돋움체_Pro Medium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960120"/>
            <a:ext cx="891540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변동성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장세에서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수익을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낸다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 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역대급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변동성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(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삼성·SK하이닉스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실현변동성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85~99%)을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수익으로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전환</a:t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</a:t>
            </a:r>
            <a:r>
              <a:rPr lang="en-US"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차별화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전략으로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하락을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방어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한다</a:t>
            </a:r>
            <a:r>
              <a:rPr lang="en-US" altLang="ko-KR" sz="13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50" dirty="0">
                <a:solidFill>
                  <a:srgbClr val="333333"/>
                </a:solidFill>
                <a:latin typeface="KoPub돋움체_Pro Medium"/>
              </a:rPr>
              <a:t>채권 50% + 하락 시 저가매수로 낙폭을 크게 완화</a:t>
            </a:r>
            <a:endParaRPr lang="en-US" altLang="ko-KR" sz="115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포트폴리오에 반드시 필요한 전략입니다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—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대부분의 </a:t>
            </a:r>
            <a:r>
              <a:rPr lang="en-US" altLang="ko-KR" sz="1100" b="1" dirty="0">
                <a:solidFill>
                  <a:srgbClr val="333333"/>
                </a:solidFill>
                <a:latin typeface="KoPub돋움체_Pro Medium"/>
              </a:rPr>
              <a:t>ETF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및 펀드가 시장 변동성이 커졌을 때 손실이 커지는 반면 해당 운용은 추가수익이 발생</a:t>
            </a:r>
            <a:endParaRPr lang="ko-KR" altLang="en-US" sz="110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3개월 단위 구조 리셋  —  분기마다 기준을 새로 설정하는 오픈형(상장) 구조로 언제든 매매 가능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/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/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/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502920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변동성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수확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02920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2848356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하락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방어</a:t>
            </a:r>
            <a:r>
              <a:rPr lang="ko-KR" altLang="en-US" sz="1150" b="1" dirty="0">
                <a:solidFill>
                  <a:srgbClr val="FFFFFF"/>
                </a:solidFill>
                <a:latin typeface="KoPub돋움체_Pro Bold"/>
              </a:rPr>
              <a:t>에도 일정부분 수익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2848356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193792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3개월 리셋 구조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193792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30352" y="3310128"/>
            <a:ext cx="2103120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>삼성·SK하이닉스</a:t>
            </a:r>
            <a:r>
              <a:rPr sz="11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>실현변동성</a:t>
            </a:r>
            <a:endParaRPr sz="1100" b="1" dirty="0">
              <a:solidFill>
                <a:srgbClr val="043B72"/>
              </a:solidFill>
              <a:latin typeface="KoPub돋움체_Pro Bold"/>
            </a:endParaRPr>
          </a:p>
          <a:p>
            <a:pPr algn="ctr">
              <a:spcAft>
                <a:spcPts val="600"/>
              </a:spcAft>
            </a:pPr>
            <a:r>
              <a:rPr sz="3400" b="1" dirty="0">
                <a:solidFill>
                  <a:srgbClr val="F58220"/>
                </a:solidFill>
                <a:latin typeface="KoPub돋움체_Pro Bold"/>
              </a:rPr>
              <a:t>85~99%</a:t>
            </a:r>
          </a:p>
          <a:p>
            <a:pPr algn="ctr">
              <a:spcAft>
                <a:spcPts val="1000"/>
              </a:spcAft>
            </a:pPr>
            <a:r>
              <a:rPr sz="1050" b="0" dirty="0">
                <a:solidFill>
                  <a:srgbClr val="555555"/>
                </a:solidFill>
                <a:latin typeface="KoPub돋움체_Pro Medium"/>
              </a:rPr>
              <a:t>vs 5년평균 32~47%</a:t>
            </a:r>
            <a:endParaRPr lang="en-US" sz="1050" b="0" dirty="0">
              <a:solidFill>
                <a:srgbClr val="555555"/>
              </a:solidFill>
              <a:latin typeface="KoPub돋움체_Pro Medium"/>
            </a:endParaRPr>
          </a:p>
          <a:p>
            <a:pPr algn="ctr">
              <a:spcAft>
                <a:spcPts val="1000"/>
              </a:spcAft>
            </a:pPr>
            <a:endParaRPr sz="1050" b="0" dirty="0">
              <a:solidFill>
                <a:srgbClr val="555555"/>
              </a:solidFill>
              <a:latin typeface="KoPub돋움체_Pro Medium"/>
            </a:endParaRPr>
          </a:p>
          <a:p>
            <a:pPr algn="ctr"/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변동성이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클수록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
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수익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기회가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커집니다</a:t>
            </a:r>
            <a:endParaRPr sz="100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285232" y="3310128"/>
            <a:ext cx="197967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43B72"/>
                </a:solidFill>
                <a:latin typeface="KoPub돋움체_Pro Bold"/>
              </a:rPr>
              <a:t>만기 3개월 고정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58220"/>
                </a:solidFill>
                <a:latin typeface="KoPub돋움체_Pro Bold"/>
              </a:rPr>
              <a:t>분기 리셋</a:t>
            </a:r>
          </a:p>
          <a:p>
            <a:pPr algn="ctr">
              <a:spcAft>
                <a:spcPts val="1000"/>
              </a:spcAft>
            </a:pPr>
            <a:r>
              <a:rPr sz="1050" b="0">
                <a:solidFill>
                  <a:srgbClr val="555555"/>
                </a:solidFill>
                <a:latin typeface="KoPub돋움체_Pro Medium"/>
              </a:rPr>
              <a:t>분기마다 기준을 새로 설정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KoPub돋움체_Pro Medium"/>
              </a:rPr>
              <a:t>'구조가 늘 새로 시작'
오픈형(상장)으로 언제든 매매</a:t>
            </a:r>
          </a:p>
        </p:txBody>
      </p:sp>
      <p:sp>
        <p:nvSpPr>
          <p:cNvPr id="2" name="Rounded Rectangle 96"/>
          <p:cNvSpPr/>
          <p:nvPr/>
        </p:nvSpPr>
        <p:spPr>
          <a:xfrm>
            <a:off x="7539228" y="2606040"/>
            <a:ext cx="2162556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변동성 국면별 성과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3" name="Rectangle 97"/>
          <p:cNvSpPr/>
          <p:nvPr/>
        </p:nvSpPr>
        <p:spPr>
          <a:xfrm>
            <a:off x="7539228" y="3081528"/>
            <a:ext cx="2162556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vol_regime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668" y="3163824"/>
            <a:ext cx="1979676" cy="2424093"/>
          </a:xfrm>
          <a:prstGeom prst="rect">
            <a:avLst/>
          </a:prstGeom>
        </p:spPr>
      </p:pic>
      <p:pic>
        <p:nvPicPr>
          <p:cNvPr id="104" name="Picture 103" descr="mini_bond_stru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5224" y="3182112"/>
            <a:ext cx="1984248" cy="941915"/>
          </a:xfrm>
          <a:prstGeom prst="rect">
            <a:avLst/>
          </a:prstGeom>
        </p:spPr>
      </p:pic>
      <p:pic>
        <p:nvPicPr>
          <p:cNvPr id="105" name="Picture 104" descr="mini_bond_f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224" y="4261104"/>
            <a:ext cx="1984248" cy="9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4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투자포인트 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①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삼성전자·SK하이닉스 변동성이 최근 5년 중 최고 수준 — 변동성이 클수록 변동성 매매의 수익 기회가 커집니다.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8412480" cy="3785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지금은 변동성을 '피할' 때가 아니라 '수확'하기 가장 유리한 국면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②</a:t>
            </a:r>
            <a:r>
              <a:rPr sz="2200" b="1" dirty="0">
                <a:solidFill>
                  <a:srgbClr val="222222"/>
                </a:solidFill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</a:t>
            </a:r>
            <a:r>
              <a:rPr lang="ko-KR" altLang="en-US" sz="2200" b="1" dirty="0">
                <a:solidFill>
                  <a:srgbClr val="222222"/>
                </a:solidFill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상방을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누르는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수급</a:t>
            </a:r>
            <a:endParaRPr sz="2200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국민연금·외국인·개인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모두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상단에서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우위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—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반등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시마다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매물벽이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형성되는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구조입니다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74" y="3578132"/>
            <a:ext cx="8560051" cy="19997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국민연금·외국인 매도 우위 + 반등 시 개인 차익실현 → 상방이 구조적으로 제한된다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0E03F60E-3F6B-E78A-3CC5-F98DD97813D0}"/>
              </a:ext>
            </a:extLst>
          </p:cNvPr>
          <p:cNvSpPr/>
          <p:nvPr/>
        </p:nvSpPr>
        <p:spPr>
          <a:xfrm>
            <a:off x="67297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DCE0490B-777D-0993-878A-BC195A1A7CF9}"/>
              </a:ext>
            </a:extLst>
          </p:cNvPr>
          <p:cNvSpPr/>
          <p:nvPr/>
        </p:nvSpPr>
        <p:spPr>
          <a:xfrm>
            <a:off x="67297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4A35E6-4826-CC97-1C8B-BE151F0813CB}"/>
              </a:ext>
            </a:extLst>
          </p:cNvPr>
          <p:cNvSpPr txBox="1"/>
          <p:nvPr/>
        </p:nvSpPr>
        <p:spPr>
          <a:xfrm>
            <a:off x="81013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2A00F4-F3EC-C3AA-4B4C-5F31B6204331}"/>
              </a:ext>
            </a:extLst>
          </p:cNvPr>
          <p:cNvSpPr txBox="1"/>
          <p:nvPr/>
        </p:nvSpPr>
        <p:spPr>
          <a:xfrm>
            <a:off x="83756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상향(14.9→20.8%, 5/28 기금위)에도 지수 반등 시 허용상단(28.8%) 재접근 — KOSPI 8,200선부터 대기 매도 물량 출회 추정.</a:t>
            </a:r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A32AE51A-A90C-46FE-29F2-002B8D00362A}"/>
              </a:ext>
            </a:extLst>
          </p:cNvPr>
          <p:cNvSpPr/>
          <p:nvPr/>
        </p:nvSpPr>
        <p:spPr>
          <a:xfrm>
            <a:off x="355333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022A618D-CEFC-BEBB-8F08-7F0DD329BF05}"/>
              </a:ext>
            </a:extLst>
          </p:cNvPr>
          <p:cNvSpPr/>
          <p:nvPr/>
        </p:nvSpPr>
        <p:spPr>
          <a:xfrm>
            <a:off x="355333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A60B63-A258-6F61-0816-697EBAC51F13}"/>
              </a:ext>
            </a:extLst>
          </p:cNvPr>
          <p:cNvSpPr txBox="1"/>
          <p:nvPr/>
        </p:nvSpPr>
        <p:spPr>
          <a:xfrm>
            <a:off x="369049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F9B3A0-5309-9E47-CC19-B1C2532172FE}"/>
              </a:ext>
            </a:extLst>
          </p:cNvPr>
          <p:cNvSpPr txBox="1"/>
          <p:nvPr/>
        </p:nvSpPr>
        <p:spPr>
          <a:xfrm>
            <a:off x="371792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dirty="0" err="1">
                <a:solidFill>
                  <a:srgbClr val="3A3A3A"/>
                </a:solidFill>
                <a:latin typeface="맑은 고딕"/>
              </a:rPr>
              <a:t>반도체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쏠림에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따른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편입비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조정·차익실현으로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상승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국면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우위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—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연초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이후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KOSPI200 159조원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순매도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52" name="Rectangle 15">
            <a:extLst>
              <a:ext uri="{FF2B5EF4-FFF2-40B4-BE49-F238E27FC236}">
                <a16:creationId xmlns:a16="http://schemas.microsoft.com/office/drawing/2014/main" id="{9E7E2BEE-0DD4-329F-E1B6-6E0EF28000B5}"/>
              </a:ext>
            </a:extLst>
          </p:cNvPr>
          <p:cNvSpPr/>
          <p:nvPr/>
        </p:nvSpPr>
        <p:spPr>
          <a:xfrm>
            <a:off x="643369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3598453F-26CA-11B4-1D57-47B2215CAA9E}"/>
              </a:ext>
            </a:extLst>
          </p:cNvPr>
          <p:cNvSpPr/>
          <p:nvPr/>
        </p:nvSpPr>
        <p:spPr>
          <a:xfrm>
            <a:off x="643369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1505D4-EB47-4C7E-0259-94A451A2453A}"/>
              </a:ext>
            </a:extLst>
          </p:cNvPr>
          <p:cNvSpPr txBox="1"/>
          <p:nvPr/>
        </p:nvSpPr>
        <p:spPr>
          <a:xfrm>
            <a:off x="657085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44D9AB-E86A-8267-24F8-03B1F88B429D}"/>
              </a:ext>
            </a:extLst>
          </p:cNvPr>
          <p:cNvSpPr txBox="1"/>
          <p:nvPr/>
        </p:nvSpPr>
        <p:spPr>
          <a:xfrm>
            <a:off x="659828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연초 이후 109조원 순매수로 하방을 받쳤으나, 반등 시마다 차익실현(상승 시 매도)으로 전환.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8307310" cy="2769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③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하방을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받치는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밸류에이션·실적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1051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+mn-ea"/>
                <a:cs typeface="KoPub돋움체_Pro Bold"/>
              </a:rPr>
              <a:t>12M </a:t>
            </a:r>
            <a:r>
              <a:rPr sz="1400" b="1" i="0" dirty="0" err="1">
                <a:latin typeface="+mn-ea"/>
                <a:cs typeface="KoPub돋움체_Pro Bold"/>
              </a:rPr>
              <a:t>Fwd</a:t>
            </a:r>
            <a:r>
              <a:rPr sz="1400" b="1" i="0" dirty="0">
                <a:latin typeface="+mn-ea"/>
                <a:cs typeface="KoPub돋움체_Pro Bold"/>
              </a:rPr>
              <a:t> PER 5.8배로 '21년 </a:t>
            </a:r>
            <a:r>
              <a:rPr sz="1400" b="1" i="0" dirty="0" err="1">
                <a:latin typeface="+mn-ea"/>
                <a:cs typeface="KoPub돋움체_Pro Bold"/>
              </a:rPr>
              <a:t>이후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최저권</a:t>
            </a:r>
            <a:r>
              <a:rPr sz="1400" b="1" i="0" dirty="0">
                <a:latin typeface="+mn-ea"/>
                <a:cs typeface="KoPub돋움체_Pro Bold"/>
              </a:rPr>
              <a:t> — </a:t>
            </a:r>
            <a:r>
              <a:rPr sz="1400" b="1" i="0" dirty="0" err="1">
                <a:latin typeface="+mn-ea"/>
                <a:cs typeface="KoPub돋움체_Pro Bold"/>
              </a:rPr>
              <a:t>이익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추정치는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사상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최고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수준으로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상향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중입니다</a:t>
            </a:r>
            <a:r>
              <a:rPr sz="1400" b="1" i="0" dirty="0">
                <a:latin typeface="+mn-ea"/>
                <a:cs typeface="KoPub돋움체_Pro Bold"/>
              </a:rPr>
              <a:t>.</a:t>
            </a:r>
            <a:endParaRPr lang="en-US" sz="1400" b="1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 err="1">
                <a:latin typeface="+mn-ea"/>
              </a:rPr>
              <a:t>하방을</a:t>
            </a:r>
            <a:r>
              <a:rPr lang="ko-KR" altLang="en-US" sz="1400" b="1" dirty="0">
                <a:latin typeface="+mn-ea"/>
              </a:rPr>
              <a:t> 받치는 밸류에이션 및 </a:t>
            </a:r>
            <a:r>
              <a:rPr lang="ko-KR" altLang="en-US" sz="1400" b="1" dirty="0" err="1">
                <a:latin typeface="+mn-ea"/>
              </a:rPr>
              <a:t>실적상향</a:t>
            </a:r>
            <a:r>
              <a:rPr lang="en-US" altLang="ko-KR" sz="1400" b="1" dirty="0">
                <a:latin typeface="+mn-ea"/>
              </a:rPr>
              <a:t>: 12M </a:t>
            </a:r>
            <a:r>
              <a:rPr lang="en-US" altLang="ko-KR" sz="1400" b="1" dirty="0" err="1">
                <a:latin typeface="+mn-ea"/>
              </a:rPr>
              <a:t>Fwd</a:t>
            </a:r>
            <a:r>
              <a:rPr lang="en-US" altLang="ko-KR" sz="1400" b="1" dirty="0">
                <a:latin typeface="+mn-ea"/>
              </a:rPr>
              <a:t> PER 5.8</a:t>
            </a:r>
            <a:r>
              <a:rPr lang="ko-KR" altLang="en-US" sz="1400" b="1" dirty="0">
                <a:latin typeface="+mn-ea"/>
              </a:rPr>
              <a:t>배</a:t>
            </a:r>
            <a:r>
              <a:rPr lang="en-US" altLang="ko-KR" sz="1400" b="1" dirty="0">
                <a:latin typeface="+mn-ea"/>
              </a:rPr>
              <a:t>('21</a:t>
            </a:r>
            <a:r>
              <a:rPr lang="ko-KR" altLang="en-US" sz="1400" b="1" dirty="0">
                <a:latin typeface="+mn-ea"/>
              </a:rPr>
              <a:t>년 이후 </a:t>
            </a:r>
            <a:r>
              <a:rPr lang="ko-KR" altLang="en-US" sz="1400" b="1" dirty="0" err="1">
                <a:latin typeface="+mn-ea"/>
              </a:rPr>
              <a:t>최저권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하위 </a:t>
            </a:r>
            <a:r>
              <a:rPr lang="en-US" altLang="ko-KR" sz="1400" b="1" dirty="0">
                <a:latin typeface="+mn-ea"/>
              </a:rPr>
              <a:t>0.2%)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+mn-ea"/>
              </a:rPr>
              <a:t>FY26/27 </a:t>
            </a:r>
            <a:r>
              <a:rPr lang="ko-KR" altLang="en-US" sz="1400" b="1" dirty="0">
                <a:latin typeface="+mn-ea"/>
              </a:rPr>
              <a:t>이익 컨센서스 추가 상향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+mn-ea"/>
              <a:cs typeface="KoPub돋움체_Pro Bold"/>
            </a:endParaRP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5" y="2653821"/>
            <a:ext cx="9001765" cy="23522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상방 제한 + 하방 지지 = 등락 반복 → 방향성 투자에 '변동성 수확'을 더한다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B9FA2-1339-755E-46EE-50E3067C887F}"/>
              </a:ext>
            </a:extLst>
          </p:cNvPr>
          <p:cNvSpPr txBox="1"/>
          <p:nvPr/>
        </p:nvSpPr>
        <p:spPr>
          <a:xfrm>
            <a:off x="502920" y="5134041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FnGuide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DataGuide</a:t>
            </a:r>
            <a:r>
              <a:rPr sz="800" dirty="0">
                <a:solidFill>
                  <a:srgbClr val="888888"/>
                </a:solidFill>
              </a:rPr>
              <a:t>, IBES </a:t>
            </a:r>
            <a:r>
              <a:rPr sz="800" dirty="0" err="1">
                <a:solidFill>
                  <a:srgbClr val="888888"/>
                </a:solidFill>
              </a:rPr>
              <a:t>컨센서스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, 1개월 전=6/12)  |  주: PER·PBR </a:t>
            </a:r>
            <a:r>
              <a:rPr sz="800" dirty="0" err="1">
                <a:solidFill>
                  <a:srgbClr val="888888"/>
                </a:solidFill>
              </a:rPr>
              <a:t>평균은</a:t>
            </a:r>
            <a:r>
              <a:rPr sz="800" dirty="0">
                <a:solidFill>
                  <a:srgbClr val="888888"/>
                </a:solidFill>
              </a:rPr>
              <a:t> '21년 </a:t>
            </a:r>
            <a:r>
              <a:rPr sz="800" dirty="0" err="1">
                <a:solidFill>
                  <a:srgbClr val="888888"/>
                </a:solidFill>
              </a:rPr>
              <a:t>이후</a:t>
            </a:r>
            <a:r>
              <a:rPr sz="800" dirty="0">
                <a:solidFill>
                  <a:srgbClr val="888888"/>
                </a:solidFill>
              </a:rPr>
              <a:t> · 2Q26 </a:t>
            </a:r>
            <a:r>
              <a:rPr sz="800" dirty="0" err="1">
                <a:solidFill>
                  <a:srgbClr val="888888"/>
                </a:solidFill>
              </a:rPr>
              <a:t>삼성전자는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잠정실적</a:t>
            </a:r>
            <a:r>
              <a:rPr sz="800" dirty="0">
                <a:solidFill>
                  <a:srgbClr val="888888"/>
                </a:solidFill>
              </a:rPr>
              <a:t>(7/7), </a:t>
            </a:r>
            <a:r>
              <a:rPr sz="800" dirty="0" err="1">
                <a:solidFill>
                  <a:srgbClr val="888888"/>
                </a:solidFill>
              </a:rPr>
              <a:t>빗금</a:t>
            </a:r>
            <a:r>
              <a:rPr sz="800" dirty="0">
                <a:solidFill>
                  <a:srgbClr val="888888"/>
                </a:solidFill>
              </a:rPr>
              <a:t>=</a:t>
            </a:r>
            <a:r>
              <a:rPr sz="800" dirty="0" err="1">
                <a:solidFill>
                  <a:srgbClr val="888888"/>
                </a:solidFill>
              </a:rPr>
              <a:t>추정치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 레버리지가 키운 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88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i="0" dirty="0">
                <a:latin typeface="+mn-lt"/>
                <a:ea typeface="KoPub돋움체_Pro Bold"/>
                <a:cs typeface="KoPub돋움체_Pro Bold"/>
              </a:rPr>
              <a:t>레버리지는 구조적으로 변동성을 키우게 됨</a:t>
            </a:r>
            <a:r>
              <a:rPr lang="en-US" altLang="ko-KR" sz="1350" b="1" i="0" dirty="0">
                <a:latin typeface="+mn-lt"/>
                <a:ea typeface="KoPub돋움체_Pro Bold"/>
                <a:cs typeface="KoPub돋움체_Pro Bold"/>
              </a:rPr>
              <a:t>. </a:t>
            </a:r>
            <a:r>
              <a:rPr lang="ko-KR" altLang="en-US" sz="1400" b="1" dirty="0">
                <a:latin typeface="+mn-lt"/>
                <a:ea typeface="KoPub돋움체_Pro Bold"/>
                <a:cs typeface="KoPub돋움체_Pro Bold"/>
              </a:rPr>
              <a:t> </a:t>
            </a:r>
            <a:endParaRPr lang="en-US" altLang="ko-KR" sz="1400" b="1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레버리지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ETF가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잃는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' 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변동성을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펀드는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수익'으로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전환</a:t>
            </a:r>
            <a:endParaRPr sz="1350" b="1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19776" y="1974049"/>
            <a:ext cx="4160520" cy="1420490"/>
          </a:xfrm>
          <a:prstGeom prst="roundRect">
            <a:avLst>
              <a:gd name="adj" fmla="val 5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ETF — 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변동성에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'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잠식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매일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고가매수·저가매도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
(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추세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순응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리밸런싱)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클수록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자산이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녹는다</a:t>
            </a:r>
            <a:r>
              <a:rPr 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(1month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가 조금 </a:t>
            </a:r>
            <a:r>
              <a:rPr lang="ko-KR" altLang="en-US"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넘는기간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동안 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18%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의 변동성 잠식 손실이 나타남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)</a:t>
            </a:r>
            <a:endParaRPr sz="1200" b="0" i="0" dirty="0">
              <a:solidFill>
                <a:srgbClr val="C0392B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70571" y="3751623"/>
            <a:ext cx="4160520" cy="1420489"/>
          </a:xfrm>
          <a:prstGeom prst="roundRect">
            <a:avLst>
              <a:gd name="adj" fmla="val 5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ko-KR" altLang="en-US"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레버리지의 변동성 확대 구조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상승시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매수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
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하락시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SK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하이닉스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40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</a:t>
            </a:r>
            <a:r>
              <a:rPr lang="ko-KR" altLang="en-US" sz="1200" b="0" i="0" dirty="0" err="1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가정시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상승시에 편입비를 맞추기 위해 약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순매수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, 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하락시에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순매도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endParaRPr sz="1200" b="0" i="0" dirty="0">
              <a:solidFill>
                <a:srgbClr val="1E8E5A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2919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(=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잠식이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본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펀드의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기회는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오히려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커진다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2" name="Picture 20" descr="lev_rebal_hynix.png">
            <a:extLst>
              <a:ext uri="{FF2B5EF4-FFF2-40B4-BE49-F238E27FC236}">
                <a16:creationId xmlns:a16="http://schemas.microsoft.com/office/drawing/2014/main" id="{30EF6221-CA1D-EB96-D316-1E51C519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9450"/>
            <a:ext cx="452628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레버리지가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키운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ETF 약 40조원(6/30)이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삼성전자·SK하이닉스와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구조적으로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키우고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있습니다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변동성이 변동성을 부르는 되먹임 </a:t>
            </a:r>
            <a:r>
              <a:rPr lang="en-US" altLang="ko-KR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—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두 종목이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KOSPI200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의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65.6%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차지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(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연초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38.7% → 6/30 65.6%, KRX)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①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지수·종목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흔들림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07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지수의 절반인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두 종목 급등락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10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93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레버리지 종가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순응매매 확대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96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79790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 변동성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재확대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구조적으로 커진 변동성 → 변동성 매매 전략의 '원재료'가 풍부해진다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9" name="Picture 23" descr="slide5_left_size.png">
            <a:extLst>
              <a:ext uri="{FF2B5EF4-FFF2-40B4-BE49-F238E27FC236}">
                <a16:creationId xmlns:a16="http://schemas.microsoft.com/office/drawing/2014/main" id="{A01DB162-DC4F-D378-9914-A539399A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832959"/>
            <a:ext cx="3796318" cy="2334717"/>
          </a:xfrm>
          <a:prstGeom prst="rect">
            <a:avLst/>
          </a:prstGeom>
        </p:spPr>
      </p:pic>
      <p:pic>
        <p:nvPicPr>
          <p:cNvPr id="21" name="Picture 24" descr="slide5_right_pie.png">
            <a:extLst>
              <a:ext uri="{FF2B5EF4-FFF2-40B4-BE49-F238E27FC236}">
                <a16:creationId xmlns:a16="http://schemas.microsoft.com/office/drawing/2014/main" id="{7F40DA46-7187-B4A3-9397-99BC27CE4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1" y="1765832"/>
            <a:ext cx="3796318" cy="2334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dirty="0"/>
              <a:t>변동성 </a:t>
            </a:r>
            <a:r>
              <a:rPr lang="ko-KR" altLang="en-US" sz="2200" dirty="0" err="1"/>
              <a:t>하베스트</a:t>
            </a:r>
            <a:r>
              <a:rPr lang="ko-KR" altLang="en-US" sz="2200" dirty="0"/>
              <a:t> </a:t>
            </a:r>
            <a:r>
              <a:rPr sz="2200" b="1" i="0" dirty="0" err="1">
                <a:solidFill>
                  <a:srgbClr val="222222"/>
                </a:solidFill>
                <a:cs typeface="KoPub돋움체_Pro Bold"/>
              </a:rPr>
              <a:t>전략</a:t>
            </a:r>
            <a:endParaRPr sz="2200" b="1" i="0" dirty="0">
              <a:solidFill>
                <a:srgbClr val="222222"/>
              </a:solidFill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70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시스템을 활용해 분기(3개월) 구조 기준으로 목표 편입비율을 계산합니다</a:t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지수, 잔존만기, 변동성과 같은 시장 상황을 고려해 규칙에 따라 포트폴리오를 관리합니다.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16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저가매수</a:t>
            </a:r>
            <a:r>
              <a:rPr lang="en-US" altLang="ko-KR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·</a:t>
            </a: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고가매도를 반복하여 높아진 변동성을 수익으로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40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상향으로 상승 여력 유효</a:t>
            </a:r>
            <a:r>
              <a:rPr lang="en-US" altLang="ko-KR" sz="120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상승 구간에서 추가 수익 참여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464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dirty="0" err="1">
                <a:solidFill>
                  <a:srgbClr val="222222"/>
                </a:solidFill>
                <a:cs typeface="KoPub돋움체_Pro Medium"/>
              </a:rPr>
              <a:t>미래에셋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QPMS Vol Trading 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시스템으로 규칙 기반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·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검증된 운용</a:t>
            </a:r>
            <a:endParaRPr sz="120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7521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엔진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참여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lang="en-US" altLang="ko-KR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상세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①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(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저가매수·고가매도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시장이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빠지면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편입을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늘리고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오르면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줄입니다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고가매도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).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등락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)을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수취합니다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KoPub돋움체_Pro Bold"/>
              <a:ea typeface="KoPub돋움체_Pro Bold"/>
              <a:cs typeface="KoPub돋움체_Pro Bold"/>
            </a:endParaRPr>
          </a:p>
        </p:txBody>
      </p:sp>
      <p:pic>
        <p:nvPicPr>
          <p:cNvPr id="5" name="Picture 4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5787"/>
            <a:ext cx="5118180" cy="28958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6820" y="2237695"/>
            <a:ext cx="3766877" cy="319205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포트폴리오</a:t>
            </a:r>
            <a:r>
              <a:rPr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내 </a:t>
            </a: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역할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기초자산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편입비를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조절해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변동성을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수익으로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전환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상황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높은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등락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반복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장세에서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ko-KR" altLang="en-US"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 극대화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역할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펀드의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핵심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엔진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사례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레버리지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ETF의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'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고가매수·저가매도'와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정반대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 상세 ② 방향 투자 (상승 참여)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매매에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더해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방향에도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참여하여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추가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수익을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노립니다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83664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위에 순매수(롱) 방향 포지션을 얹어 상승 구간 수익을 함께 취득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활용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724912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컨센서스가 상향되고 밸류에이션이 낮은 국면 — 상승 여력이 유효할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11296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포트폴리오 내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56616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'등락은 수확, 방향은 위' — 변동성 매매의 보완 수익원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52544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작동 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407407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하락 시 편입 확대(저가매수)가 곧 상승 참여 비중이 되어 반등을 수취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93792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투자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248655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채권혼합 ETF: 하락 시 저가매수, 상승 구간(+10% 이후)에도 참여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 구조 — 분기(3개월) 단위 변동성 매매 + 상승 참여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하락 시 저가매수·프리미엄 수취, 상승 구간(+10%~+50%)에 참여합니다 (주식파트 100% 기준).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변동성 70% 가정 · 3개월 만기 · 점=시뮬 1회 · 노란선=구간 평균 · 매매비용 매수 5bp/매도 30bp 포함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주식 배분 50% 적용 시 펀드 기여는 표시값의 절반 수준이며, 잔여는 1년 국고채·현금으로 운용됩니다.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9" name="Picture 8" descr="scat_bond3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1691640"/>
            <a:ext cx="6035040" cy="3746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지수대별 주식 편입비·예상수익률 — 분기(3개월) 구조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ea"/>
                <a:cs typeface="KoPub돋움체_Pro Bold"/>
              </a:rPr>
              <a:t>리밸런싱일 지수=100 기준 · 잔존만기 3.0~0.5개월(0.5개월 단위)·만기 · 주식 배분 50% 기준</a:t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  <a:r>
              <a:rPr sz="1350" b="1" i="0" dirty="0" err="1">
                <a:latin typeface="+mn-ea"/>
                <a:cs typeface="KoPub돋움체_Pro Bold"/>
              </a:rPr>
              <a:t/>
            </a:r>
            <a:r>
              <a:rPr sz="1350" b="1" i="0" dirty="0">
                <a:latin typeface="+mn-ea"/>
                <a:cs typeface="KoPub돋움체_Pro Bold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12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편입비</a:t>
            </a:r>
            <a:endParaRPr sz="12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492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예상수익률 (원금 대비 · 15%↑ 음영)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 70%·매매비용 매수 5bp/매도 30bp 가정 · 예상수익률 = 주식파트 50% + 채권 50%(1년 국고채, 연 2.5%) · 잔존 2주 미만은 τ=2주로 고정해 편입비 산출(만기 열=동 규칙 기준)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변동성이 변하면 예상 편입비·예상수익률은 달라질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1" name="Picture 10" descr="tbl_bon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19"/>
            <a:ext cx="4480560" cy="2240280"/>
          </a:xfrm>
          <a:prstGeom prst="rect">
            <a:avLst/>
          </a:prstGeom>
        </p:spPr>
      </p:pic>
      <p:pic>
        <p:nvPicPr>
          <p:cNvPr id="12" name="Picture 11" descr="tbl_bond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74519"/>
            <a:ext cx="448056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3개월 리셋 구조 — 분기마다 새로 시작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/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ea"/>
                <a:cs typeface="KoPub돋움체_Pro Bold"/>
              </a:rPr>
              <a:t>만기를 3개월로 고정하고, 분기마다 매매 기준을 현재 지수로 재설정합니다.</a:t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r>
              <a:rPr sz="1400" i="0" dirty="0" err="1">
                <a:latin typeface="+mn-ea"/>
                <a:cs typeface="KoPub돋움체_Pro Bold"/>
              </a:rPr>
              <a:t/>
            </a:r>
            <a:r>
              <a:rPr sz="1400" i="0" dirty="0">
                <a:latin typeface="+mn-ea"/>
                <a:cs typeface="KoPub돋움체_Pro Bold"/>
              </a:rPr>
              <a:t/>
            </a:r>
            <a:endParaRPr lang="en-US" sz="1400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>구조가 늘 새로 시작되어 진입 시점 부담이 없고, 오픈형(상장)으로 언제든 매매할 수 있습니다.</a:t>
            </a:r>
            <a:r>
              <a:rPr lang="ko-KR" altLang="en-US" sz="1400" dirty="0" err="1">
                <a:solidFill>
                  <a:srgbClr val="222222"/>
                </a:solidFill>
                <a:latin typeface="+mn-ea"/>
                <a:cs typeface="KoPub돋움체_Pro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+mn-ea"/>
                <a:cs typeface="KoPub돋움체_Pro Medium"/>
              </a:rPr>
              <a:t/>
            </a:r>
            <a:endParaRPr sz="1400" i="0" dirty="0">
              <a:latin typeface="+mn-ea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+ 상승 참여로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분기 수익을 추구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39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4904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분기 만기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3개월마다 구조를 정산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손익을 기준가에 반영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800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리셋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기준을 현재 지수로 재설정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다음 분기 새로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규칙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기반의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리밸런싱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로직을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1350" b="1" i="0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시스템에서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연산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201C8A-55AB-5D48-9EF0-33B114A6F9F4}"/>
              </a:ext>
            </a:extLst>
          </p:cNvPr>
          <p:cNvSpPr/>
          <p:nvPr/>
        </p:nvSpPr>
        <p:spPr>
          <a:xfrm>
            <a:off x="6138250" y="2471596"/>
            <a:ext cx="3508671" cy="310624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dirty="0">
              <a:solidFill>
                <a:srgbClr val="F58220"/>
              </a:solidFill>
              <a:latin typeface="KoPub돋움체_Pro Bold"/>
              <a:ea typeface="KoPub돋움체_Pro Bold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일별 </a:t>
            </a: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리밸런싱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실시간으로 목표 편입비를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재산출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자의적 판단 배제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규칙대로 집행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일별 종가기준 목표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매칭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lang="en-US" altLang="ko-KR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·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고가매도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 하락 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확대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 시 축소합니다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endParaRPr lang="en-US"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급등장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청산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지수가 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+10%·+20%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상승하면 편입비를 단계적으로 축소해 이익을 확정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E58051-CF24-79E9-922E-8EBD7383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90" y="2471596"/>
            <a:ext cx="5435927" cy="31062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7276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QPMS 백테스트 — TOP2 실측 (분기 리셋)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en-US" altLang="ko-KR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/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/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2021-07-28~2026-07-30 · 분기마다 기준 재설정 · σ=직전 60영업일 연환산(상한 70%) · 주식 배분 50% · 채권 연 2.5% 가정 · 잔존 2주 미만 τ=2주 고정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/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E4E23-DEA2-918E-E2A0-AE0EA1D5A557}"/>
              </a:ext>
            </a:extLst>
          </p:cNvPr>
          <p:cNvSpPr txBox="1"/>
          <p:nvPr/>
        </p:nvSpPr>
        <p:spPr>
          <a:xfrm>
            <a:off x="548640" y="617397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비중은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일반적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pic>
        <p:nvPicPr>
          <p:cNvPr id="18" name="Picture 17" descr="bp_bo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1417320"/>
            <a:ext cx="8705088" cy="1682496"/>
          </a:xfrm>
          <a:prstGeom prst="rect">
            <a:avLst/>
          </a:prstGeom>
        </p:spPr>
      </p:pic>
      <p:pic>
        <p:nvPicPr>
          <p:cNvPr id="19" name="Picture 18" descr="bt_bond_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3611880"/>
            <a:ext cx="4553712" cy="2074857"/>
          </a:xfrm>
          <a:prstGeom prst="rect">
            <a:avLst/>
          </a:prstGeom>
        </p:spPr>
      </p:pic>
      <p:pic>
        <p:nvPicPr>
          <p:cNvPr id="20" name="Picture 19" descr="bt_bond_fu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3520440"/>
            <a:ext cx="3931920" cy="2266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566928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KoPub돋움체_Pro Bold"/>
              </a:rPr>
              <a:t>구간별 성과 예시 — 상승 추세 · 변동장 · 하락장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급등락 장세일수록 강한 구조입니다 — 변동장·하락장에서 BM을 앞서고, 추세 상승장에서도 이익을 확정하며 참여합니다.</a:t>
            </a:r>
          </a:p>
        </p:txBody>
      </p:sp>
      <p:pic>
        <p:nvPicPr>
          <p:cNvPr id="4" name="Picture 3" descr="bt_bond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2971800" cy="2289629"/>
          </a:xfrm>
          <a:prstGeom prst="rect">
            <a:avLst/>
          </a:prstGeom>
        </p:spPr>
      </p:pic>
      <p:pic>
        <p:nvPicPr>
          <p:cNvPr id="5" name="Picture 4" descr="bt_bond_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48840"/>
            <a:ext cx="2971800" cy="2289629"/>
          </a:xfrm>
          <a:prstGeom prst="rect">
            <a:avLst/>
          </a:prstGeom>
        </p:spPr>
      </p:pic>
      <p:pic>
        <p:nvPicPr>
          <p:cNvPr id="6" name="Picture 5" descr="bt_bond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48840"/>
            <a:ext cx="2971800" cy="2289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63056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4888B"/>
                </a:solidFill>
                <a:latin typeface="KoPub돋움체_Pro Medium"/>
              </a:rPr>
              <a:t>※ 각 구간 시작일에 신규 설정 가정 · BM=TOP2 40%+1년국고채(매일 리밸런싱) · σ=직전 60영업일 연환산(상한 70%) · 세로선=분기 리셋 · 상기 자료는 예시이며 실제 성과와 다를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9052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: 최근 3개월 실측 — 급등 후 되돌림 구간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기초가 +94%까지 급등 후 -1%로 되돌린 최근 3개월 — 왕복 구간에서 펀드 +6.9% (BM +3.2%)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067748"/>
            <a:ext cx="9052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기간 기준가 2026-04-30 종가 ~ 07-30(노출 60영업일) · 기초=TOP2 지수(삼성·하이닉스 50:50 일별리밸) · σ=직전 60영업일 연율화(상한 70%) · r=q 2.5% · 주식 배분 50%·채권 연 2.5% · 매매비용 매수 5bp/매도 30bp · 잔존 2주 미만 τ=2주 고정 · BM=TOP2 40%+1년국고채 · 상기 자료는 예시이며 실제 성과와 다를 수 있습니다.</a:t>
            </a:r>
          </a:p>
        </p:txBody>
      </p:sp>
      <p:pic>
        <p:nvPicPr>
          <p:cNvPr id="8" name="Picture 7" descr="bt_bond_3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1783080"/>
            <a:ext cx="6949440" cy="38641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KoPub돋움체_Pro Bold"/>
              </a:rPr>
              <a:t>FAQ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지수가 하락하면 펀드도 같이 떨어지는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채권(1년 국고채) 50%가 기본 방어선이고, 주식 파트는 하락할수록 저가매수로 편입을 늘려 낙폭을 완화합니다. 분기 만기 기준 지수 -30% 시 펀드 예상 손실은 약 -11.5%(변동성 70% 가정)로 지수의 절반 이하입니다. (가정에 따른 예시, 원금 보장 아님)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상방 수익은 제한되는 것 아닌가요?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상승 구간(+10%~+50%)에 참여하도록 설계되어 분기 지수 +30% 시 주식 파트가 약 +25%(펀드 기준 약 +13%)를 수취합니다. 상승이 계속되면 분기마다 기준이 리셋되어 새로운 상승 참여 구간이 다시 열립니다.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8732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3개월 리셋이란 무엇인가요?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변동성 매매의 기준(만기 3개월 구조)을 분기마다 그 시점 지수로 새로 설정하는 방식입니다. 구조가 늘 새로 시작되므로 진입 시점에 따른 유불리가 작고, 오픈형(상장)으로 언제든 매매할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63056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시뮬레이션·백테스트는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KoPub돋움체_Pro Bold"/>
              </a:rPr>
              <a:t>FAQ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벤치마크(BM)와 비교하면 어떤가요?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BM은 TOP2 지수 40% + 1년 국고채입니다. 실측 백테스트(2021.07~2026.07)에서 펀드 +136.5%로 BM(+143.9%)과 유사한 성과를 기록했고, 급등 후 되돌림 같은 왕복 구간(최근 3개월 펀드 +6.9% vs BM +3.2%)에서 변동성 매매 초과수익이 발생합니다. 하락 구간 방어는 채권 50%와 저가매수 구조가 담당합니다.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8887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변동성이 줄어들면 수익을 못 내나요?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변동성 매매 기회는 줄지만 상승 참여와 채권 이자로 수익을 보완합니다. 현재 삼성전자·SK하이닉스 실현변동성은 85~99%로 5년 평균(32~47%)을 크게 웃도는 역대급 국면이며, 이 펀드는 극단적 변동성 왜곡을 막기 위해 운용 변동성 상한을 70%로 둡니다.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8902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QPMS란 무엇인가요?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미래에셋의 퀀트 운용 시스템으로, 규칙 기반 리밸런싱을 진행합니다. 매일 종가 기준으로 목표 편입비를 계산해 자의적 판단을 배제하고 규칙대로 집행합니다.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89170"/>
            <a:ext cx="8732520" cy="1090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43B72"/>
                </a:solidFill>
                <a:latin typeface="KoPub돋움체_Pro Bold"/>
              </a:rPr>
              <a:t>Q. 왜 지금, 왜 미래에셋인가요?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sz="1100">
                <a:solidFill>
                  <a:srgbClr val="222222"/>
                </a:solidFill>
                <a:latin typeface="KoPub돋움체_Pro Medium"/>
              </a:rPr>
              <a:t>A. 지금은 역대급 변동성 국면으로 변동성 수확 전략에 가장 유리한 시기라고 판단합니다. 미래에셋자산운용 AI금융공학운용부문은 QPMS 시스템 기반의 규칙 운용 역량을 갖추고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시뮬레이션·백테스트는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테마">
  <a:themeElements>
    <a:clrScheme name="미래에셋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F58220"/>
      </a:accent1>
      <a:accent2>
        <a:srgbClr val="043B72"/>
      </a:accent2>
      <a:accent3>
        <a:srgbClr val="00A9CE"/>
      </a:accent3>
      <a:accent4>
        <a:srgbClr val="F0B26B"/>
      </a:accent4>
      <a:accent5>
        <a:srgbClr val="AE634E"/>
      </a:accent5>
      <a:accent6>
        <a:srgbClr val="84888B"/>
      </a:accent6>
      <a:hlink>
        <a:srgbClr val="0563C1"/>
      </a:hlink>
      <a:folHlink>
        <a:srgbClr val="954F72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155074</TotalTime>
  <Words>2657</Words>
  <Application>Microsoft Office PowerPoint</Application>
  <PresentationFormat>A4 용지(210x297mm)</PresentationFormat>
  <Paragraphs>422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KoPub돋움체_Pro Bold</vt:lpstr>
      <vt:lpstr>KoPub돋움체_Pro Medium</vt:lpstr>
      <vt:lpstr>맑은 고딕</vt:lpstr>
      <vt:lpstr>Arial</vt:lpstr>
      <vt:lpstr>Calibri</vt:lpstr>
      <vt:lpstr>Noto Sans</vt:lpstr>
      <vt:lpstr>Office 테마</vt:lpstr>
      <vt:lpstr>미래에셋 변동성 하베스트 AI Top2 일반사모투자신탁</vt:lpstr>
      <vt:lpstr>변동성 하베스트 투자포인트</vt:lpstr>
      <vt:lpstr>투자포인트 ① 변동성 장세</vt:lpstr>
      <vt:lpstr>투자포인트 ② 변동성 장세 지속. 상방을 누르는 수급</vt:lpstr>
      <vt:lpstr>투자포인트 ③ 변동성 장세 지속. 하방을 받치는 밸류에이션·실적</vt:lpstr>
      <vt:lpstr>투자포인트 ④ 레버리지가 키운 변동성</vt:lpstr>
      <vt:lpstr>투자포인트 ④ 레버리지가 키운 변동성</vt:lpstr>
      <vt:lpstr>변동성 하베스트 전략</vt:lpstr>
      <vt:lpstr>전략 상세 ① 변동성 매매 (저가매수·고가매도)</vt:lpstr>
      <vt:lpstr>전략 상세 ② 방향 투자 (상승 참여)</vt:lpstr>
      <vt:lpstr>수익 구조 ① 성장변동성펀드 (변동성 매매 + 상승 참여)</vt:lpstr>
      <vt:lpstr>지수대별 실제 편입비·예상수익률 — 성장변동성펀드</vt:lpstr>
      <vt:lpstr>수익 구조 ② 안정변동성펀드</vt:lpstr>
      <vt:lpstr>지수대별 실제 편입비·예상수익률 — 안정변동성펀드</vt:lpstr>
      <vt:lpstr>목표배당형 구조 — 목표 달성 시 분배 후 재운용</vt:lpstr>
      <vt:lpstr>별첨 QPMS Vol Trading 시스템 운용</vt:lpstr>
      <vt:lpstr>별첨 QPMS Vol Trading 시스템운용 — 성장 변동성 하베스트</vt:lpstr>
      <vt:lpstr>별첨 : QPMS Vol Trading – 안정 변동성 하베스트</vt:lpstr>
      <vt:lpstr>별첨 : 최근 3개월 급변동 구간 실측 — 목표 환매 없음 vs +15% 재운용</vt:lpstr>
      <vt:lpstr>FAQ</vt:lpstr>
      <vt:lpstr>FAQ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yurim</dc:creator>
  <cp:lastModifiedBy>Lee, Hyun Kyung (이현경)</cp:lastModifiedBy>
  <cp:revision>3371</cp:revision>
  <cp:lastPrinted>2025-06-10T01:28:42Z</cp:lastPrinted>
  <dcterms:created xsi:type="dcterms:W3CDTF">2015-10-26T01:08:58Z</dcterms:created>
  <dcterms:modified xsi:type="dcterms:W3CDTF">2026-07-29T01:29:05Z</dcterms:modified>
</cp:coreProperties>
</file>