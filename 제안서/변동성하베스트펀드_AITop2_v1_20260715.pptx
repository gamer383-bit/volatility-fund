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5"/>
  </p:notesMasterIdLst>
  <p:sldIdLst>
    <p:sldId id="1032" r:id="rId3"/>
    <p:sldId id="257" r:id="rId4"/>
    <p:sldId id="258" r:id="rId5"/>
    <p:sldId id="259" r:id="rId6"/>
    <p:sldId id="1038" r:id="rId7"/>
    <p:sldId id="1039" r:id="rId8"/>
    <p:sldId id="261" r:id="rId9"/>
    <p:sldId id="263" r:id="rId10"/>
    <p:sldId id="264" r:id="rId11"/>
    <p:sldId id="1040" r:id="rId20"/>
    <p:sldId id="1041" r:id="rId21"/>
    <p:sldId id="265" r:id="rId12"/>
    <p:sldId id="266" r:id="rId13"/>
    <p:sldId id="267" r:id="rId14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556"/>
  </p:normalViewPr>
  <p:slideViewPr>
    <p:cSldViewPr snapToGrid="0" snapToObjects="1">
      <p:cViewPr varScale="1">
        <p:scale>
          <a:sx n="114" d="100"/>
          <a:sy n="114" d="100"/>
        </p:scale>
        <p:origin x="136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0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2026. 7. 15.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하베스트 Top2 펀드 제안서</a:t>
            </a:r>
            <a:r>
              <a:rPr lang="ko-KR" altLang="en-US" sz="2792" dirty="0" err="1"/>
              <a:t/>
            </a:r>
            <a:r>
              <a:rPr lang="ko-KR" altLang="en-US" sz="2792" dirty="0"/>
              <a:t/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삼성전자·SK하이닉스 변동성이 최근 5년 중 최고 수준입니다. 변동성이 클수록 변동성 매매의 수익 기회가 커집니다.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  <a:r>
              <a:rPr lang="en-US"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/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  <p:pic>
        <p:nvPicPr>
          <p:cNvPr id="12" name="Picture 11" descr="vol_se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508760"/>
            <a:ext cx="8366760" cy="37650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②-1 — 상방을 누르는 수급 요인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국민연금·외국인·개인 모두 지수 상단에서 매도 우위 — 반등 시마다 매물벽이 형성되는 구조입니다.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편입비 조정·차익실현으로 상승 국면 매도 우위 — 연초 이후 KOSPI200 159조원 순매도.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  <p:pic>
        <p:nvPicPr>
          <p:cNvPr id="26" name="Picture 25" descr="c6_p4상단_수급요인_3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041648"/>
            <a:ext cx="8869680" cy="2072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6159408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국민연금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기금운용본부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공시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기금운용위원회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증권사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취합</a:t>
            </a:r>
            <a:r>
              <a:rPr sz="800" dirty="0">
                <a:solidFill>
                  <a:srgbClr val="888888"/>
                </a:solidFill>
              </a:rPr>
              <a:t>, </a:t>
            </a:r>
            <a:r>
              <a:rPr sz="800" dirty="0" err="1">
                <a:solidFill>
                  <a:srgbClr val="888888"/>
                </a:solidFill>
              </a:rPr>
              <a:t>FnGuide·KRX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)  |  주: </a:t>
            </a:r>
            <a:r>
              <a:rPr sz="800" dirty="0" err="1">
                <a:solidFill>
                  <a:srgbClr val="888888"/>
                </a:solidFill>
              </a:rPr>
              <a:t>하반기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추정은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기타자산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규모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고정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가정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②-2 — 하방을 받치는 밸류에이션·실적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KOSPI200 12M Fwd PER 5.8배로 '21년 이후 최저권 — 이익 추정치는 사상 최고 수준으로 상향 중입니다.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1664208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1728216"/>
            <a:ext cx="8138160" cy="39953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dirty="0">
                <a:solidFill>
                  <a:srgbClr val="1F9E6E"/>
                </a:solidFill>
                <a:latin typeface="맑은 고딕"/>
              </a:rPr>
              <a:t>② 하방을 받치는 밸류에이션 및 실적상향: 12M Fwd PER 5.8배('21년 이후 최저권·하위 0.2%) · FY26/27 이익 컨센서스 추가 상향</a:t>
            </a:r>
          </a:p>
          <a:p>
            <a:pPr algn="l">
              <a:lnSpc>
                <a:spcPct val="115000"/>
              </a:lnSpc>
            </a:pPr>
            <a:r>
              <a:rPr sz="950" b="0" dirty="0">
                <a:solidFill>
                  <a:srgbClr val="84888B"/>
                </a:solidFill>
                <a:latin typeface="맑은 고딕"/>
              </a:rPr>
              <a:t>※ 원본 데이터·세부 수치: Appendix ④·⑤ 및 p4_rawdata 엑셀('3_밸류에이션_일간' 시트) 참조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035040"/>
            <a:ext cx="8503920" cy="438912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6141644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→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상방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제한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+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하방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지지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=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반복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→ </a:t>
            </a:r>
            <a:r>
              <a:rPr lang="ko-KR" altLang="en-US" sz="1300" b="1" dirty="0">
                <a:solidFill>
                  <a:srgbClr val="F58220"/>
                </a:solidFill>
                <a:latin typeface="맑은 고딕"/>
              </a:rPr>
              <a:t>방향성 투자에 변동성 수확을 더하자</a:t>
            </a:r>
            <a:r>
              <a:rPr lang="en-US" altLang="ko-KR" sz="1300" b="1" dirty="0">
                <a:solidFill>
                  <a:srgbClr val="F58220"/>
                </a:solidFill>
                <a:latin typeface="맑은 고딕"/>
              </a:rPr>
              <a:t>.</a:t>
            </a:r>
            <a:endParaRPr sz="1300" b="1" dirty="0">
              <a:solidFill>
                <a:srgbClr val="F58220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6" name="Picture 25" descr="c7_p5_밸류_실적_4패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0"/>
            <a:ext cx="8869680" cy="231768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88085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266729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846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③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키운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701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국내·해외(홍콩 CSOP 등) 레버리지 ETF 약 40조원(6/30 기준)이 삼성전자·SK하이닉스와 지수 변동성을 구조적으로 키우고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부르는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되먹임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— 두 </a:t>
            </a:r>
            <a:r>
              <a:rPr sz="1300" b="1" dirty="0" err="1">
                <a:solidFill>
                  <a:srgbClr val="043B72"/>
                </a:solidFill>
                <a:latin typeface="맑은 고딕"/>
              </a:rPr>
              <a:t>종목이</a:t>
            </a:r>
            <a:r>
              <a:rPr sz="1300" b="1" dirty="0">
                <a:solidFill>
                  <a:srgbClr val="043B72"/>
                </a:solidFill>
                <a:latin typeface="맑은 고딕"/>
              </a:rPr>
              <a:t> KOSPI200의 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65.6%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(6/30 KRX · </a:t>
            </a:r>
            <a:r>
              <a:rPr sz="120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38.7% →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/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30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lang="en-US" sz="1200" b="0" dirty="0">
                <a:solidFill>
                  <a:srgbClr val="3A3A3A"/>
                </a:solidFill>
                <a:latin typeface="맑은 고딕"/>
              </a:rPr>
              <a:t>65.6</a:t>
            </a:r>
            <a:r>
              <a:rPr sz="1200" b="0" dirty="0">
                <a:solidFill>
                  <a:srgbClr val="3A3A3A"/>
                </a:solidFill>
                <a:latin typeface="맑은 고딕"/>
              </a:rPr>
              <a:t>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5026461"/>
            <a:ext cx="1737360" cy="691279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dirty="0">
                <a:solidFill>
                  <a:srgbClr val="043B72"/>
                </a:solidFill>
                <a:latin typeface="맑은 고딕"/>
              </a:rPr>
              <a:t>③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레버리지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종가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
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순응매매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(±10%→</a:t>
            </a:r>
            <a:r>
              <a:rPr sz="1050" b="1" dirty="0" err="1">
                <a:solidFill>
                  <a:srgbClr val="043B72"/>
                </a:solidFill>
                <a:latin typeface="맑은 고딕"/>
              </a:rPr>
              <a:t>약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 8조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로 방향성 </a:t>
            </a:r>
            <a:r>
              <a:rPr lang="ko-KR" altLang="en-US" sz="1050" b="1" dirty="0" err="1">
                <a:solidFill>
                  <a:srgbClr val="043B72"/>
                </a:solidFill>
                <a:latin typeface="맑은 고딕"/>
              </a:rPr>
              <a:t>강황</a:t>
            </a:r>
            <a:r>
              <a:rPr sz="10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050" b="1" dirty="0">
                <a:solidFill>
                  <a:srgbClr val="043B72"/>
                </a:solidFill>
                <a:latin typeface="맑은 고딕"/>
              </a:rPr>
              <a:t> 종목변동성확대</a:t>
            </a:r>
            <a:endParaRPr sz="105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  <p:pic>
        <p:nvPicPr>
          <p:cNvPr id="24" name="Picture 23" descr="slide5_lef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1527384"/>
            <a:ext cx="4160520" cy="2558699"/>
          </a:xfrm>
          <a:prstGeom prst="rect">
            <a:avLst/>
          </a:prstGeom>
        </p:spPr>
      </p:pic>
      <p:pic>
        <p:nvPicPr>
          <p:cNvPr id="25" name="Picture 24" descr="slide5_right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460257"/>
            <a:ext cx="4160520" cy="25586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2461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8932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레버리지의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잠식'을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우리는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'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수확'으로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14984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같은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정반대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레버리지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ETF가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잃는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'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펀드는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'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수익'으로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전환합니다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41133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3A3A3A"/>
                </a:solidFill>
                <a:latin typeface="맑은 고딕"/>
              </a:rPr>
              <a:t>매일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고가매수·저가매도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추세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순응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1" dirty="0" err="1">
                <a:solidFill>
                  <a:srgbClr val="3A3A3A"/>
                </a:solidFill>
                <a:latin typeface="맑은 고딕"/>
              </a:rPr>
              <a:t>리밸런싱</a:t>
            </a:r>
            <a:r>
              <a:rPr sz="1150" b="1" dirty="0">
                <a:solidFill>
                  <a:srgbClr val="3A3A3A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자산이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녹는다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4058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저가매수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·</a:t>
            </a:r>
            <a:r>
              <a:rPr lang="ko-KR" altLang="en-US" sz="1150" b="1" dirty="0">
                <a:solidFill>
                  <a:srgbClr val="043B72"/>
                </a:solidFill>
                <a:latin typeface="맑은 고딕"/>
              </a:rPr>
              <a:t> 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주가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↑ 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비중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↓(</a:t>
            </a:r>
            <a:r>
              <a:rPr sz="1150" b="1" dirty="0" err="1">
                <a:solidFill>
                  <a:srgbClr val="043B72"/>
                </a:solidFill>
                <a:latin typeface="맑은 고딕"/>
              </a:rPr>
              <a:t>고가매도</a:t>
            </a:r>
            <a:r>
              <a:rPr sz="1150" b="1" dirty="0">
                <a:solidFill>
                  <a:srgbClr val="043B72"/>
                </a:solidFill>
                <a:latin typeface="맑은 고딕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3A3A3A"/>
                </a:solidFill>
                <a:latin typeface="맑은 고딕"/>
              </a:rPr>
              <a:t>→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확대된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변동성을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수익으로</a:t>
            </a:r>
            <a:r>
              <a:rPr sz="110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3A3A3A"/>
                </a:solidFill>
                <a:latin typeface="맑은 고딕"/>
              </a:rPr>
              <a:t>전환</a:t>
            </a:r>
            <a:endParaRPr sz="1100" b="0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  <p:pic>
        <p:nvPicPr>
          <p:cNvPr id="21" name="Picture 20" descr="lev_rebal_hyn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6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시스템 운용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미래에셋 QPMS Vol Trading 시스템을 통해 검증된 운용.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05740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7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어떻게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운용하는가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저가매수·고가매도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시장이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빠지면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편입을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늘리고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저가매수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오르면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줄인다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고가매도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등락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  <p:pic>
        <p:nvPicPr>
          <p:cNvPr id="12" name="Picture 11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080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 — 만기까지 남은 시간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편입비는 잔존만기가 짧아질수록 가팔라짐 · 최대 편입비 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성장변동성펀드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(변동성 매매 + 상승 참여)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59%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(안정 변동성 매매)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349240"/>
            <a:ext cx="8778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60%·금리 3%·배당 2% 가정, 지수 10포인트 단위(60~140). 성장형은 지수 60 이하 도달 시 '낙아웃'(하방 완충 소멸) 후 주식형과 유사하게 운용.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표의 편입비는 모형상 목표치이며, 실제 운용에서는 자체 드리프트·거래비용을 감안해 소폭 다를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85216" y="342021"/>
            <a:ext cx="8229600" cy="21031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0</a:t>
            </a:r>
            <a:r>
              <a:rPr lang="en-US" altLang="ko-KR" sz="1200" b="1" dirty="0">
                <a:solidFill>
                  <a:srgbClr val="F58220"/>
                </a:solidFill>
                <a:latin typeface="맑은 고딕"/>
              </a:rPr>
              <a:t>8</a:t>
            </a:r>
            <a:r>
              <a:rPr sz="1200" b="1" dirty="0">
                <a:solidFill>
                  <a:srgbClr val="F58220"/>
                </a:solidFill>
                <a:latin typeface="맑은 고딕"/>
              </a:rPr>
              <a:t>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328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1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성장변동성펀드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+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상승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참여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004936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dirty="0" err="1">
                <a:solidFill>
                  <a:srgbClr val="84888B"/>
                </a:solidFill>
                <a:latin typeface="맑은 고딕"/>
              </a:rPr>
              <a:t>변동성 60% 가정 · 점=시뮬 1회 · 노란선=구간 평균 · 데이터: 자체 시뮬레이션(거래비용·운용오차 포함)</a:t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>
                <a:solidFill>
                  <a:srgbClr val="F58220"/>
                </a:solidFill>
                <a:latin typeface="맑은 고딕"/>
              </a:rPr>
              <a:t/>
            </a:r>
            <a:r>
              <a:rPr sz="900" b="1" dirty="0" err="1">
                <a:solidFill>
                  <a:srgbClr val="F58220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 err="1">
                <a:solidFill>
                  <a:srgbClr val="84888B"/>
                </a:solidFill>
                <a:latin typeface="맑은 고딕"/>
              </a:rPr>
              <a:t/>
            </a:r>
            <a:r>
              <a:rPr sz="900" b="0" dirty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18819"/>
            <a:ext cx="8503920" cy="7315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373683"/>
            <a:ext cx="8138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300" b="1" dirty="0">
                <a:solidFill>
                  <a:srgbClr val="F58220"/>
                </a:solidFill>
                <a:latin typeface="맑은 고딕"/>
              </a:rPr>
              <a:t>※ -40%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도달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F58220"/>
                </a:solidFill>
                <a:latin typeface="맑은 고딕"/>
              </a:rPr>
              <a:t>시에는</a:t>
            </a:r>
            <a:r>
              <a:rPr sz="1300" b="1" dirty="0">
                <a:solidFill>
                  <a:srgbClr val="F58220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상승에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수취하기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위해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수행하지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않으며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,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주식형과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유사하게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운용됩니다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16" name="Picture 15" descr="scat_top2_growth_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417321"/>
            <a:ext cx="4526280" cy="3650039"/>
          </a:xfrm>
          <a:prstGeom prst="rect">
            <a:avLst/>
          </a:prstGeom>
        </p:spPr>
      </p:pic>
      <p:pic>
        <p:nvPicPr>
          <p:cNvPr id="17" name="Picture 16" descr="scat_top2_growth_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1417321"/>
            <a:ext cx="4526280" cy="36500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393192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"/>
            <a:ext cx="8686800" cy="3795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 err="1">
                <a:solidFill>
                  <a:srgbClr val="043B72"/>
                </a:solidFill>
                <a:latin typeface="맑은 고딕"/>
              </a:rPr>
              <a:t>수익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구조</a:t>
            </a:r>
            <a:r>
              <a:rPr lang="en-US" altLang="ko-KR" sz="2300" b="1" dirty="0">
                <a:solidFill>
                  <a:srgbClr val="043B72"/>
                </a:solidFill>
                <a:latin typeface="맑은 고딕"/>
              </a:rPr>
              <a:t>2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(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안정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매매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225703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보합·상승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구간에서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수익을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안정적으로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확보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상단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고정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), 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단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,</a:t>
            </a:r>
            <a:r>
              <a:rPr lang="ko-KR" altLang="en-US" sz="1300" b="1" dirty="0">
                <a:solidFill>
                  <a:srgbClr val="3A3A3A"/>
                </a:solidFill>
                <a:latin typeface="맑은 고딕"/>
              </a:rPr>
              <a:t> 상승이 제한됩니다</a:t>
            </a:r>
            <a:r>
              <a:rPr lang="en-US" altLang="ko-KR" sz="1300" b="1" dirty="0">
                <a:solidFill>
                  <a:srgbClr val="3A3A3A"/>
                </a:solidFill>
                <a:latin typeface="맑은 고딕"/>
              </a:rPr>
              <a:t>.</a:t>
            </a:r>
            <a:endParaRPr sz="1300" b="1" dirty="0">
              <a:solidFill>
                <a:srgbClr val="3A3A3A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80160" y="5556144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변동성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dirty="0">
                <a:solidFill>
                  <a:srgbClr val="84888B"/>
                </a:solidFill>
                <a:latin typeface="맑은 고딕"/>
              </a:rPr>
              <a:t>※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상기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자료는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이해를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돕기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위한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예시이며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투자내용을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의미하지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않습니다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시뮬레이션은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가정에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따른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것으로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실제와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다를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수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 </a:t>
            </a:r>
            <a:r>
              <a:rPr sz="700" b="0" dirty="0" err="1">
                <a:solidFill>
                  <a:srgbClr val="84888B"/>
                </a:solidFill>
                <a:latin typeface="맑은 고딕"/>
              </a:rPr>
              <a:t>있습니다</a:t>
            </a:r>
            <a:r>
              <a:rPr sz="700" b="0" dirty="0">
                <a:solidFill>
                  <a:srgbClr val="84888B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  <p:pic>
        <p:nvPicPr>
          <p:cNvPr id="11" name="Picture 10" descr="scat_top2_s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7040880" cy="40444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단일종목 집중 위험: 삼성전자·SK하이닉스 2종목에 집중되어 개별기업·반도체 사이클 리스크에 크게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838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지수대별 실제 편입비 — 최대 편입비 180% 활용 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98448"/>
            <a:ext cx="8686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리밸런싱일 지수=100 기준 · 하락 구간에서 100%를 넘는 적극 편입 가능 · 최대 편입비 180%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성장변동성펀드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(변동성 매매 + 상승 참여)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F5822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59%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34%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29%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134%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180%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낙아웃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0" y="1783080"/>
            <a:ext cx="42976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안정변동성펀드</a:t>
            </a:r>
            <a:r>
              <a:rPr sz="1050" b="0">
                <a:solidFill>
                  <a:srgbClr val="84888B"/>
                </a:solidFill>
                <a:latin typeface="맑은 고딕"/>
              </a:rPr>
              <a:t>  (안정 변동성 매매)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2121408"/>
          <a:ext cx="43434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694944"/>
                <a:gridCol w="694944"/>
                <a:gridCol w="694944"/>
                <a:gridCol w="694944"/>
                <a:gridCol w="69494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지수 \ 잔존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12개월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9개월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6개월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3개월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1개월</a:t>
                      </a:r>
                    </a:p>
                  </a:txBody>
                  <a:tcPr marL="38100" marR="38100" marT="12700" marB="12700" anchor="ctr">
                    <a:solidFill>
                      <a:srgbClr val="043B7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140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110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31%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32%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26%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37%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39%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90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46%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80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55%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88%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70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65%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72%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84%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97%</a:t>
                      </a:r>
                    </a:p>
                  </a:txBody>
                  <a:tcPr marL="38100" marR="38100" marT="12700" marB="12700" anchor="ctr">
                    <a:solidFill>
                      <a:srgbClr val="EEF2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A3A3A"/>
                          </a:solidFill>
                          <a:latin typeface="맑은 고딕"/>
                        </a:rPr>
                        <a:t>60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69%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83%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93%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38100" marR="381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349240"/>
            <a:ext cx="8778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변동성 60% 가정, 지수 10포인트 단위(60~140), 최대 편입비 180%. 성장형은 지수 60 이하 도달 시 '낙아웃'(하방 완충 소멸) 후 주식형과 유사하게 운용.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· 표의 편입비는 모형상 목표치이며, 실제 운용에서는 자체 드리프트·거래비용을 감안해 소폭 다를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1384</Words>
  <Application>Microsoft Macintosh PowerPoint</Application>
  <PresentationFormat>사용자 지정</PresentationFormat>
  <Paragraphs>130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맑은 고딕</vt:lpstr>
      <vt:lpstr>KoPub돋움체_Pro Bold</vt:lpstr>
      <vt:lpstr>KoPub돋움체_Pro Medium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Joonho Shin(신준호)</dc:creator>
  <cp:keywords/>
  <dc:description>generated using python-pptx</dc:description>
  <cp:lastModifiedBy>현경 이</cp:lastModifiedBy>
  <cp:revision>12</cp:revision>
  <dcterms:created xsi:type="dcterms:W3CDTF">2013-01-27T09:14:16Z</dcterms:created>
  <dcterms:modified xsi:type="dcterms:W3CDTF">2026-07-15T12:56:01Z</dcterms:modified>
  <cp:category/>
</cp:coreProperties>
</file>