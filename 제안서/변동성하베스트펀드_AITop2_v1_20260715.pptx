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17"/>
  </p:notesMasterIdLst>
  <p:sldIdLst>
    <p:sldId id="1032" r:id="rId3"/>
    <p:sldId id="257" r:id="rId4"/>
    <p:sldId id="258" r:id="rId5"/>
    <p:sldId id="259" r:id="rId6"/>
    <p:sldId id="1038" r:id="rId7"/>
    <p:sldId id="1039" r:id="rId8"/>
    <p:sldId id="261" r:id="rId9"/>
    <p:sldId id="263" r:id="rId10"/>
    <p:sldId id="264" r:id="rId11"/>
    <p:sldId id="265" r:id="rId12"/>
    <p:sldId id="1045" r:id="rId13"/>
    <p:sldId id="266" r:id="rId14"/>
    <p:sldId id="1044" r:id="rId15"/>
    <p:sldId id="267" r:id="rId16"/>
  </p:sldIdLst>
  <p:sldSz cx="9875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556"/>
  </p:normalViewPr>
  <p:slideViewPr>
    <p:cSldViewPr snapToGrid="0" snapToObjects="1">
      <p:cViewPr varScale="1">
        <p:scale>
          <a:sx n="152" d="100"/>
          <a:sy n="152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EAE46-2B9A-4D90-9A88-1920B1FB6996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6500" y="1143000"/>
            <a:ext cx="4445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B6A72-4F74-4004-8AC3-811B4729AC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286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0194" latinLnBrk="0">
              <a:defRPr/>
            </a:pPr>
            <a:r>
              <a:rPr lang="ko-KR" altLang="ko-KR" dirty="0">
                <a:latin typeface="Arial" pitchFamily="34" charset="0"/>
                <a:ea typeface="MS PGothic" pitchFamily="34" charset="-128"/>
              </a:rPr>
              <a:t>안녕하십니까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,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미래에셋자산운용 입니다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r>
              <a:rPr lang="ko-KR" altLang="ko-KR" dirty="0" err="1">
                <a:latin typeface="Arial" pitchFamily="34" charset="0"/>
                <a:ea typeface="MS PGothic" pitchFamily="34" charset="-128"/>
              </a:rPr>
              <a:t>미래에셋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 </a:t>
            </a:r>
            <a:r>
              <a:rPr lang="ko-KR" altLang="en-US" dirty="0">
                <a:latin typeface="Arial" pitchFamily="34" charset="0"/>
                <a:ea typeface="MS PGothic" pitchFamily="34" charset="-128"/>
              </a:rPr>
              <a:t>밸런스알파플러스 증권자투자신탁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(</a:t>
            </a:r>
            <a:r>
              <a:rPr lang="ko-KR" altLang="en-US" dirty="0" err="1">
                <a:latin typeface="Arial" pitchFamily="34" charset="0"/>
                <a:ea typeface="MS PGothic" pitchFamily="34" charset="-128"/>
              </a:rPr>
              <a:t>채권혼합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) </a:t>
            </a:r>
            <a:r>
              <a:rPr lang="ko-KR" altLang="en-US" dirty="0">
                <a:latin typeface="Arial" pitchFamily="34" charset="0"/>
                <a:ea typeface="MS PGothic" pitchFamily="34" charset="-128"/>
              </a:rPr>
              <a:t>에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 대해서 설명 드리겠습니다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본 교육에는 상품에 대한 모든 내용을 포함하고 있지 않으며 향후 변경 가능한 내용도 있으므로 상품 판매 전 해당 상품의 투자설명서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,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제안서 등 정식 자료를 꼭 숙지하시기 바랍니다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F11654-0CFB-44F3-B93D-CBFACCFEA8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0956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201" y="5654675"/>
            <a:ext cx="1970736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630003" y="5926138"/>
            <a:ext cx="6747988" cy="44291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798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0" y="838200"/>
            <a:ext cx="6388665" cy="4140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795">
              <a:solidFill>
                <a:srgbClr val="F58220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6466229" y="4799014"/>
            <a:ext cx="3409610" cy="17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795"/>
          </a:p>
        </p:txBody>
      </p:sp>
      <p:cxnSp>
        <p:nvCxnSpPr>
          <p:cNvPr id="12" name="직선 연결선[R] 11"/>
          <p:cNvCxnSpPr/>
          <p:nvPr userDrawn="1"/>
        </p:nvCxnSpPr>
        <p:spPr>
          <a:xfrm>
            <a:off x="630003" y="3937000"/>
            <a:ext cx="73130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텍스트 개체 틀 30"/>
          <p:cNvSpPr>
            <a:spLocks noGrp="1"/>
          </p:cNvSpPr>
          <p:nvPr>
            <p:ph type="body" sz="quarter" idx="10"/>
          </p:nvPr>
        </p:nvSpPr>
        <p:spPr>
          <a:xfrm>
            <a:off x="629902" y="194071"/>
            <a:ext cx="5024655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798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29902" y="1264983"/>
            <a:ext cx="5204106" cy="4909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19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9902" y="2874353"/>
            <a:ext cx="5204106" cy="565283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569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97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29902" y="4214169"/>
            <a:ext cx="4486298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569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97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629902" y="4474323"/>
            <a:ext cx="4486298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569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97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pic>
        <p:nvPicPr>
          <p:cNvPr id="3" name="그림 1">
            <a:extLst>
              <a:ext uri="{FF2B5EF4-FFF2-40B4-BE49-F238E27FC236}">
                <a16:creationId xmlns:a16="http://schemas.microsoft.com/office/drawing/2014/main" id="{169E5202-1F58-4B87-DB16-DE7344CC33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17" b="23427"/>
          <a:stretch>
            <a:fillRect/>
          </a:stretch>
        </p:blipFill>
        <p:spPr bwMode="auto">
          <a:xfrm>
            <a:off x="6470977" y="838201"/>
            <a:ext cx="3414359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9484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 flipV="1">
            <a:off x="0" y="1312864"/>
            <a:ext cx="9877420" cy="46037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795">
              <a:solidFill>
                <a:srgbClr val="F58220"/>
              </a:solidFill>
            </a:endParaRPr>
          </a:p>
        </p:txBody>
      </p:sp>
      <p:sp>
        <p:nvSpPr>
          <p:cNvPr id="5" name="제목 1"/>
          <p:cNvSpPr txBox="1">
            <a:spLocks/>
          </p:cNvSpPr>
          <p:nvPr userDrawn="1"/>
        </p:nvSpPr>
        <p:spPr>
          <a:xfrm>
            <a:off x="935507" y="757238"/>
            <a:ext cx="1305908" cy="4619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algn="l">
              <a:defRPr/>
            </a:pPr>
            <a:r>
              <a:rPr lang="ko-KR" altLang="en-US" sz="2990" dirty="0">
                <a:solidFill>
                  <a:schemeClr val="accent2"/>
                </a:solidFill>
                <a:latin typeface="KoPub돋움체_Pro Bold" panose="02020603020101020101" pitchFamily="18" charset="-127"/>
              </a:rPr>
              <a:t>목차</a:t>
            </a:r>
            <a:endParaRPr lang="ko-KR" altLang="en-US" sz="2990" dirty="0">
              <a:solidFill>
                <a:schemeClr val="accent2"/>
              </a:solidFill>
            </a:endParaRP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57515" y="1725716"/>
            <a:ext cx="8435611" cy="2620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1219" marR="0" indent="-251219" algn="l" defTabSz="455783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595" b="0" i="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4498" indent="136102">
              <a:buFont typeface="+mj-lt"/>
              <a:buAutoNum type="arabicPeriod"/>
              <a:defRPr sz="1197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197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997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2764060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03821" y="3143392"/>
            <a:ext cx="8434241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2393">
                <a:solidFill>
                  <a:schemeClr val="tx1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506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92289" y="6494464"/>
            <a:ext cx="4530317" cy="1222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D845EB2A-307E-48F7-AC0E-842A20A97BCE}" type="slidenum">
              <a:rPr lang="en-US" sz="798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5" name="Straight Connector 10"/>
          <p:cNvCxnSpPr/>
          <p:nvPr userDrawn="1"/>
        </p:nvCxnSpPr>
        <p:spPr>
          <a:xfrm>
            <a:off x="487540" y="896938"/>
            <a:ext cx="8900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6432987" y="6494464"/>
            <a:ext cx="2955312" cy="1222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spc="2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798" spc="2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cxnSp>
        <p:nvCxnSpPr>
          <p:cNvPr id="7" name="Straight Connector 10"/>
          <p:cNvCxnSpPr/>
          <p:nvPr userDrawn="1"/>
        </p:nvCxnSpPr>
        <p:spPr>
          <a:xfrm>
            <a:off x="478042" y="6359525"/>
            <a:ext cx="89197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87511" y="1031108"/>
            <a:ext cx="8900816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5783" rtl="0" eaLnBrk="1" fontAlgn="auto" latinLnBrk="0" hangingPunct="1">
              <a:lnSpc>
                <a:spcPct val="110000"/>
              </a:lnSpc>
              <a:spcBef>
                <a:spcPts val="2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96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5783" indent="0">
              <a:buFontTx/>
              <a:buNone/>
              <a:defRPr sz="1994">
                <a:latin typeface="Noto Sans"/>
                <a:cs typeface="Noto Sans"/>
              </a:defRPr>
            </a:lvl2pPr>
            <a:lvl3pPr marL="911566" indent="0">
              <a:buFontTx/>
              <a:buNone/>
              <a:defRPr sz="1795">
                <a:latin typeface="Noto Sans"/>
                <a:cs typeface="Noto Sans"/>
              </a:defRPr>
            </a:lvl3pPr>
            <a:lvl4pPr marL="1367349" indent="0">
              <a:buFontTx/>
              <a:buNone/>
              <a:defRPr sz="1595">
                <a:latin typeface="Noto Sans"/>
                <a:cs typeface="Noto Sans"/>
              </a:defRPr>
            </a:lvl4pPr>
            <a:lvl5pPr marL="1823132" indent="0">
              <a:buFontTx/>
              <a:buNone/>
              <a:defRPr sz="1595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2286" y="567303"/>
            <a:ext cx="646027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1994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978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406" y="5648326"/>
            <a:ext cx="1703222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88" y="2935288"/>
            <a:ext cx="8394462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89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5693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2pPr>
            <a:lvl3pPr marL="911383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3pPr>
            <a:lvl4pPr marL="136707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822767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227845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73415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3189843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64553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73100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 판매사 사내한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 userDrawn="1"/>
        </p:nvGrpSpPr>
        <p:grpSpPr>
          <a:xfrm>
            <a:off x="1" y="691287"/>
            <a:ext cx="9875838" cy="153487"/>
            <a:chOff x="0" y="827999"/>
            <a:chExt cx="9904413" cy="153523"/>
          </a:xfrm>
        </p:grpSpPr>
        <p:sp>
          <p:nvSpPr>
            <p:cNvPr id="17" name="직사각형 16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795" dirty="0"/>
            </a:p>
          </p:txBody>
        </p:sp>
        <p:pic>
          <p:nvPicPr>
            <p:cNvPr id="18" name="그림 17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9" name="직선 연결선 18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1007769"/>
            <a:ext cx="8920190" cy="11401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효과를 배제하여 인쇄 환경에서의 호환성을 높일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78615" y="6358688"/>
            <a:ext cx="89201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8189" y="6492827"/>
            <a:ext cx="4531043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49898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89392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  <p:sp>
        <p:nvSpPr>
          <p:cNvPr id="22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</p:spTree>
    <p:extLst>
      <p:ext uri="{BB962C8B-B14F-4D97-AF65-F5344CB8AC3E}">
        <p14:creationId xmlns:p14="http://schemas.microsoft.com/office/powerpoint/2010/main" val="2074047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1" y="691287"/>
            <a:ext cx="9875838" cy="153487"/>
            <a:chOff x="0" y="827999"/>
            <a:chExt cx="9904413" cy="153523"/>
          </a:xfrm>
        </p:grpSpPr>
        <p:sp>
          <p:nvSpPr>
            <p:cNvPr id="14" name="직사각형 13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795" dirty="0"/>
            </a:p>
          </p:txBody>
        </p:sp>
        <p:pic>
          <p:nvPicPr>
            <p:cNvPr id="15" name="그림 14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7" name="직선 연결선 16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479" y="269938"/>
            <a:ext cx="1615326" cy="209938"/>
          </a:xfrm>
          <a:prstGeom prst="rect">
            <a:avLst/>
          </a:prstGeom>
        </p:spPr>
      </p:pic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1007769"/>
            <a:ext cx="8911266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78615" y="6358688"/>
            <a:ext cx="89201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8189" y="6492829"/>
            <a:ext cx="453104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45578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 marL="0" marR="0" lvl="0" indent="0" algn="l" defTabSz="45578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49898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89392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8722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1" y="691287"/>
            <a:ext cx="9875838" cy="153487"/>
            <a:chOff x="0" y="827999"/>
            <a:chExt cx="9904413" cy="153523"/>
          </a:xfrm>
        </p:grpSpPr>
        <p:sp>
          <p:nvSpPr>
            <p:cNvPr id="14" name="직사각형 13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795" dirty="0"/>
            </a:p>
          </p:txBody>
        </p:sp>
        <p:pic>
          <p:nvPicPr>
            <p:cNvPr id="15" name="그림 14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7" name="직선 연결선 16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479" y="269938"/>
            <a:ext cx="1615326" cy="209938"/>
          </a:xfrm>
          <a:prstGeom prst="rect">
            <a:avLst/>
          </a:prstGeom>
        </p:spPr>
      </p:pic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1007769"/>
            <a:ext cx="8911266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78615" y="6358688"/>
            <a:ext cx="89201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8189" y="6492829"/>
            <a:ext cx="453104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45578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 marL="0" marR="0" lvl="0" indent="0" algn="l" defTabSz="45578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49898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89392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3867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983055"/>
            <a:ext cx="8911266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25184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64678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  <p:sp>
        <p:nvSpPr>
          <p:cNvPr id="25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sp>
        <p:nvSpPr>
          <p:cNvPr id="27" name="Slide Number Placeholder 5"/>
          <p:cNvSpPr txBox="1">
            <a:spLocks/>
          </p:cNvSpPr>
          <p:nvPr userDrawn="1"/>
        </p:nvSpPr>
        <p:spPr>
          <a:xfrm>
            <a:off x="488189" y="6497276"/>
            <a:ext cx="4531043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</a:t>
            </a:r>
            <a:r>
              <a:rPr 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28" name="직선 연결선[R] 11">
            <a:extLst>
              <a:ext uri="{FF2B5EF4-FFF2-40B4-BE49-F238E27FC236}">
                <a16:creationId xmlns:a16="http://schemas.microsoft.com/office/drawing/2014/main" id="{A6FA0130-74BE-5E5A-09E0-3D4E7352D96A}"/>
              </a:ext>
            </a:extLst>
          </p:cNvPr>
          <p:cNvCxnSpPr>
            <a:cxnSpLocks/>
          </p:cNvCxnSpPr>
          <p:nvPr userDrawn="1"/>
        </p:nvCxnSpPr>
        <p:spPr>
          <a:xfrm>
            <a:off x="-10071" y="859732"/>
            <a:ext cx="988591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10">
            <a:extLst>
              <a:ext uri="{FF2B5EF4-FFF2-40B4-BE49-F238E27FC236}">
                <a16:creationId xmlns:a16="http://schemas.microsoft.com/office/drawing/2014/main" id="{65772FF5-A371-BDBF-EEBF-63F0E4A59D91}"/>
              </a:ext>
            </a:extLst>
          </p:cNvPr>
          <p:cNvCxnSpPr>
            <a:cxnSpLocks/>
          </p:cNvCxnSpPr>
          <p:nvPr userDrawn="1"/>
        </p:nvCxnSpPr>
        <p:spPr>
          <a:xfrm>
            <a:off x="-10071" y="6363137"/>
            <a:ext cx="988591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297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37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2pPr>
      <a:lvl3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3pPr>
      <a:lvl4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4pPr>
      <a:lvl5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5pPr>
      <a:lvl6pPr marL="455874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6pPr>
      <a:lvl7pPr marL="911748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7pPr>
      <a:lvl8pPr marL="1367622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8pPr>
      <a:lvl9pPr marL="1823496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9pPr>
    </p:titleStyle>
    <p:bodyStyle>
      <a:lvl1pPr marL="226355" indent="-226355" algn="l" defTabSz="910166" rtl="0" eaLnBrk="0" fontAlgn="base" latinLnBrk="1" hangingPunct="0">
        <a:lnSpc>
          <a:spcPct val="90000"/>
        </a:lnSpc>
        <a:spcBef>
          <a:spcPts val="997"/>
        </a:spcBef>
        <a:spcAft>
          <a:spcPct val="0"/>
        </a:spcAft>
        <a:buFont typeface="Arial" panose="020B0604020202020204" pitchFamily="34" charset="0"/>
        <a:buChar char="•"/>
        <a:defRPr sz="2692" kern="1200">
          <a:solidFill>
            <a:schemeClr val="tx1"/>
          </a:solidFill>
          <a:latin typeface="+mn-lt"/>
          <a:ea typeface="+mn-ea"/>
          <a:cs typeface="+mn-cs"/>
        </a:defRPr>
      </a:lvl1pPr>
      <a:lvl2pPr marL="682229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sz="2393" kern="1200">
          <a:solidFill>
            <a:schemeClr val="tx1"/>
          </a:solidFill>
          <a:latin typeface="+mn-lt"/>
          <a:ea typeface="+mn-ea"/>
          <a:cs typeface="+mn-cs"/>
        </a:defRPr>
      </a:lvl2pPr>
      <a:lvl3pPr marL="1138103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sz="1994" kern="1200">
          <a:solidFill>
            <a:schemeClr val="tx1"/>
          </a:solidFill>
          <a:latin typeface="+mn-lt"/>
          <a:ea typeface="+mn-ea"/>
          <a:cs typeface="+mn-cs"/>
        </a:defRPr>
      </a:lvl3pPr>
      <a:lvl4pPr marL="1593977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49851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06806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2590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18372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4155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566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7349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3132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78915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4697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0481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6263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 bwMode="auto">
          <a:xfrm>
            <a:off x="630003" y="1453516"/>
            <a:ext cx="5456720" cy="42966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ko-KR" altLang="en-US" sz="2792" dirty="0"/>
              <a:t>변동성 하베스트 Top2 펀드 제안서</a:t>
            </a:r>
          </a:p>
        </p:txBody>
      </p:sp>
      <p:sp>
        <p:nvSpPr>
          <p:cNvPr id="10244" name="텍스트 개체 틀 3"/>
          <p:cNvSpPr>
            <a:spLocks noGrp="1"/>
          </p:cNvSpPr>
          <p:nvPr>
            <p:ph type="body" sz="quarter" idx="13"/>
          </p:nvPr>
        </p:nvSpPr>
        <p:spPr bwMode="auto">
          <a:xfrm>
            <a:off x="630003" y="4212546"/>
            <a:ext cx="4485995" cy="18361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defTabSz="454292" fontAlgn="base">
              <a:spcAft>
                <a:spcPct val="0"/>
              </a:spcAft>
            </a:pPr>
            <a:r>
              <a:rPr lang="ko-KR" altLang="en-US" dirty="0" err="1"/>
              <a:t>미래에셋자산운용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금융공학운용부문 </a:t>
            </a:r>
          </a:p>
        </p:txBody>
      </p:sp>
      <p:sp>
        <p:nvSpPr>
          <p:cNvPr id="10245" name="텍스트 개체 틀 5"/>
          <p:cNvSpPr>
            <a:spLocks noGrp="1"/>
          </p:cNvSpPr>
          <p:nvPr>
            <p:ph type="body" sz="quarter" idx="15"/>
          </p:nvPr>
        </p:nvSpPr>
        <p:spPr bwMode="auto">
          <a:xfrm>
            <a:off x="630003" y="4470561"/>
            <a:ext cx="4485995" cy="18520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defTabSz="454292" fontAlgn="base">
              <a:spcAft>
                <a:spcPct val="0"/>
              </a:spcAft>
            </a:pPr>
            <a:r>
              <a:rPr lang="en-US" altLang="ko-KR" dirty="0"/>
              <a:t>2026.07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4752A20-2DB7-3BAE-D5CD-0070F3FD43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01 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상품 개요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504316"/>
              </p:ext>
            </p:extLst>
          </p:nvPr>
        </p:nvGraphicFramePr>
        <p:xfrm>
          <a:off x="685800" y="1371600"/>
          <a:ext cx="8503920" cy="4425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  분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  용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명  칭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미래에셋 변동성 하베스트 펀드 — AI Top2 (삼성전자·SK하이닉스) (가칭)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개  요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기초자산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편입비를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조절하는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변동성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매매를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통해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역대급으로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높아진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변동성을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수익으로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전환하는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전략</a:t>
                      </a:r>
                      <a:endParaRPr sz="1100" b="0" dirty="0">
                        <a:solidFill>
                          <a:srgbClr val="3A3A3A"/>
                        </a:solidFill>
                        <a:latin typeface="맑은 고딕"/>
                      </a:endParaRP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기초자산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AI Top2 — 삼성전자·SK하이닉스 (동일가중)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가정 변동성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연 60% (최근 실현변동성 대비 보수적 가정)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운용 전략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변동성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매매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(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저가매수·고가매도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)로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수익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추구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+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상승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방향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참여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유형 구분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안정변동성펀드(안정 변동성 매매) / 성장변동성펀드(변동성 매매 + 상승 참여)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상품 유형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국내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주식형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파생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공모 </a:t>
                      </a:r>
                      <a:r>
                        <a:rPr lang="en-US" altLang="ko-KR"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/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사모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일임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투자 등급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 dirty="0">
                        <a:solidFill>
                          <a:srgbClr val="3A3A3A"/>
                        </a:solidFill>
                        <a:latin typeface="맑은 고딕"/>
                      </a:endParaRP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만  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1년 (예시) · 일별 리밸런싱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최저가입금액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 dirty="0">
                        <a:solidFill>
                          <a:srgbClr val="3A3A3A"/>
                        </a:solidFill>
                        <a:latin typeface="맑은 고딕"/>
                      </a:endParaRP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989320"/>
            <a:ext cx="85953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4888B"/>
                </a:solidFill>
                <a:latin typeface="맑은 고딕"/>
              </a:rPr>
              <a:t>※ 원금 손실(0~100%)이 발생할 수 있으며 손실은 투자자에게 귀속됩니다. 예금자보호법 적용 대상이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02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>
                <a:solidFill>
                  <a:srgbClr val="043B72"/>
                </a:solidFill>
                <a:latin typeface="맑은 고딕"/>
              </a:rPr>
              <a:t>왜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지금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이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펀드인가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① —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역대급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변동성</a:t>
            </a:r>
            <a:endParaRPr sz="2300" b="1" dirty="0">
              <a:solidFill>
                <a:srgbClr val="043B72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082767"/>
            <a:ext cx="8686800" cy="22570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3A3A3A"/>
                </a:solidFill>
                <a:latin typeface="맑은 고딕"/>
              </a:rPr>
              <a:t>삼성전자·SK하이닉스 변동성이 최근 5년 중 최고 수준입니다. 변동성이 클수록 변동성 매매의 수익 기회가 커집니다.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486400"/>
            <a:ext cx="8503920" cy="658368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486400"/>
            <a:ext cx="813816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→ 지금은 변동성을 '피할' 때가 아니라 '수확'하기 가장 유리한 국면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3</a:t>
            </a:r>
          </a:p>
        </p:txBody>
      </p:sp>
      <p:pic>
        <p:nvPicPr>
          <p:cNvPr id="12" name="Picture 11" descr="vol_se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366760" cy="37650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03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펀드인가 ②-1 — 상방을 누르는 수급 요인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국민연금·외국인·개인 모두 지수 상단에서 매도 우위 — 반등 시마다 매물벽이 형성되는 구조입니다.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8686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43B72"/>
                </a:solidFill>
                <a:latin typeface="맑은 고딕"/>
              </a:rPr>
              <a:t>① 상방을 누르는 수급 요인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29968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29968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75688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국민연금 매도 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633472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목표비중 상향(14.9→20.8%, 5/28 기금위)에도 지수 반등 시 허용상단(28.8%) 재접근 — KOSPI 8,200선부터 대기 매도 물량 출회 추정.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029968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2029968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2075688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외국인 리밸런싱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633472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반도체 쏠림에 따른 편입비 조정·차익실현으로 상승 국면 매도 우위 — 연초 이후 KOSPI200 159조원 순매도.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029968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46520" y="2029968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075688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개인 순응매도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633472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연초 이후 109조원 순매수로 하방을 받쳤으나, 반등 시마다 차익실현(상승 시 매도)으로 전환.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4</a:t>
            </a:r>
          </a:p>
        </p:txBody>
      </p:sp>
      <p:pic>
        <p:nvPicPr>
          <p:cNvPr id="26" name="Picture 25" descr="c6_p4상단_수급요인_3패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41648"/>
            <a:ext cx="8869680" cy="2072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20" y="6159408"/>
            <a:ext cx="8869680" cy="16927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00" dirty="0" err="1">
                <a:solidFill>
                  <a:srgbClr val="888888"/>
                </a:solidFill>
              </a:rPr>
              <a:t>자료</a:t>
            </a:r>
            <a:r>
              <a:rPr sz="800" dirty="0">
                <a:solidFill>
                  <a:srgbClr val="888888"/>
                </a:solidFill>
              </a:rPr>
              <a:t>: </a:t>
            </a:r>
            <a:r>
              <a:rPr sz="800" dirty="0" err="1">
                <a:solidFill>
                  <a:srgbClr val="888888"/>
                </a:solidFill>
              </a:rPr>
              <a:t>국민연금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기금운용본부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공시</a:t>
            </a:r>
            <a:r>
              <a:rPr sz="800" dirty="0">
                <a:solidFill>
                  <a:srgbClr val="888888"/>
                </a:solidFill>
              </a:rPr>
              <a:t>, </a:t>
            </a:r>
            <a:r>
              <a:rPr sz="800" dirty="0" err="1">
                <a:solidFill>
                  <a:srgbClr val="888888"/>
                </a:solidFill>
              </a:rPr>
              <a:t>기금운용위원회</a:t>
            </a:r>
            <a:r>
              <a:rPr sz="800" dirty="0">
                <a:solidFill>
                  <a:srgbClr val="888888"/>
                </a:solidFill>
              </a:rPr>
              <a:t>, </a:t>
            </a:r>
            <a:r>
              <a:rPr sz="800" dirty="0" err="1">
                <a:solidFill>
                  <a:srgbClr val="888888"/>
                </a:solidFill>
              </a:rPr>
              <a:t>증권사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자료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취합</a:t>
            </a:r>
            <a:r>
              <a:rPr sz="800" dirty="0">
                <a:solidFill>
                  <a:srgbClr val="888888"/>
                </a:solidFill>
              </a:rPr>
              <a:t>, </a:t>
            </a:r>
            <a:r>
              <a:rPr sz="800" dirty="0" err="1">
                <a:solidFill>
                  <a:srgbClr val="888888"/>
                </a:solidFill>
              </a:rPr>
              <a:t>FnGuide·KRX</a:t>
            </a:r>
            <a:r>
              <a:rPr sz="800" dirty="0">
                <a:solidFill>
                  <a:srgbClr val="888888"/>
                </a:solidFill>
              </a:rPr>
              <a:t> (2026.7.14 </a:t>
            </a:r>
            <a:r>
              <a:rPr sz="800" dirty="0" err="1">
                <a:solidFill>
                  <a:srgbClr val="888888"/>
                </a:solidFill>
              </a:rPr>
              <a:t>기준</a:t>
            </a:r>
            <a:r>
              <a:rPr sz="800" dirty="0">
                <a:solidFill>
                  <a:srgbClr val="888888"/>
                </a:solidFill>
              </a:rPr>
              <a:t>)  |  주: </a:t>
            </a:r>
            <a:r>
              <a:rPr sz="800" dirty="0" err="1">
                <a:solidFill>
                  <a:srgbClr val="888888"/>
                </a:solidFill>
              </a:rPr>
              <a:t>하반기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추정은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기타자산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규모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고정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가정</a:t>
            </a:r>
            <a:endParaRPr sz="800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03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펀드인가 ②-2 — 하방을 받치는 밸류에이션·실적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KOSPI200 12M Fwd PER 5.8배로 '21년 이후 최저권 — 이익 추정치는 사상 최고 수준으로 상향 중입니다.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414" y="1618690"/>
            <a:ext cx="8503920" cy="822960"/>
          </a:xfrm>
          <a:prstGeom prst="rect">
            <a:avLst/>
          </a:prstGeom>
          <a:solidFill>
            <a:srgbClr val="EC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1728216"/>
            <a:ext cx="8138160" cy="6207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dirty="0">
                <a:solidFill>
                  <a:srgbClr val="1F9E6E"/>
                </a:solidFill>
                <a:latin typeface="맑은 고딕"/>
              </a:rPr>
              <a:t>② 하방을 받치는 밸류에이션 및 실적상향: 12M Fwd PER 5.8배('21년 이후 최저권·하위 0.2%) · FY26/27 이익 컨센서스 추가 상향</a:t>
            </a:r>
          </a:p>
          <a:p>
            <a:pPr algn="l">
              <a:lnSpc>
                <a:spcPct val="115000"/>
              </a:lnSpc>
            </a:pPr>
            <a:endParaRPr sz="950" b="0" dirty="0">
              <a:solidFill>
                <a:srgbClr val="84888B"/>
              </a:solidFill>
              <a:latin typeface="맑은 고딕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5800" y="5757197"/>
            <a:ext cx="8503920" cy="438912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877501"/>
            <a:ext cx="8138160" cy="22570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solidFill>
                  <a:srgbClr val="F58220"/>
                </a:solidFill>
                <a:latin typeface="맑은 고딕"/>
              </a:rPr>
              <a:t>→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상방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제한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+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하방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지지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=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등락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반복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→ </a:t>
            </a:r>
            <a:r>
              <a:rPr lang="ko-KR" altLang="en-US" sz="1300" b="1" dirty="0">
                <a:solidFill>
                  <a:srgbClr val="F58220"/>
                </a:solidFill>
                <a:latin typeface="맑은 고딕"/>
              </a:rPr>
              <a:t>방향성 투자에 변동성 수확을 더하자</a:t>
            </a:r>
            <a:r>
              <a:rPr lang="en-US" altLang="ko-KR" sz="1300" b="1" dirty="0">
                <a:solidFill>
                  <a:srgbClr val="F58220"/>
                </a:solidFill>
                <a:latin typeface="맑은 고딕"/>
              </a:rPr>
              <a:t>.</a:t>
            </a:r>
            <a:endParaRPr sz="1300" b="1" dirty="0">
              <a:solidFill>
                <a:srgbClr val="F58220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5</a:t>
            </a:r>
          </a:p>
        </p:txBody>
      </p:sp>
      <p:pic>
        <p:nvPicPr>
          <p:cNvPr id="26" name="Picture 25" descr="c7_p5_밸류_실적_4패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0"/>
            <a:ext cx="8869680" cy="231768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20" y="5134041"/>
            <a:ext cx="8869680" cy="16927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00" dirty="0" err="1">
                <a:solidFill>
                  <a:srgbClr val="888888"/>
                </a:solidFill>
              </a:rPr>
              <a:t>자료</a:t>
            </a:r>
            <a:r>
              <a:rPr sz="800" dirty="0">
                <a:solidFill>
                  <a:srgbClr val="888888"/>
                </a:solidFill>
              </a:rPr>
              <a:t>: </a:t>
            </a:r>
            <a:r>
              <a:rPr sz="800" dirty="0" err="1">
                <a:solidFill>
                  <a:srgbClr val="888888"/>
                </a:solidFill>
              </a:rPr>
              <a:t>FnGuide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DataGuide</a:t>
            </a:r>
            <a:r>
              <a:rPr sz="800" dirty="0">
                <a:solidFill>
                  <a:srgbClr val="888888"/>
                </a:solidFill>
              </a:rPr>
              <a:t>, IBES </a:t>
            </a:r>
            <a:r>
              <a:rPr sz="800" dirty="0" err="1">
                <a:solidFill>
                  <a:srgbClr val="888888"/>
                </a:solidFill>
              </a:rPr>
              <a:t>컨센서스</a:t>
            </a:r>
            <a:r>
              <a:rPr sz="800" dirty="0">
                <a:solidFill>
                  <a:srgbClr val="888888"/>
                </a:solidFill>
              </a:rPr>
              <a:t> (2026.7.14 </a:t>
            </a:r>
            <a:r>
              <a:rPr sz="800" dirty="0" err="1">
                <a:solidFill>
                  <a:srgbClr val="888888"/>
                </a:solidFill>
              </a:rPr>
              <a:t>기준</a:t>
            </a:r>
            <a:r>
              <a:rPr sz="800" dirty="0">
                <a:solidFill>
                  <a:srgbClr val="888888"/>
                </a:solidFill>
              </a:rPr>
              <a:t>, 1개월 전=6/12)  |  주: PER·PBR </a:t>
            </a:r>
            <a:r>
              <a:rPr sz="800" dirty="0" err="1">
                <a:solidFill>
                  <a:srgbClr val="888888"/>
                </a:solidFill>
              </a:rPr>
              <a:t>평균은</a:t>
            </a:r>
            <a:r>
              <a:rPr sz="800" dirty="0">
                <a:solidFill>
                  <a:srgbClr val="888888"/>
                </a:solidFill>
              </a:rPr>
              <a:t> '21년 </a:t>
            </a:r>
            <a:r>
              <a:rPr sz="800" dirty="0" err="1">
                <a:solidFill>
                  <a:srgbClr val="888888"/>
                </a:solidFill>
              </a:rPr>
              <a:t>이후</a:t>
            </a:r>
            <a:r>
              <a:rPr sz="800" dirty="0">
                <a:solidFill>
                  <a:srgbClr val="888888"/>
                </a:solidFill>
              </a:rPr>
              <a:t> · 2Q26 </a:t>
            </a:r>
            <a:r>
              <a:rPr sz="800" dirty="0" err="1">
                <a:solidFill>
                  <a:srgbClr val="888888"/>
                </a:solidFill>
              </a:rPr>
              <a:t>삼성전자는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잠정실적</a:t>
            </a:r>
            <a:r>
              <a:rPr sz="800" dirty="0">
                <a:solidFill>
                  <a:srgbClr val="888888"/>
                </a:solidFill>
              </a:rPr>
              <a:t>(7/7), </a:t>
            </a:r>
            <a:r>
              <a:rPr sz="800" dirty="0" err="1">
                <a:solidFill>
                  <a:srgbClr val="888888"/>
                </a:solidFill>
              </a:rPr>
              <a:t>빗금</a:t>
            </a:r>
            <a:r>
              <a:rPr sz="800" dirty="0">
                <a:solidFill>
                  <a:srgbClr val="888888"/>
                </a:solidFill>
              </a:rPr>
              <a:t>=</a:t>
            </a:r>
            <a:r>
              <a:rPr sz="800" dirty="0" err="1">
                <a:solidFill>
                  <a:srgbClr val="888888"/>
                </a:solidFill>
              </a:rPr>
              <a:t>추정치</a:t>
            </a:r>
            <a:endParaRPr sz="800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88085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266729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58220"/>
                </a:solidFill>
                <a:latin typeface="맑은 고딕"/>
              </a:rPr>
              <a:t>04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84632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>
                <a:solidFill>
                  <a:srgbClr val="043B72"/>
                </a:solidFill>
                <a:latin typeface="맑은 고딕"/>
              </a:rPr>
              <a:t>왜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지금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이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펀드인가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③ —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레버리지가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키운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변동성</a:t>
            </a:r>
            <a:endParaRPr sz="2300" b="1" dirty="0">
              <a:solidFill>
                <a:srgbClr val="043B72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070184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3A3A3A"/>
                </a:solidFill>
                <a:latin typeface="맑은 고딕"/>
              </a:rPr>
              <a:t>국내·해외(홍콩 CSOP 등) 레버리지 ETF 약 40조원(6/30 기준)이 삼성전자·SK하이닉스와 지수 변동성을 구조적으로 키우고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224528"/>
            <a:ext cx="8503920" cy="190195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8138160" cy="22570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043B72"/>
                </a:solidFill>
                <a:latin typeface="맑은 고딕"/>
              </a:rPr>
              <a:t>변동성이</a:t>
            </a:r>
            <a:r>
              <a:rPr sz="1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맑은 고딕"/>
              </a:rPr>
              <a:t>변동성을</a:t>
            </a:r>
            <a:r>
              <a:rPr sz="1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맑은 고딕"/>
              </a:rPr>
              <a:t>부르는</a:t>
            </a:r>
            <a:r>
              <a:rPr sz="1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맑은 고딕"/>
              </a:rPr>
              <a:t>되먹임</a:t>
            </a:r>
            <a:r>
              <a:rPr sz="1300" b="1" dirty="0">
                <a:solidFill>
                  <a:srgbClr val="043B72"/>
                </a:solidFill>
                <a:latin typeface="맑은 고딕"/>
              </a:rPr>
              <a:t> — 두 </a:t>
            </a:r>
            <a:r>
              <a:rPr sz="1300" b="1" dirty="0" err="1">
                <a:solidFill>
                  <a:srgbClr val="043B72"/>
                </a:solidFill>
                <a:latin typeface="맑은 고딕"/>
              </a:rPr>
              <a:t>종목이</a:t>
            </a:r>
            <a:r>
              <a:rPr sz="1300" b="1" dirty="0">
                <a:solidFill>
                  <a:srgbClr val="043B72"/>
                </a:solidFill>
                <a:latin typeface="맑은 고딕"/>
              </a:rPr>
              <a:t> KOSPI200의 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65.6%</a:t>
            </a:r>
            <a:r>
              <a:rPr sz="1200" b="0" dirty="0">
                <a:solidFill>
                  <a:srgbClr val="3A3A3A"/>
                </a:solidFill>
                <a:latin typeface="맑은 고딕"/>
              </a:rPr>
              <a:t> (6/30 KRX · </a:t>
            </a:r>
            <a:r>
              <a:rPr sz="1200" b="0" dirty="0" err="1">
                <a:solidFill>
                  <a:srgbClr val="3A3A3A"/>
                </a:solidFill>
                <a:latin typeface="맑은 고딕"/>
              </a:rPr>
              <a:t>연초</a:t>
            </a:r>
            <a:r>
              <a:rPr sz="1200" b="0" dirty="0">
                <a:solidFill>
                  <a:srgbClr val="3A3A3A"/>
                </a:solidFill>
                <a:latin typeface="맑은 고딕"/>
              </a:rPr>
              <a:t> 38.7% → </a:t>
            </a:r>
            <a:r>
              <a:rPr lang="en-US" sz="1200" b="0" dirty="0">
                <a:solidFill>
                  <a:srgbClr val="3A3A3A"/>
                </a:solidFill>
                <a:latin typeface="맑은 고딕"/>
              </a:rPr>
              <a:t>6</a:t>
            </a:r>
            <a:r>
              <a:rPr sz="1200" b="0" dirty="0">
                <a:solidFill>
                  <a:srgbClr val="3A3A3A"/>
                </a:solidFill>
                <a:latin typeface="맑은 고딕"/>
              </a:rPr>
              <a:t>/</a:t>
            </a:r>
            <a:r>
              <a:rPr lang="en-US" sz="1200" b="0" dirty="0">
                <a:solidFill>
                  <a:srgbClr val="3A3A3A"/>
                </a:solidFill>
                <a:latin typeface="맑은 고딕"/>
              </a:rPr>
              <a:t>30</a:t>
            </a:r>
            <a:r>
              <a:rPr sz="12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lang="en-US" sz="1200" b="0" dirty="0">
                <a:solidFill>
                  <a:srgbClr val="3A3A3A"/>
                </a:solidFill>
                <a:latin typeface="맑은 고딕"/>
              </a:rPr>
              <a:t>65.6</a:t>
            </a:r>
            <a:r>
              <a:rPr sz="1200" b="0" dirty="0">
                <a:solidFill>
                  <a:srgbClr val="3A3A3A"/>
                </a:solidFill>
                <a:latin typeface="맑은 고딕"/>
              </a:rPr>
              <a:t>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① 지수·종목 흔들림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5220805"/>
            <a:ext cx="256032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F58220"/>
                </a:solidFill>
                <a:latin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666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② 지수의 절반인
두 종목 급등락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5216191"/>
            <a:ext cx="256032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F58220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9784" y="5026461"/>
            <a:ext cx="1737360" cy="69127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dirty="0">
                <a:solidFill>
                  <a:srgbClr val="043B72"/>
                </a:solidFill>
                <a:latin typeface="맑은 고딕"/>
              </a:rPr>
              <a:t>③ </a:t>
            </a:r>
            <a:r>
              <a:rPr sz="1050" b="1" dirty="0" err="1">
                <a:solidFill>
                  <a:srgbClr val="043B72"/>
                </a:solidFill>
                <a:latin typeface="맑은 고딕"/>
              </a:rPr>
              <a:t>레버리지</a:t>
            </a:r>
            <a:r>
              <a:rPr sz="105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043B72"/>
                </a:solidFill>
                <a:latin typeface="맑은 고딕"/>
              </a:rPr>
              <a:t>종가</a:t>
            </a:r>
            <a:r>
              <a:rPr sz="1050" b="1" dirty="0">
                <a:solidFill>
                  <a:srgbClr val="043B72"/>
                </a:solidFill>
                <a:latin typeface="맑은 고딕"/>
              </a:rPr>
              <a:t>
</a:t>
            </a:r>
            <a:r>
              <a:rPr sz="1050" b="1" dirty="0" err="1">
                <a:solidFill>
                  <a:srgbClr val="043B72"/>
                </a:solidFill>
                <a:latin typeface="맑은 고딕"/>
              </a:rPr>
              <a:t>순응매매</a:t>
            </a:r>
            <a:r>
              <a:rPr sz="1050" b="1" dirty="0">
                <a:solidFill>
                  <a:srgbClr val="043B72"/>
                </a:solidFill>
                <a:latin typeface="맑은 고딕"/>
              </a:rPr>
              <a:t>(±10%→</a:t>
            </a:r>
            <a:r>
              <a:rPr sz="1050" b="1" dirty="0" err="1">
                <a:solidFill>
                  <a:srgbClr val="043B72"/>
                </a:solidFill>
                <a:latin typeface="맑은 고딕"/>
              </a:rPr>
              <a:t>약</a:t>
            </a:r>
            <a:r>
              <a:rPr sz="1050" b="1" dirty="0">
                <a:solidFill>
                  <a:srgbClr val="043B72"/>
                </a:solidFill>
                <a:latin typeface="맑은 고딕"/>
              </a:rPr>
              <a:t> 8조</a:t>
            </a:r>
            <a:r>
              <a:rPr lang="ko-KR" altLang="en-US" sz="1050" b="1" dirty="0">
                <a:solidFill>
                  <a:srgbClr val="043B72"/>
                </a:solidFill>
                <a:latin typeface="맑은 고딕"/>
              </a:rPr>
              <a:t>로 방향성 강화</a:t>
            </a:r>
            <a:r>
              <a:rPr sz="1050" b="1" dirty="0">
                <a:solidFill>
                  <a:srgbClr val="043B72"/>
                </a:solidFill>
                <a:latin typeface="맑은 고딕"/>
              </a:rPr>
              <a:t>)</a:t>
            </a:r>
            <a:r>
              <a:rPr lang="ko-KR" altLang="en-US" sz="1050" b="1" dirty="0">
                <a:solidFill>
                  <a:srgbClr val="043B72"/>
                </a:solidFill>
                <a:latin typeface="맑은 고딕"/>
              </a:rPr>
              <a:t> 종목변동성확대</a:t>
            </a:r>
            <a:endParaRPr sz="1050" b="1" dirty="0">
              <a:solidFill>
                <a:srgbClr val="043B72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22008" y="5166360"/>
            <a:ext cx="256032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F58220"/>
                </a:solidFill>
                <a:latin typeface="맑은 고딕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3290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④ 지수 변동성
재확대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6</a:t>
            </a:r>
          </a:p>
        </p:txBody>
      </p:sp>
      <p:pic>
        <p:nvPicPr>
          <p:cNvPr id="24" name="Picture 23" descr="slide5_lef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384"/>
            <a:ext cx="4160520" cy="2558699"/>
          </a:xfrm>
          <a:prstGeom prst="rect">
            <a:avLst/>
          </a:prstGeom>
        </p:spPr>
      </p:pic>
      <p:pic>
        <p:nvPicPr>
          <p:cNvPr id="25" name="Picture 24" descr="slide5_right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0257"/>
            <a:ext cx="4160520" cy="2558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24612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58220"/>
                </a:solidFill>
                <a:latin typeface="맑은 고딕"/>
              </a:rPr>
              <a:t>05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8932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 err="1">
                <a:solidFill>
                  <a:srgbClr val="043B72"/>
                </a:solidFill>
                <a:latin typeface="맑은 고딕"/>
              </a:rPr>
              <a:t>레버리지의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'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잠식'을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우리는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'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수확'으로</a:t>
            </a:r>
            <a:endParaRPr sz="2300" b="1" dirty="0">
              <a:solidFill>
                <a:srgbClr val="043B72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014984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3A3A3A"/>
                </a:solidFill>
                <a:latin typeface="맑은 고딕"/>
              </a:rPr>
              <a:t>같은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변동성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,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정반대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매매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레버리지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ETF가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'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잃는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'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그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변동성을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본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펀드는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'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수익'으로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전환합니다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417320"/>
            <a:ext cx="4069080" cy="1280160"/>
          </a:xfrm>
          <a:prstGeom prst="rect">
            <a:avLst/>
          </a:prstGeom>
          <a:solidFill>
            <a:srgbClr val="F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0" y="1417320"/>
            <a:ext cx="4069080" cy="457200"/>
          </a:xfrm>
          <a:prstGeom prst="rect">
            <a:avLst/>
          </a:prstGeom>
          <a:solidFill>
            <a:srgbClr val="D02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1444752"/>
            <a:ext cx="384048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레버리지 ETF — 변동성에 '잠식'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1965960"/>
            <a:ext cx="3749039" cy="4113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dirty="0" err="1">
                <a:solidFill>
                  <a:srgbClr val="3A3A3A"/>
                </a:solidFill>
                <a:latin typeface="맑은 고딕"/>
              </a:rPr>
              <a:t>매일</a:t>
            </a:r>
            <a:r>
              <a:rPr sz="115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3A3A3A"/>
                </a:solidFill>
                <a:latin typeface="맑은 고딕"/>
              </a:rPr>
              <a:t>고가매수·저가매도</a:t>
            </a:r>
            <a:r>
              <a:rPr sz="1150" b="1" dirty="0">
                <a:solidFill>
                  <a:srgbClr val="3A3A3A"/>
                </a:solidFill>
                <a:latin typeface="맑은 고딕"/>
              </a:rPr>
              <a:t>(</a:t>
            </a:r>
            <a:r>
              <a:rPr sz="1150" b="1" dirty="0" err="1">
                <a:solidFill>
                  <a:srgbClr val="3A3A3A"/>
                </a:solidFill>
                <a:latin typeface="맑은 고딕"/>
              </a:rPr>
              <a:t>추세</a:t>
            </a:r>
            <a:r>
              <a:rPr sz="115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3A3A3A"/>
                </a:solidFill>
                <a:latin typeface="맑은 고딕"/>
              </a:rPr>
              <a:t>순응</a:t>
            </a:r>
            <a:r>
              <a:rPr sz="115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3A3A3A"/>
                </a:solidFill>
                <a:latin typeface="맑은 고딕"/>
              </a:rPr>
              <a:t>리밸런싱</a:t>
            </a:r>
            <a:r>
              <a:rPr sz="1150" b="1" dirty="0">
                <a:solidFill>
                  <a:srgbClr val="3A3A3A"/>
                </a:solidFill>
                <a:latin typeface="맑은 고딕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100" b="0" dirty="0">
                <a:solidFill>
                  <a:srgbClr val="3A3A3A"/>
                </a:solidFill>
                <a:latin typeface="맑은 고딕"/>
              </a:rPr>
              <a:t>→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변동성이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클수록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자산이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녹는다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761488"/>
            <a:ext cx="40690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▼ 정반대 매매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108960"/>
            <a:ext cx="4069080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0" y="3108960"/>
            <a:ext cx="40690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3136392"/>
            <a:ext cx="384048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변동성 하베스트 펀드 — 변동성을 '수확'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3657600"/>
            <a:ext cx="3749039" cy="405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dirty="0" err="1">
                <a:solidFill>
                  <a:srgbClr val="043B72"/>
                </a:solidFill>
                <a:latin typeface="맑은 고딕"/>
              </a:rPr>
              <a:t>주가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↓ </a:t>
            </a:r>
            <a:r>
              <a:rPr sz="1150" b="1" dirty="0" err="1">
                <a:solidFill>
                  <a:srgbClr val="043B72"/>
                </a:solidFill>
                <a:latin typeface="맑은 고딕"/>
              </a:rPr>
              <a:t>비중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↑(</a:t>
            </a:r>
            <a:r>
              <a:rPr sz="1150" b="1" dirty="0" err="1">
                <a:solidFill>
                  <a:srgbClr val="043B72"/>
                </a:solidFill>
                <a:latin typeface="맑은 고딕"/>
              </a:rPr>
              <a:t>저가매수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)</a:t>
            </a:r>
            <a:r>
              <a:rPr lang="ko-KR" altLang="en-US" sz="115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·</a:t>
            </a:r>
            <a:r>
              <a:rPr lang="ko-KR" altLang="en-US" sz="1150" b="1" dirty="0">
                <a:solidFill>
                  <a:srgbClr val="043B72"/>
                </a:solidFill>
                <a:latin typeface="맑은 고딕"/>
              </a:rPr>
              <a:t>  </a:t>
            </a:r>
            <a:r>
              <a:rPr sz="1150" b="1" dirty="0" err="1">
                <a:solidFill>
                  <a:srgbClr val="043B72"/>
                </a:solidFill>
                <a:latin typeface="맑은 고딕"/>
              </a:rPr>
              <a:t>주가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↑ </a:t>
            </a:r>
            <a:r>
              <a:rPr sz="1150" b="1" dirty="0" err="1">
                <a:solidFill>
                  <a:srgbClr val="043B72"/>
                </a:solidFill>
                <a:latin typeface="맑은 고딕"/>
              </a:rPr>
              <a:t>비중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↓(</a:t>
            </a:r>
            <a:r>
              <a:rPr sz="1150" b="1" dirty="0" err="1">
                <a:solidFill>
                  <a:srgbClr val="043B72"/>
                </a:solidFill>
                <a:latin typeface="맑은 고딕"/>
              </a:rPr>
              <a:t>고가매도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100" b="0" dirty="0">
                <a:solidFill>
                  <a:srgbClr val="3A3A3A"/>
                </a:solidFill>
                <a:latin typeface="맑은 고딕"/>
              </a:rPr>
              <a:t>→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확대된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변동성을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매매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수익으로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전환</a:t>
            </a:r>
            <a:endParaRPr sz="1100" b="0" dirty="0">
              <a:solidFill>
                <a:srgbClr val="3A3A3A"/>
              </a:solidFill>
              <a:latin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5074920"/>
            <a:ext cx="8503920" cy="96012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81381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dirty="0" err="1">
                <a:solidFill>
                  <a:srgbClr val="F58220"/>
                </a:solidFill>
                <a:latin typeface="맑은 고딕"/>
              </a:rPr>
              <a:t>핵심</a:t>
            </a:r>
            <a:r>
              <a:rPr sz="1400" b="1" dirty="0">
                <a:solidFill>
                  <a:srgbClr val="F58220"/>
                </a:solidFill>
                <a:latin typeface="맑은 고딕"/>
              </a:rPr>
              <a:t>: </a:t>
            </a:r>
            <a:r>
              <a:rPr sz="1400" b="1" dirty="0" err="1">
                <a:solidFill>
                  <a:srgbClr val="F58220"/>
                </a:solidFill>
                <a:latin typeface="맑은 고딕"/>
              </a:rPr>
              <a:t>레버리지가</a:t>
            </a:r>
            <a:r>
              <a:rPr sz="1400" b="1" dirty="0">
                <a:solidFill>
                  <a:srgbClr val="F58220"/>
                </a:solidFill>
                <a:latin typeface="맑은 고딕"/>
              </a:rPr>
              <a:t> '</a:t>
            </a:r>
            <a:r>
              <a:rPr sz="1400" b="1" dirty="0" err="1">
                <a:solidFill>
                  <a:srgbClr val="F58220"/>
                </a:solidFill>
                <a:latin typeface="맑은 고딕"/>
              </a:rPr>
              <a:t>잃는</a:t>
            </a:r>
            <a:r>
              <a:rPr sz="1400" b="1" dirty="0">
                <a:solidFill>
                  <a:srgbClr val="F58220"/>
                </a:solidFill>
                <a:latin typeface="맑은 고딕"/>
              </a:rPr>
              <a:t>' </a:t>
            </a:r>
            <a:r>
              <a:rPr sz="1400" b="1" dirty="0" err="1">
                <a:solidFill>
                  <a:srgbClr val="F58220"/>
                </a:solidFill>
                <a:latin typeface="맑은 고딕"/>
              </a:rPr>
              <a:t>바로</a:t>
            </a:r>
            <a:r>
              <a:rPr sz="1400" b="1" dirty="0">
                <a:solidFill>
                  <a:srgbClr val="F58220"/>
                </a:solidFill>
                <a:latin typeface="맑은 고딕"/>
              </a:rPr>
              <a:t> 그 </a:t>
            </a:r>
            <a:r>
              <a:rPr sz="1400" b="1" dirty="0" err="1">
                <a:solidFill>
                  <a:srgbClr val="F58220"/>
                </a:solidFill>
                <a:latin typeface="맑은 고딕"/>
              </a:rPr>
              <a:t>변동성을</a:t>
            </a:r>
            <a:r>
              <a:rPr sz="1400" b="1" dirty="0">
                <a:solidFill>
                  <a:srgbClr val="F58220"/>
                </a:solidFill>
                <a:latin typeface="맑은 고딕"/>
              </a:rPr>
              <a:t>, 본 </a:t>
            </a:r>
            <a:r>
              <a:rPr sz="1400" b="1" dirty="0" err="1">
                <a:solidFill>
                  <a:srgbClr val="F58220"/>
                </a:solidFill>
                <a:latin typeface="맑은 고딕"/>
              </a:rPr>
              <a:t>펀드는</a:t>
            </a:r>
            <a:r>
              <a:rPr sz="1400" b="1" dirty="0">
                <a:solidFill>
                  <a:srgbClr val="F58220"/>
                </a:solidFill>
                <a:latin typeface="맑은 고딕"/>
              </a:rPr>
              <a:t> '</a:t>
            </a:r>
            <a:r>
              <a:rPr sz="1400" b="1" dirty="0" err="1">
                <a:solidFill>
                  <a:srgbClr val="F58220"/>
                </a:solidFill>
                <a:latin typeface="맑은 고딕"/>
              </a:rPr>
              <a:t>수확'한다</a:t>
            </a:r>
            <a:r>
              <a:rPr sz="1400" b="1" dirty="0">
                <a:solidFill>
                  <a:srgbClr val="F58220"/>
                </a:solidFill>
                <a:latin typeface="맑은 고딕"/>
              </a:rPr>
              <a:t>.</a:t>
            </a:r>
          </a:p>
          <a:p>
            <a:pPr algn="l">
              <a:lnSpc>
                <a:spcPct val="125000"/>
              </a:lnSpc>
            </a:pPr>
            <a:r>
              <a:rPr sz="1200" b="1" dirty="0" err="1">
                <a:solidFill>
                  <a:srgbClr val="3A3A3A"/>
                </a:solidFill>
                <a:latin typeface="맑은 고딕"/>
              </a:rPr>
              <a:t>변동성이</a:t>
            </a:r>
            <a:r>
              <a:rPr sz="12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3A3A3A"/>
                </a:solidFill>
                <a:latin typeface="맑은 고딕"/>
              </a:rPr>
              <a:t>클수록</a:t>
            </a:r>
            <a:r>
              <a:rPr sz="1200" b="1" dirty="0">
                <a:solidFill>
                  <a:srgbClr val="3A3A3A"/>
                </a:solidFill>
                <a:latin typeface="맑은 고딕"/>
              </a:rPr>
              <a:t>(=</a:t>
            </a:r>
            <a:r>
              <a:rPr sz="1200" b="1" dirty="0" err="1">
                <a:solidFill>
                  <a:srgbClr val="3A3A3A"/>
                </a:solidFill>
                <a:latin typeface="맑은 고딕"/>
              </a:rPr>
              <a:t>잠식이</a:t>
            </a:r>
            <a:r>
              <a:rPr sz="12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3A3A3A"/>
                </a:solidFill>
                <a:latin typeface="맑은 고딕"/>
              </a:rPr>
              <a:t>클수록</a:t>
            </a:r>
            <a:r>
              <a:rPr sz="1200" b="1" dirty="0">
                <a:solidFill>
                  <a:srgbClr val="3A3A3A"/>
                </a:solidFill>
                <a:latin typeface="맑은 고딕"/>
              </a:rPr>
              <a:t>) 본 </a:t>
            </a:r>
            <a:r>
              <a:rPr sz="1200" b="1" dirty="0" err="1">
                <a:solidFill>
                  <a:srgbClr val="3A3A3A"/>
                </a:solidFill>
                <a:latin typeface="맑은 고딕"/>
              </a:rPr>
              <a:t>펀드의</a:t>
            </a:r>
            <a:r>
              <a:rPr sz="12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3A3A3A"/>
                </a:solidFill>
                <a:latin typeface="맑은 고딕"/>
              </a:rPr>
              <a:t>수익</a:t>
            </a:r>
            <a:r>
              <a:rPr sz="12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3A3A3A"/>
                </a:solidFill>
                <a:latin typeface="맑은 고딕"/>
              </a:rPr>
              <a:t>기회는</a:t>
            </a:r>
            <a:r>
              <a:rPr sz="12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3A3A3A"/>
                </a:solidFill>
                <a:latin typeface="맑은 고딕"/>
              </a:rPr>
              <a:t>오히려</a:t>
            </a:r>
            <a:r>
              <a:rPr sz="12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3A3A3A"/>
                </a:solidFill>
                <a:latin typeface="맑은 고딕"/>
              </a:rPr>
              <a:t>커진다</a:t>
            </a:r>
            <a:r>
              <a:rPr sz="1200" b="1" dirty="0">
                <a:solidFill>
                  <a:srgbClr val="3A3A3A"/>
                </a:solidFill>
                <a:latin typeface="맑은 고딕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7</a:t>
            </a:r>
          </a:p>
        </p:txBody>
      </p:sp>
      <p:pic>
        <p:nvPicPr>
          <p:cNvPr id="21" name="Picture 20" descr="lev_rebal_hyn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26280" cy="3648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5040056"/>
            <a:ext cx="4526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dirty="0" err="1">
                <a:solidFill>
                  <a:srgbClr val="043B72"/>
                </a:solidFill>
                <a:latin typeface="맑은 고딕"/>
              </a:rPr>
              <a:t>데이터</a:t>
            </a:r>
            <a:r>
              <a:rPr sz="95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950" b="1" dirty="0" err="1">
                <a:solidFill>
                  <a:srgbClr val="043B72"/>
                </a:solidFill>
                <a:latin typeface="맑은 고딕"/>
              </a:rPr>
              <a:t>기준일</a:t>
            </a:r>
            <a:r>
              <a:rPr sz="950" b="1" dirty="0">
                <a:solidFill>
                  <a:srgbClr val="043B72"/>
                </a:solidFill>
                <a:latin typeface="맑은 고딕"/>
              </a:rPr>
              <a:t>: 2026-07-15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58220"/>
                </a:solidFill>
                <a:latin typeface="맑은 고딕"/>
              </a:rPr>
              <a:t>0</a:t>
            </a:r>
            <a:r>
              <a:rPr lang="en-US" altLang="ko-KR" sz="1200" b="1" dirty="0">
                <a:solidFill>
                  <a:srgbClr val="F58220"/>
                </a:solidFill>
                <a:latin typeface="맑은 고딕"/>
              </a:rPr>
              <a:t>6</a:t>
            </a:r>
            <a:r>
              <a:rPr sz="1200" b="1" dirty="0">
                <a:solidFill>
                  <a:srgbClr val="F58220"/>
                </a:solidFill>
                <a:latin typeface="맑은 고딕"/>
              </a:rPr>
              <a:t> 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전략 — 변동성 매매 + 방향 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8595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변동성이 높아 매매 기회는 많고, 방향은 위(상승 참여)라는 두 관점을 하나의 포트폴리오에 결합.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822960" cy="105156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822960" cy="1051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196596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075688"/>
            <a:ext cx="722376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43B72"/>
                </a:solidFill>
                <a:latin typeface="맑은 고딕"/>
              </a:rPr>
              <a:t>변동성 매매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저가매수·고가매도를 반복하여 높아진 변동성을 수익으로 전환.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00400"/>
            <a:ext cx="822960" cy="10515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822960" cy="1051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20040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83080" y="3507319"/>
            <a:ext cx="7223760" cy="4742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 err="1">
                <a:solidFill>
                  <a:srgbClr val="F58220"/>
                </a:solidFill>
                <a:latin typeface="맑은 고딕"/>
              </a:rPr>
              <a:t>방향</a:t>
            </a:r>
            <a:r>
              <a:rPr sz="1400" b="1" dirty="0">
                <a:solidFill>
                  <a:srgbClr val="F5822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F58220"/>
                </a:solidFill>
                <a:latin typeface="맑은 고딕"/>
              </a:rPr>
              <a:t>투자</a:t>
            </a:r>
            <a:endParaRPr sz="1400" b="1" dirty="0">
              <a:solidFill>
                <a:srgbClr val="F58220"/>
              </a:solidFill>
              <a:latin typeface="맑은 고딕"/>
            </a:endParaRPr>
          </a:p>
          <a:p>
            <a:pPr algn="l">
              <a:lnSpc>
                <a:spcPct val="115000"/>
              </a:lnSpc>
            </a:pPr>
            <a:r>
              <a:rPr sz="1250" b="0" dirty="0" err="1">
                <a:solidFill>
                  <a:srgbClr val="3A3A3A"/>
                </a:solidFill>
                <a:latin typeface="맑은 고딕"/>
              </a:rPr>
              <a:t>상승</a:t>
            </a:r>
            <a:r>
              <a:rPr sz="12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3A3A3A"/>
                </a:solidFill>
                <a:latin typeface="맑은 고딕"/>
              </a:rPr>
              <a:t>구간</a:t>
            </a:r>
            <a:r>
              <a:rPr sz="12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3A3A3A"/>
                </a:solidFill>
                <a:latin typeface="맑은 고딕"/>
              </a:rPr>
              <a:t>추가</a:t>
            </a:r>
            <a:r>
              <a:rPr sz="12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3A3A3A"/>
                </a:solidFill>
                <a:latin typeface="맑은 고딕"/>
              </a:rPr>
              <a:t>수익</a:t>
            </a:r>
            <a:r>
              <a:rPr sz="1250" b="0" dirty="0">
                <a:solidFill>
                  <a:srgbClr val="3A3A3A"/>
                </a:solidFill>
                <a:latin typeface="맑은 고딕"/>
              </a:rPr>
              <a:t>. </a:t>
            </a:r>
            <a:r>
              <a:rPr sz="1250" b="0" dirty="0" err="1">
                <a:solidFill>
                  <a:srgbClr val="3A3A3A"/>
                </a:solidFill>
                <a:latin typeface="맑은 고딕"/>
              </a:rPr>
              <a:t>실적</a:t>
            </a:r>
            <a:r>
              <a:rPr lang="ko-KR" altLang="en-US" sz="1250" b="0" dirty="0">
                <a:solidFill>
                  <a:srgbClr val="3A3A3A"/>
                </a:solidFill>
                <a:latin typeface="맑은 고딕"/>
              </a:rPr>
              <a:t>상향으로 인해 상승 투자 여전히 유효</a:t>
            </a:r>
            <a:r>
              <a:rPr sz="1250" b="0" dirty="0">
                <a:solidFill>
                  <a:srgbClr val="3A3A3A"/>
                </a:solidFill>
                <a:latin typeface="맑은 고딕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434840"/>
            <a:ext cx="822960" cy="1051560"/>
          </a:xfrm>
          <a:prstGeom prst="rect">
            <a:avLst/>
          </a:prstGeom>
          <a:solidFill>
            <a:srgbClr val="00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822960" cy="1051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43484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3080" y="4544568"/>
            <a:ext cx="722376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A9CE"/>
                </a:solidFill>
                <a:latin typeface="맑은 고딕"/>
              </a:rPr>
              <a:t>시스템 운용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미래에셋 QPMS Vol Trading 시스템을 통해 검증된 운용.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5740"/>
            <a:ext cx="82296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58220"/>
                </a:solidFill>
                <a:latin typeface="맑은 고딕"/>
              </a:rPr>
              <a:t>0</a:t>
            </a:r>
            <a:r>
              <a:rPr lang="en-US" altLang="ko-KR" sz="1200" b="1" dirty="0">
                <a:solidFill>
                  <a:srgbClr val="F58220"/>
                </a:solidFill>
                <a:latin typeface="맑은 고딕"/>
              </a:rPr>
              <a:t>7</a:t>
            </a:r>
            <a:r>
              <a:rPr sz="1200" b="1" dirty="0">
                <a:solidFill>
                  <a:srgbClr val="F58220"/>
                </a:solidFill>
                <a:latin typeface="맑은 고딕"/>
              </a:rPr>
              <a:t> 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 err="1">
                <a:solidFill>
                  <a:srgbClr val="043B72"/>
                </a:solidFill>
                <a:latin typeface="맑은 고딕"/>
              </a:rPr>
              <a:t>어떻게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운용하는가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—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저가매수·고가매도</a:t>
            </a:r>
            <a:endParaRPr sz="2300" b="1" dirty="0">
              <a:solidFill>
                <a:srgbClr val="043B72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3A3A3A"/>
                </a:solidFill>
                <a:latin typeface="맑은 고딕"/>
              </a:rPr>
              <a:t>시장이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빠지면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편입을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늘리고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저가매수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),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오르면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줄인다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고가매도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).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등락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변동성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)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을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매매로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수취합니다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8503920" cy="54864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81381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→ 레버리지 ETF의 '고가매수·저가매도'와 정반대 — 변동성을 잃지 않고 '수취'하는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9</a:t>
            </a:r>
          </a:p>
        </p:txBody>
      </p:sp>
      <p:pic>
        <p:nvPicPr>
          <p:cNvPr id="12" name="Picture 11" descr="op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503920" cy="42080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342021"/>
            <a:ext cx="82296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58220"/>
                </a:solidFill>
                <a:latin typeface="맑은 고딕"/>
              </a:rPr>
              <a:t>0</a:t>
            </a:r>
            <a:r>
              <a:rPr lang="en-US" altLang="ko-KR" sz="1200" b="1" dirty="0">
                <a:solidFill>
                  <a:srgbClr val="F58220"/>
                </a:solidFill>
                <a:latin typeface="맑은 고딕"/>
              </a:rPr>
              <a:t>8</a:t>
            </a:r>
            <a:r>
              <a:rPr sz="1200" b="1" dirty="0">
                <a:solidFill>
                  <a:srgbClr val="F58220"/>
                </a:solidFill>
                <a:latin typeface="맑은 고딕"/>
              </a:rPr>
              <a:t> 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328"/>
            <a:ext cx="8686800" cy="37959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 err="1">
                <a:solidFill>
                  <a:srgbClr val="043B72"/>
                </a:solidFill>
                <a:latin typeface="맑은 고딕"/>
              </a:rPr>
              <a:t>수익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구조</a:t>
            </a:r>
            <a:r>
              <a:rPr lang="en-US" altLang="ko-KR" sz="2300" b="1" dirty="0">
                <a:solidFill>
                  <a:srgbClr val="043B72"/>
                </a:solidFill>
                <a:latin typeface="맑은 고딕"/>
              </a:rPr>
              <a:t>1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—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성장변동성펀드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(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변동성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매매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+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상승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참여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3A3A"/>
                </a:solidFill>
                <a:latin typeface="맑은 고딕"/>
              </a:rPr>
              <a:t>운용 중 -40% 미도달 시 상승에 참여, -40% 도달 시 하방에 노출됩니다. 시뮬레이션 결과(각 점=1회).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04936"/>
            <a:ext cx="8595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dirty="0" err="1">
                <a:solidFill>
                  <a:srgbClr val="84888B"/>
                </a:solidFill>
                <a:latin typeface="맑은 고딕"/>
              </a:rPr>
              <a:t>변동성 60% · 복제비율 110% 가정 · 점=시뮬 1회 · 노란선=구간 평균 · 데이터: 자체 시뮬레이션(거래비용·운용오차 포함)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318819"/>
            <a:ext cx="8503920" cy="73152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373683"/>
            <a:ext cx="8138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300" b="1" dirty="0">
                <a:solidFill>
                  <a:srgbClr val="F58220"/>
                </a:solidFill>
                <a:latin typeface="맑은 고딕"/>
              </a:rPr>
              <a:t>※ -40%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도달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시에는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상승에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따른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수익을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수취하기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위해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변동성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매매를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수행하지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않으며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,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주식형과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유사하게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운용됩니다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.</a:t>
            </a:r>
          </a:p>
        </p:txBody>
      </p:sp>
      <p:pic>
        <p:nvPicPr>
          <p:cNvPr id="16" name="Picture 15" descr="scat_top2_growth_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1"/>
            <a:ext cx="4526280" cy="3650039"/>
          </a:xfrm>
          <a:prstGeom prst="rect">
            <a:avLst/>
          </a:prstGeom>
        </p:spPr>
      </p:pic>
      <p:pic>
        <p:nvPicPr>
          <p:cNvPr id="17" name="Picture 16" descr="scat_top2_growth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17321"/>
            <a:ext cx="4526280" cy="36500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83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08 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지수대별 실제 편입비·예상수익률 — 성장변동성펀드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3A3A"/>
                </a:solidFill>
                <a:latin typeface="맑은 고딕"/>
              </a:rPr>
              <a:t>리밸런싱일 지수=100 기준 · 잔존만기별 편입비와 원금 대비 예상수익률 · 최대 편입비 180%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4389120" cy="3017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8220"/>
                </a:solidFill>
                <a:latin typeface="맑은 고딕"/>
              </a:rPr>
              <a:t>실제 편입비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4389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지수 / 잔존만기</a:t>
                      </a:r>
                    </a:p>
                  </a:txBody>
                  <a:tcPr marL="38100" marR="38100" marT="12700" marB="12700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12개월</a:t>
                      </a:r>
                    </a:p>
                  </a:txBody>
                  <a:tcPr marL="38100" marR="38100" marT="12700" marB="12700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9개월</a:t>
                      </a:r>
                    </a:p>
                  </a:txBody>
                  <a:tcPr marL="38100" marR="38100" marT="12700" marB="12700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6개월</a:t>
                      </a:r>
                    </a:p>
                  </a:txBody>
                  <a:tcPr marL="38100" marR="38100" marT="12700" marB="12700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3개월</a:t>
                      </a:r>
                    </a:p>
                  </a:txBody>
                  <a:tcPr marL="38100" marR="38100" marT="12700" marB="12700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140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36%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36%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36%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38%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130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41%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42%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42%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43%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120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47%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48%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49%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47%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53%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56%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57%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53%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60%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64%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67%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61%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68%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73%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79%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77%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80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76%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83%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93%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102%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70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84%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93%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106%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134%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82%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86%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91%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96%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166360" y="1783080"/>
            <a:ext cx="4389120" cy="3017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8220"/>
                </a:solidFill>
                <a:latin typeface="맑은 고딕"/>
              </a:rPr>
              <a:t>예상수익률</a:t>
            </a:r>
            <a:r>
              <a:rPr sz="1000" b="0">
                <a:solidFill>
                  <a:srgbClr val="84888B"/>
                </a:solidFill>
                <a:latin typeface="맑은 고딕"/>
              </a:rPr>
              <a:t>  (원금 대비 · </a:t>
            </a:r>
            <a:r>
              <a:rPr sz="1000" b="1">
                <a:solidFill>
                  <a:srgbClr val="F58220"/>
                </a:solidFill>
                <a:latin typeface="맑은 고딕"/>
              </a:rPr>
              <a:t>15% 이상 음영</a:t>
            </a:r>
            <a:r>
              <a:rPr sz="1000" b="0">
                <a:solidFill>
                  <a:srgbClr val="84888B"/>
                </a:solidFill>
                <a:latin typeface="맑은 고딕"/>
              </a:rPr>
              <a:t>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66360" y="2103120"/>
          <a:ext cx="4343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지수 / 잔존만기</a:t>
                      </a:r>
                    </a:p>
                  </a:txBody>
                  <a:tcPr marL="38100" marR="38100" marT="12700" marB="12700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12개월</a:t>
                      </a:r>
                    </a:p>
                  </a:txBody>
                  <a:tcPr marL="38100" marR="38100" marT="12700" marB="12700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9개월</a:t>
                      </a:r>
                    </a:p>
                  </a:txBody>
                  <a:tcPr marL="38100" marR="38100" marT="12700" marB="12700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6개월</a:t>
                      </a:r>
                    </a:p>
                  </a:txBody>
                  <a:tcPr marL="38100" marR="38100" marT="12700" marB="12700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3개월</a:t>
                      </a:r>
                    </a:p>
                  </a:txBody>
                  <a:tcPr marL="38100" marR="38100" marT="12700" marB="12700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140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+18.8%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+23.2%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+28.0%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+32.8%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130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+15.0%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+24.2%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+28.8%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120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+10.6%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+14.8%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+19.7%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+24.3%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+5.6%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+9.6%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+14.4%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+0.0%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+3.7%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+8.2%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+13.6%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-6.4%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-3.2%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+0.9%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+6.8%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80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-13.5%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-11.0%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-7.8%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-2.1%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70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-21.5%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-19.8%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-17.7%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-13.9%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-30.2%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-29.5%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-28.9%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-28.5%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623560"/>
            <a:ext cx="8778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4888B"/>
                </a:solidFill>
                <a:latin typeface="맑은 고딕"/>
              </a:rPr>
              <a:t>· 변동성 60% 가정, 지수 10포인트 단위(60~140). 지수 60 도달 시 하방 완충이 소멸되어 주식형과 유사하게 운용(실제 편입비 약 100%).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3A3A3A"/>
                </a:solidFill>
                <a:latin typeface="맑은 고딕"/>
              </a:rPr>
              <a:t>· 변동성이 변할 경우 예상 편입비와 예상수익률은 달라질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58220"/>
                </a:solidFill>
                <a:latin typeface="맑은 고딕"/>
              </a:rPr>
              <a:t>09 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8686800" cy="37959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 err="1">
                <a:solidFill>
                  <a:srgbClr val="043B72"/>
                </a:solidFill>
                <a:latin typeface="맑은 고딕"/>
              </a:rPr>
              <a:t>수익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구조</a:t>
            </a:r>
            <a:r>
              <a:rPr lang="en-US" altLang="ko-KR" sz="2300" b="1" dirty="0">
                <a:solidFill>
                  <a:srgbClr val="043B72"/>
                </a:solidFill>
                <a:latin typeface="맑은 고딕"/>
              </a:rPr>
              <a:t>2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—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안정변동성펀드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(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안정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변동성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매매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8686800" cy="22570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3A3A3A"/>
                </a:solidFill>
                <a:latin typeface="맑은 고딕"/>
              </a:rPr>
              <a:t>보합·상승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구간에서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변동성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매매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수익을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안정적으로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확보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상단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고정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), </a:t>
            </a:r>
            <a:r>
              <a:rPr lang="ko-KR" altLang="en-US" sz="1300" b="1" dirty="0">
                <a:solidFill>
                  <a:srgbClr val="3A3A3A"/>
                </a:solidFill>
                <a:latin typeface="맑은 고딕"/>
              </a:rPr>
              <a:t>단</a:t>
            </a:r>
            <a:r>
              <a:rPr lang="en-US" altLang="ko-KR" sz="1300" b="1" dirty="0">
                <a:solidFill>
                  <a:srgbClr val="3A3A3A"/>
                </a:solidFill>
                <a:latin typeface="맑은 고딕"/>
              </a:rPr>
              <a:t>,</a:t>
            </a:r>
            <a:r>
              <a:rPr lang="ko-KR" altLang="en-US" sz="1300" b="1" dirty="0">
                <a:solidFill>
                  <a:srgbClr val="3A3A3A"/>
                </a:solidFill>
                <a:latin typeface="맑은 고딕"/>
              </a:rPr>
              <a:t> 상승이 제한됩니다</a:t>
            </a:r>
            <a:r>
              <a:rPr lang="en-US" altLang="ko-KR" sz="1300" b="1" dirty="0">
                <a:solidFill>
                  <a:srgbClr val="3A3A3A"/>
                </a:solidFill>
                <a:latin typeface="맑은 고딕"/>
              </a:rPr>
              <a:t>.</a:t>
            </a:r>
            <a:endParaRPr sz="1300" b="1" dirty="0">
              <a:solidFill>
                <a:srgbClr val="3A3A3A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0160" y="5556144"/>
            <a:ext cx="8595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4888B"/>
                </a:solidFill>
                <a:latin typeface="맑은 고딕"/>
              </a:rPr>
              <a:t>변동성 60% · 복제비율 110% 가정 · 점=시뮬 1회 · </a:t>
            </a:r>
            <a:r>
              <a:rPr sz="900" b="1">
                <a:solidFill>
                  <a:srgbClr val="F58220"/>
                </a:solidFill>
                <a:latin typeface="맑은 고딕"/>
              </a:rPr>
              <a:t>노란선=구간 평균</a:t>
            </a:r>
            <a:r>
              <a:rPr sz="900" b="0">
                <a:solidFill>
                  <a:srgbClr val="84888B"/>
                </a:solidFill>
                <a:latin typeface="맑은 고딕"/>
              </a:rPr>
              <a:t> · 데이터: 자체 시뮬레이션(거래비용·운용오차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dirty="0">
                <a:solidFill>
                  <a:srgbClr val="84888B"/>
                </a:solidFill>
                <a:latin typeface="맑은 고딕"/>
              </a:rPr>
              <a:t>※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상기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자료는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이해를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돕기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위한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예시이며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실제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투자내용을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의미하지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않습니다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.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시뮬레이션은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가정에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따른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것으로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실제와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다를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수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있습니다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12</a:t>
            </a:r>
          </a:p>
        </p:txBody>
      </p:sp>
      <p:pic>
        <p:nvPicPr>
          <p:cNvPr id="11" name="Picture 10" descr="scat_top2_s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463040"/>
            <a:ext cx="7040880" cy="40444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83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09 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지수대별 실제 편입비·예상수익률 — 안정변동성펀드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3A3A"/>
                </a:solidFill>
                <a:latin typeface="맑은 고딕"/>
              </a:rPr>
              <a:t>리밸런싱일 지수=100 기준 · 잔존만기별 편입비와 원금 대비 예상수익률 · 최대 편입비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4389120" cy="3017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43B72"/>
                </a:solidFill>
                <a:latin typeface="맑은 고딕"/>
              </a:rPr>
              <a:t>실제 편입비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4389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지수 / 잔존만기</a:t>
                      </a:r>
                    </a:p>
                  </a:txBody>
                  <a:tcPr marL="38100" marR="381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12개월</a:t>
                      </a:r>
                    </a:p>
                  </a:txBody>
                  <a:tcPr marL="38100" marR="381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9개월</a:t>
                      </a:r>
                    </a:p>
                  </a:txBody>
                  <a:tcPr marL="38100" marR="381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6개월</a:t>
                      </a:r>
                    </a:p>
                  </a:txBody>
                  <a:tcPr marL="38100" marR="381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3개월</a:t>
                      </a:r>
                    </a:p>
                  </a:txBody>
                  <a:tcPr marL="38100" marR="38100" marT="12700" marB="12700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140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19%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18%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16%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10%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130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22%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22%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20%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15%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120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27%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27%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26%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22%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32%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32%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33%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32%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37%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39%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41%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44%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44%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47%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51%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58%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80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52%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56%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62%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72%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70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60%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65%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73%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85%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69%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75%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83%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93%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166360" y="1783080"/>
            <a:ext cx="4389120" cy="3017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43B72"/>
                </a:solidFill>
                <a:latin typeface="맑은 고딕"/>
              </a:rPr>
              <a:t>예상수익률</a:t>
            </a:r>
            <a:r>
              <a:rPr sz="1000" b="0">
                <a:solidFill>
                  <a:srgbClr val="84888B"/>
                </a:solidFill>
                <a:latin typeface="맑은 고딕"/>
              </a:rPr>
              <a:t>  (원금 대비 · </a:t>
            </a:r>
            <a:r>
              <a:rPr sz="1000" b="1">
                <a:solidFill>
                  <a:srgbClr val="F58220"/>
                </a:solidFill>
                <a:latin typeface="맑은 고딕"/>
              </a:rPr>
              <a:t>15% 이상 음영</a:t>
            </a:r>
            <a:r>
              <a:rPr sz="1000" b="0">
                <a:solidFill>
                  <a:srgbClr val="84888B"/>
                </a:solidFill>
                <a:latin typeface="맑은 고딕"/>
              </a:rPr>
              <a:t>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66360" y="2103120"/>
          <a:ext cx="4343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지수 / 잔존만기</a:t>
                      </a:r>
                    </a:p>
                  </a:txBody>
                  <a:tcPr marL="38100" marR="381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12개월</a:t>
                      </a:r>
                    </a:p>
                  </a:txBody>
                  <a:tcPr marL="38100" marR="381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9개월</a:t>
                      </a:r>
                    </a:p>
                  </a:txBody>
                  <a:tcPr marL="38100" marR="381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6개월</a:t>
                      </a:r>
                    </a:p>
                  </a:txBody>
                  <a:tcPr marL="38100" marR="381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3개월</a:t>
                      </a:r>
                    </a:p>
                  </a:txBody>
                  <a:tcPr marL="38100" marR="38100" marT="12700" marB="12700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140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+10.8%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+13.9%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+17.3%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+21.1%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130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+8.8%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+11.9%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+15.6%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+19.9%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120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+6.3%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+9.5%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+13.3%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+18.0%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+3.4%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+6.6%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+10.4%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+15.3%</a:t>
                      </a:r>
                    </a:p>
                  </a:txBody>
                  <a:tcPr marL="38100" marR="38100" marT="12700" marB="12700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+0.0%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+3.0%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+6.7%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A3A3A"/>
                          </a:solidFill>
                          <a:latin typeface="맑은 고딕"/>
                        </a:rPr>
                        <a:t>+11.6%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-4.1%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-1.3%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+2.1%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+6.5%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80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-8.8%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-6.4%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-3.5%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+0.0%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70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-14.4%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-12.4%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-10.2%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-7.8%</a:t>
                      </a:r>
                    </a:p>
                  </a:txBody>
                  <a:tcPr marL="38100" marR="381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A3A3A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-20.9%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-19.4%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-18.0%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A3A3A"/>
                          </a:solidFill>
                          <a:latin typeface="맑은 고딕"/>
                        </a:rPr>
                        <a:t>-16.7%</a:t>
                      </a:r>
                    </a:p>
                  </a:txBody>
                  <a:tcPr marL="38100" marR="381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623560"/>
            <a:ext cx="8778240" cy="5669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4888B"/>
                </a:solidFill>
                <a:latin typeface="맑은 고딕"/>
              </a:rPr>
              <a:t>· 변동성 60% 가정, 지수 10포인트 단위(60~140), 잔존만기 12·9·6·3개월.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3A3A3A"/>
                </a:solidFill>
                <a:latin typeface="맑은 고딕"/>
              </a:rPr>
              <a:t>· 변동성이 변할 경우 예상 편입비와 예상수익률은 달라질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10 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리스크 및 유의사항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8503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■ 하방 손실 위험 (최대 위험요소): 전략 특성상 기초자산 급락 시 손실이 누적되며 원금의 상당 부분 손실이 가능합니다.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운용오차: 이산 리밸런싱·급변동·갭 하락 시 이론 수익과 실현손익이 크게 벌어질 수 있습니다(시뮬레이션상 이탈 사례 확인).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편입비 상한(180%) 효과: 급변동 구간에서 편입비 조절이 제한되어 추가 오차가 발생할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급락 국면 위험: 급격한 하락 시 하방 완충이 제한되어 손실에 노출될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단일종목 집중 위험: 삼성전자·SK하이닉스 2종목에 집중되어 개별기업·반도체 사이클 리스크에 크게 노출됩니다.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변동성 축소 위험: 시장 변동성이 가정보다 낮아지면 변동성 매매 수익 기회가 줄어 기대수익에 미달할 수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74920"/>
            <a:ext cx="8503920" cy="960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813816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D02F00"/>
                </a:solidFill>
                <a:latin typeface="맑은 고딕"/>
              </a:rPr>
              <a:t>본 상품은 1등급(매우 높은 위험) 상품으로 원금의 전부(0~100%) 손실이 발생할 수 있으며, 그 손실은 투자자에게 귀속됩니다.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4888B"/>
                </a:solidFill>
                <a:latin typeface="맑은 고딕"/>
              </a:rPr>
              <a:t>투자 전 상품설명서·약관·계약권유문서를 반드시 확인하시기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Mirae Asset Color">
      <a:dk1>
        <a:srgbClr val="000000"/>
      </a:dk1>
      <a:lt1>
        <a:srgbClr val="FFFFFF"/>
      </a:lt1>
      <a:dk2>
        <a:srgbClr val="F0B26B"/>
      </a:dk2>
      <a:lt2>
        <a:srgbClr val="84888B"/>
      </a:lt2>
      <a:accent1>
        <a:srgbClr val="F58220"/>
      </a:accent1>
      <a:accent2>
        <a:srgbClr val="043B72"/>
      </a:accent2>
      <a:accent3>
        <a:srgbClr val="00A9CE"/>
      </a:accent3>
      <a:accent4>
        <a:srgbClr val="0086B8"/>
      </a:accent4>
      <a:accent5>
        <a:srgbClr val="AE634E"/>
      </a:accent5>
      <a:accent6>
        <a:srgbClr val="E12F00"/>
      </a:accent6>
      <a:hlink>
        <a:srgbClr val="000000"/>
      </a:hlink>
      <a:folHlink>
        <a:srgbClr val="FF0000"/>
      </a:folHlink>
    </a:clrScheme>
    <a:fontScheme name="Mirae Asset Font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2007</Words>
  <Application>Microsoft Office PowerPoint</Application>
  <PresentationFormat>사용자 지정</PresentationFormat>
  <Paragraphs>346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KoPub돋움체_Pro Bold</vt:lpstr>
      <vt:lpstr>KoPub돋움체_Pro Medium</vt:lpstr>
      <vt:lpstr>맑은 고딕</vt:lpstr>
      <vt:lpstr>Arial</vt:lpstr>
      <vt:lpstr>Calibri</vt:lpstr>
      <vt:lpstr>Noto Sans</vt:lpstr>
      <vt:lpstr>Office Theme</vt:lpstr>
      <vt:lpstr>1_Office 테마</vt:lpstr>
      <vt:lpstr>변동성 하베스트 Top2 펀드 제안서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Joonho Shin(신준호)</dc:creator>
  <cp:keywords/>
  <dc:description>generated using python-pptx</dc:description>
  <cp:lastModifiedBy>Lee, Hyun Kyung (이현경)</cp:lastModifiedBy>
  <cp:revision>15</cp:revision>
  <dcterms:created xsi:type="dcterms:W3CDTF">2013-01-27T09:14:16Z</dcterms:created>
  <dcterms:modified xsi:type="dcterms:W3CDTF">2026-07-20T00:05:50Z</dcterms:modified>
  <cp:category/>
</cp:coreProperties>
</file>