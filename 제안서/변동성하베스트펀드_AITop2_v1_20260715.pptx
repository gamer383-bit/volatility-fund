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17"/>
  </p:notesMasterIdLst>
  <p:sldIdLst>
    <p:sldId id="1032" r:id="rId3"/>
    <p:sldId id="257" r:id="rId4"/>
    <p:sldId id="258" r:id="rId5"/>
    <p:sldId id="259" r:id="rId6"/>
    <p:sldId id="1038" r:id="rId7"/>
    <p:sldId id="1039" r:id="rId8"/>
    <p:sldId id="261" r:id="rId9"/>
    <p:sldId id="263" r:id="rId10"/>
    <p:sldId id="264" r:id="rId11"/>
    <p:sldId id="265" r:id="rId12"/>
    <p:sldId id="1045" r:id="rId13"/>
    <p:sldId id="266" r:id="rId14"/>
    <p:sldId id="1044" r:id="rId15"/>
    <p:sldId id="267" r:id="rId16"/>
  </p:sldIdLst>
  <p:sldSz cx="9875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4"/>
    <p:restoredTop sz="94556"/>
  </p:normalViewPr>
  <p:slideViewPr>
    <p:cSldViewPr snapToGrid="0" snapToObjects="1">
      <p:cViewPr varScale="1">
        <p:scale>
          <a:sx n="152" d="100"/>
          <a:sy n="152" d="100"/>
        </p:scale>
        <p:origin x="152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EAE46-2B9A-4D90-9A88-1920B1FB6996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0" y="1143000"/>
            <a:ext cx="4445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B6A72-4F74-4004-8AC3-811B4729AC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286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DF11654-0CFB-44F3-B93D-CBFACCFEA8D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201" y="5654675"/>
            <a:ext cx="1970736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0003" y="5926138"/>
            <a:ext cx="6747988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388665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66229" y="4799014"/>
            <a:ext cx="3409610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0003" y="3937000"/>
            <a:ext cx="73130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29902" y="194071"/>
            <a:ext cx="5024655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798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29902" y="1264983"/>
            <a:ext cx="5204106" cy="49090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9902" y="2874353"/>
            <a:ext cx="5204106" cy="565283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097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29902" y="4214169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29902" y="4474323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70977" y="838201"/>
            <a:ext cx="3414359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99484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4"/>
            <a:ext cx="987742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5507" y="757238"/>
            <a:ext cx="1305908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0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0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57515" y="1725716"/>
            <a:ext cx="8435611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219" marR="0" indent="-251219" algn="l" defTabSz="455783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595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4498" indent="136102">
              <a:buFont typeface="+mj-lt"/>
              <a:buAutoNum type="arabicPeriod"/>
              <a:defRPr sz="1197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197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997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27640600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3821" y="3143392"/>
            <a:ext cx="8434241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393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506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2289" y="6494464"/>
            <a:ext cx="4530317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 sz="798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7540" y="896938"/>
            <a:ext cx="89007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32987" y="6494464"/>
            <a:ext cx="2955312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8042" y="6359525"/>
            <a:ext cx="8919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7511" y="1031108"/>
            <a:ext cx="8900816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5783" rtl="0" eaLnBrk="1" fontAlgn="auto" latinLnBrk="0" hangingPunct="1">
              <a:lnSpc>
                <a:spcPct val="110000"/>
              </a:lnSpc>
              <a:spcBef>
                <a:spcPts val="2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96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5783" indent="0">
              <a:buFontTx/>
              <a:buNone/>
              <a:defRPr sz="1994">
                <a:latin typeface="Noto Sans"/>
                <a:cs typeface="Noto Sans"/>
              </a:defRPr>
            </a:lvl2pPr>
            <a:lvl3pPr marL="911566" indent="0">
              <a:buFontTx/>
              <a:buNone/>
              <a:defRPr sz="1795">
                <a:latin typeface="Noto Sans"/>
                <a:cs typeface="Noto Sans"/>
              </a:defRPr>
            </a:lvl3pPr>
            <a:lvl4pPr marL="1367349" indent="0">
              <a:buFontTx/>
              <a:buNone/>
              <a:defRPr sz="1595">
                <a:latin typeface="Noto Sans"/>
                <a:cs typeface="Noto Sans"/>
              </a:defRPr>
            </a:lvl4pPr>
            <a:lvl5pPr marL="1823132" indent="0">
              <a:buFontTx/>
              <a:buNone/>
              <a:defRPr sz="1595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2286" y="567303"/>
            <a:ext cx="646027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1994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9784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406" y="5648326"/>
            <a:ext cx="170322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88" y="2935288"/>
            <a:ext cx="8394462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8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5693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911383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36707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822767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227845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73415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3189843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64553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731009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2019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7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074047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8722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3867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983055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25184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64678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8189" y="6497276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071" y="859732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071" y="6363137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4297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37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txStyles>
    <p:titleStyle>
      <a:lvl1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5874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1748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67622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3496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6355" indent="-226355" algn="l" defTabSz="910166" rtl="0" eaLnBrk="0" fontAlgn="base" latinLnBrk="1" hangingPunct="0">
        <a:lnSpc>
          <a:spcPct val="90000"/>
        </a:lnSpc>
        <a:spcBef>
          <a:spcPts val="997"/>
        </a:spcBef>
        <a:spcAft>
          <a:spcPct val="0"/>
        </a:spcAft>
        <a:buFont typeface="Arial" panose="020B0604020202020204" pitchFamily="34" charset="0"/>
        <a:buChar char="•"/>
        <a:defRPr sz="2692" kern="1200">
          <a:solidFill>
            <a:schemeClr val="tx1"/>
          </a:solidFill>
          <a:latin typeface="+mn-lt"/>
          <a:ea typeface="+mn-ea"/>
          <a:cs typeface="+mn-cs"/>
        </a:defRPr>
      </a:lvl1pPr>
      <a:lvl2pPr marL="682229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2393" kern="1200">
          <a:solidFill>
            <a:schemeClr val="tx1"/>
          </a:solidFill>
          <a:latin typeface="+mn-lt"/>
          <a:ea typeface="+mn-ea"/>
          <a:cs typeface="+mn-cs"/>
        </a:defRPr>
      </a:lvl2pPr>
      <a:lvl3pPr marL="1138103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3pPr>
      <a:lvl4pPr marL="1593977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49851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06806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2590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18372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4155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78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566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349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132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78915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4697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0481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626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0003" y="1453516"/>
            <a:ext cx="5456720" cy="42966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792" dirty="0"/>
              <a:t>변동성 하베스트 Top2 펀드 제안서</a:t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0003" y="4212546"/>
            <a:ext cx="4485995" cy="18361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0003" y="4470561"/>
            <a:ext cx="4485995" cy="18520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504316"/>
              </p:ext>
            </p:extLst>
          </p:nvPr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AI Top2 (삼성전자·SK하이닉스)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편입비를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조절하는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통해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역대급으로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높아진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전환하는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전략</a:t>
                      </a:r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AI Top2 — 삼성전자·SK하이닉스 (동일가중)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60%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저가매수·고가매도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)로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추구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참여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국내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주식형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파생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(</a:t>
                      </a:r>
                      <a:r>
                        <a:rPr lang="ko-KR" altLang="en-US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공모 </a:t>
                      </a:r>
                      <a:r>
                        <a:rPr lang="en-US" altLang="ko-KR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/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사모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일임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①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역대급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82767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삼성전자·SK하이닉스 변동성이 최근 5년 중 최고 수준입니다. 변동성이 클수록 변동성 매매의 수익 기회가 커집니다.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  <p:pic>
        <p:nvPicPr>
          <p:cNvPr id="12" name="Picture 11" descr="vol_se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8366760" cy="37650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②-1 — 상방을 누르는 수급 요인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국민연금·외국인·개인 모두 지수 상단에서 매도 우위 — 반등 시마다 매물벽이 형성되는 구조입니다.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편입비 조정·차익실현으로 상승 국면 매도 우위 — 연초 이후 KOSPI200 159조원 순매도.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  <p:pic>
        <p:nvPicPr>
          <p:cNvPr id="26" name="Picture 25" descr="c6_p4상단_수급요인_3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41648"/>
            <a:ext cx="8869680" cy="2072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6159408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국민연금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기금운용본부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공시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기금운용위원회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증권사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취합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FnGuide·KRX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)  |  주: </a:t>
            </a:r>
            <a:r>
              <a:rPr sz="800" dirty="0" err="1">
                <a:solidFill>
                  <a:srgbClr val="888888"/>
                </a:solidFill>
              </a:rPr>
              <a:t>하반기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추정은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기타자산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규모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고정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가정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②-2 — 하방을 받치는 밸류에이션·실적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KOSPI200 12M Fwd PER 5.8배로 '21년 이후 최저권 — 이익 추정치는 사상 최고 수준으로 상향 중입니다.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0414" y="1618690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1728216"/>
            <a:ext cx="8138160" cy="6207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dirty="0">
                <a:solidFill>
                  <a:srgbClr val="1F9E6E"/>
                </a:solidFill>
                <a:latin typeface="맑은 고딕"/>
              </a:rPr>
              <a:t>② 하방을 받치는 밸류에이션 및 실적상향: 12M Fwd PER 5.8배('21년 이후 최저권·하위 0.2%) · FY26/27 이익 컨센서스 추가 상향</a:t>
            </a:r>
          </a:p>
          <a:p>
            <a:pPr algn="l">
              <a:lnSpc>
                <a:spcPct val="115000"/>
              </a:lnSpc>
            </a:pPr>
            <a:endParaRPr sz="950" b="0" dirty="0">
              <a:solidFill>
                <a:srgbClr val="84888B"/>
              </a:solidFill>
              <a:latin typeface="맑은 고딕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85800" y="5757197"/>
            <a:ext cx="8503920" cy="438912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877501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→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상방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제한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+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하방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지지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=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반복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→ </a:t>
            </a:r>
            <a:r>
              <a:rPr lang="ko-KR" altLang="en-US" sz="1300" b="1" dirty="0">
                <a:solidFill>
                  <a:srgbClr val="F58220"/>
                </a:solidFill>
                <a:latin typeface="맑은 고딕"/>
              </a:rPr>
              <a:t>방향성 투자에 변동성 수확을 더하자</a:t>
            </a:r>
            <a:r>
              <a:rPr lang="en-US" altLang="ko-KR" sz="1300" b="1" dirty="0">
                <a:solidFill>
                  <a:srgbClr val="F58220"/>
                </a:solidFill>
                <a:latin typeface="맑은 고딕"/>
              </a:rPr>
              <a:t>.</a:t>
            </a:r>
            <a:endParaRPr sz="1300" b="1" dirty="0">
              <a:solidFill>
                <a:srgbClr val="F58220"/>
              </a:solidFill>
              <a:latin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6" name="Picture 25" descr="c7_p5_밸류_실적_4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43200"/>
            <a:ext cx="8869680" cy="23176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88085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266729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846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③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키운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701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국내·해외(홍콩 CSOP 등) 레버리지 ETF 약 40조원(6/30 기준)이 삼성전자·SK하이닉스와 지수 변동성을 구조적으로 키우고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부르는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되먹임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— 두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종목이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KOSPI200의 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65.6%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(6/30 KRX · </a:t>
            </a:r>
            <a:r>
              <a:rPr sz="120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38.7% →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/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30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65.6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220805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9744" y="5216191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9784" y="5026461"/>
            <a:ext cx="1737360" cy="69127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dirty="0">
                <a:solidFill>
                  <a:srgbClr val="043B72"/>
                </a:solidFill>
                <a:latin typeface="맑은 고딕"/>
              </a:rPr>
              <a:t>③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레버리지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종가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
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순응매매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(±10%→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약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8조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로 방향성 강화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 종목변동성확대</a:t>
            </a:r>
            <a:endParaRPr sz="105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22008" y="516636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6</a:t>
            </a:r>
          </a:p>
        </p:txBody>
      </p:sp>
      <p:pic>
        <p:nvPicPr>
          <p:cNvPr id="24" name="Picture 23" descr="slide5_lef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527384"/>
            <a:ext cx="4160520" cy="2558699"/>
          </a:xfrm>
          <a:prstGeom prst="rect">
            <a:avLst/>
          </a:prstGeom>
        </p:spPr>
      </p:pic>
      <p:pic>
        <p:nvPicPr>
          <p:cNvPr id="25" name="Picture 24" descr="slide5_right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460257"/>
            <a:ext cx="4160520" cy="25586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2461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89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레버리지의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잠식'을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우리는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수확'으로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149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같은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정반대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레버리지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ETF가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잃는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'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펀드는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수익'으로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전환합니다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4113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3A3A3A"/>
                </a:solidFill>
                <a:latin typeface="맑은 고딕"/>
              </a:rPr>
              <a:t>매일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고가매수·저가매도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추세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순응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리밸런싱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자산이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녹는다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405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저가매수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·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고가매도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확대된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수익으로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전환</a:t>
            </a:r>
            <a:endParaRPr sz="1100" b="0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 err="1">
                <a:solidFill>
                  <a:srgbClr val="F58220"/>
                </a:solidFill>
                <a:latin typeface="맑은 고딕"/>
              </a:rPr>
              <a:t>핵심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: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레버리지가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'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잃는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'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바로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그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변동성을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, 본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펀드는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'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수확'한다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</a:pPr>
            <a:r>
              <a:rPr sz="1200" b="1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(=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잠식이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) 본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펀드의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수익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기회는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오히려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커진다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  <p:pic>
        <p:nvPicPr>
          <p:cNvPr id="21" name="Picture 20" descr="lev_rebal_hyn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526280" cy="364845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5040056"/>
            <a:ext cx="452628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dirty="0" err="1">
                <a:solidFill>
                  <a:srgbClr val="043B72"/>
                </a:solidFill>
                <a:latin typeface="맑은 고딕"/>
              </a:rPr>
              <a:t>데이터</a:t>
            </a:r>
            <a:r>
              <a:rPr sz="9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950" b="1" dirty="0" err="1">
                <a:solidFill>
                  <a:srgbClr val="043B72"/>
                </a:solidFill>
                <a:latin typeface="맑은 고딕"/>
              </a:rPr>
              <a:t>기준일</a:t>
            </a:r>
            <a:r>
              <a:rPr sz="950" b="1" dirty="0">
                <a:solidFill>
                  <a:srgbClr val="043B72"/>
                </a:solidFill>
                <a:latin typeface="맑은 고딕"/>
              </a:rPr>
              <a:t>: 2026-07-15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507319"/>
            <a:ext cx="7223760" cy="47429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dirty="0" err="1">
                <a:solidFill>
                  <a:srgbClr val="F58220"/>
                </a:solidFill>
                <a:latin typeface="맑은 고딕"/>
              </a:rPr>
              <a:t>방향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투자</a:t>
            </a:r>
            <a:endParaRPr sz="1400" b="1" dirty="0">
              <a:solidFill>
                <a:srgbClr val="F58220"/>
              </a:solidFill>
              <a:latin typeface="맑은 고딕"/>
            </a:endParaRPr>
          </a:p>
          <a:p>
            <a:pPr algn="l">
              <a:lnSpc>
                <a:spcPct val="115000"/>
              </a:lnSpc>
            </a:pPr>
            <a:r>
              <a:rPr sz="12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구간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추가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수익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.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실적</a:t>
            </a:r>
            <a:r>
              <a:rPr lang="ko-KR" altLang="en-US" sz="1250" b="0" dirty="0">
                <a:solidFill>
                  <a:srgbClr val="3A3A3A"/>
                </a:solidFill>
                <a:latin typeface="맑은 고딕"/>
              </a:rPr>
              <a:t>상향으로 인해 상승 투자 여전히 유효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시스템 운용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미래에셋 QPMS Vol Trading 시스템을 통해 검증된 운용.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574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7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어떻게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운용하는가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저가매수·고가매도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시장이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빠지면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편입을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늘리고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저가매수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오르면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줄인다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고가매도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).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  <p:pic>
        <p:nvPicPr>
          <p:cNvPr id="12" name="Picture 11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080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342021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8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328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1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성장변동성펀드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+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상승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참여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운용 중 -40% 미도달 시 상승에 참여, -40% 도달 시 하방에 노출됩니다. 시뮬레이션 결과(각 점=1회).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04936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dirty="0" err="1">
                <a:solidFill>
                  <a:srgbClr val="84888B"/>
                </a:solidFill>
                <a:latin typeface="맑은 고딕"/>
              </a:rPr>
              <a:t>변동성 60% · 복제비율 110% 가정 · 점=시뮬 1회 · 노란선=구간 평균 · 데이터: 자체 시뮬레이션(거래비용·운용오차 포함)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18819"/>
            <a:ext cx="8503920" cy="7315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373683"/>
            <a:ext cx="8138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※ -40%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도달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시에는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상승에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수취하기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위해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수행하지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않으며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주식형과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유사하게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운용됩니다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pic>
        <p:nvPicPr>
          <p:cNvPr id="16" name="Picture 15" descr="scat_top2_growth_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1"/>
            <a:ext cx="4526280" cy="3650039"/>
          </a:xfrm>
          <a:prstGeom prst="rect">
            <a:avLst/>
          </a:prstGeom>
        </p:spPr>
      </p:pic>
      <p:pic>
        <p:nvPicPr>
          <p:cNvPr id="17" name="Picture 16" descr="scat_top2_growth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417321"/>
            <a:ext cx="4526280" cy="365003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편입비·예상수익률 — 성장변동성펀드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최대 편입비 180%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134%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+23.2%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+28.0%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+32.8%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+24.2%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+28.8%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+19.7%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+24.3%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+5.6%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+3.7%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+8.2%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+13.6%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-6.4%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+0.9%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-11.0%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-7.8%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-2.1%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-21.5%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-19.8%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-17.7%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-30.2%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-29.5%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-28.9%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-28.5%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 가정, 지수 10포인트 단위(60~140). 지수 60 도달 시 하방 완충이 소멸되어 주식형과 유사하게 운용(실제 편입비 약 100%).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9319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09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2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보합·상승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구간에서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안정적으로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확보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상단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고정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단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,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 상승이 제한됩니다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.</a:t>
            </a:r>
            <a:endParaRPr sz="1300" b="1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80160" y="5556144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변동성 60% · 복제비율 110%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dirty="0">
                <a:solidFill>
                  <a:srgbClr val="84888B"/>
                </a:solidFill>
                <a:latin typeface="맑은 고딕"/>
              </a:rPr>
              <a:t>※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상기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자료는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이해를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돕기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위한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예시이며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투자내용을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의미하지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않습니다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시뮬레이션은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가정에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따른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것으로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다를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수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있습니다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  <p:pic>
        <p:nvPicPr>
          <p:cNvPr id="11" name="Picture 10" descr="scat_top2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63040"/>
            <a:ext cx="7040880" cy="40444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09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편입비·예상수익률 — 안정변동성펀드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최대 편입비 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37%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39%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+13.9%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+17.3%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+21.1%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+8.8%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+11.9%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+15.6%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+19.9%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+13.3%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+18.0%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+3.0%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+6.7%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+11.6%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-4.1%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-1.3%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+2.1%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-8.8%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-6.4%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-14.4%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-12.4%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-10.2%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-7.8%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-20.9%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-19.4%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-18.0%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-16.7%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 가정, 지수 10포인트 단위(60~140), 잔존만기 12·9·6·3개월.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10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단일종목 집중 위험: 삼성전자·SK하이닉스 2종목에 집중되어 개별기업·반도체 사이클 리스크에 크게 노출됩니다.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2007</Words>
  <Application>Microsoft Office PowerPoint</Application>
  <PresentationFormat>사용자 지정</PresentationFormat>
  <Paragraphs>346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Theme</vt:lpstr>
      <vt:lpstr>1_Office 테마</vt:lpstr>
      <vt:lpstr>변동성 하베스트 Top2 펀드 제안서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Joonho Shin(신준호)</dc:creator>
  <cp:keywords/>
  <dc:description>generated using python-pptx</dc:description>
  <cp:lastModifiedBy>Lee, Hyun Kyung (이현경)</cp:lastModifiedBy>
  <cp:revision>15</cp:revision>
  <dcterms:created xsi:type="dcterms:W3CDTF">2013-01-27T09:14:16Z</dcterms:created>
  <dcterms:modified xsi:type="dcterms:W3CDTF">2026-07-20T00:05:50Z</dcterms:modified>
  <cp:category/>
</cp:coreProperties>
</file>