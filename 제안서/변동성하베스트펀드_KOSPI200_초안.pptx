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6"/>
  </p:notesMasterIdLst>
  <p:sldIdLst>
    <p:sldId id="103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1712" y="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</a:t>
            </a:r>
            <a:r>
              <a:rPr lang="ko-KR" altLang="en-US" sz="2792" dirty="0" err="1"/>
              <a:t>하베스트</a:t>
            </a:r>
            <a:r>
              <a:rPr lang="ko-KR" altLang="en-US" sz="2792" dirty="0"/>
              <a:t>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KOSPI200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코스피200 지수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50%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한국시장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5년 중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수준입니다</a:t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>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 클수록 변동성 매매의 수익 기회가 커집니다.</a:t>
            </a:r>
          </a:p>
        </p:txBody>
      </p:sp>
      <p:pic>
        <p:nvPicPr>
          <p:cNvPr id="7" name="Picture 6" descr="vol_kospi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87094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 — 당분간 제한적 방향성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상방엔 매물벽, 하방엔 저평가 — 한쪽으로 크게 쏠린 방향성이 나오기 어려운 국면입니다.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초과·국내주식 축소 기조로, 지수가 오를수록 대기 매도 물량이 상단에서 출회.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지수 편입비 조정·차익 실현으로 상승 국면에서 매도 우위가 반복.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단기 급등에 올라탄 과도한 매수 포지션이 반등 시마다 차익실현(상승 시 매도 대응)으로 전환.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2628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</a:t>
            </a:r>
            <a:r>
              <a:rPr sz="1250" b="1" dirty="0" err="1">
                <a:solidFill>
                  <a:srgbClr val="1F9E6E"/>
                </a:solidFill>
                <a:latin typeface="맑은 고딕"/>
              </a:rPr>
              <a:t>하방을</a:t>
            </a:r>
            <a:r>
              <a:rPr sz="1250" b="1" dirty="0">
                <a:solidFill>
                  <a:srgbClr val="1F9E6E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9E6E"/>
                </a:solidFill>
                <a:latin typeface="맑은 고딕"/>
              </a:rPr>
              <a:t>받치는</a:t>
            </a:r>
            <a:r>
              <a:rPr sz="1250" b="1" dirty="0">
                <a:solidFill>
                  <a:srgbClr val="1F9E6E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9E6E"/>
                </a:solidFill>
                <a:latin typeface="맑은 고딕"/>
              </a:rPr>
              <a:t>밸류에이션</a:t>
            </a:r>
            <a:r>
              <a:rPr lang="en-US" sz="1250" b="1" dirty="0">
                <a:solidFill>
                  <a:srgbClr val="1F9E6E"/>
                </a:solidFill>
                <a:latin typeface="맑은 고딕"/>
              </a:rPr>
              <a:t> </a:t>
            </a:r>
            <a:r>
              <a:rPr lang="ko-KR" altLang="en-US" sz="1250" b="1" dirty="0">
                <a:solidFill>
                  <a:srgbClr val="1F9E6E"/>
                </a:solidFill>
                <a:latin typeface="맑은 고딕"/>
              </a:rPr>
              <a:t>및 </a:t>
            </a:r>
            <a:r>
              <a:rPr lang="ko-KR" altLang="en-US" sz="1250" b="1" dirty="0" err="1">
                <a:solidFill>
                  <a:srgbClr val="1F9E6E"/>
                </a:solidFill>
                <a:latin typeface="맑은 고딕"/>
              </a:rPr>
              <a:t>실적상향</a:t>
            </a:r>
            <a:r>
              <a:rPr sz="1250" b="1" dirty="0">
                <a:solidFill>
                  <a:srgbClr val="1F9E6E"/>
                </a:solidFill>
                <a:latin typeface="맑은 고딕"/>
              </a:rPr>
              <a:t>: 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KOSPI</a:t>
            </a:r>
            <a:r>
              <a:rPr lang="en-US" sz="1250" b="1" dirty="0">
                <a:solidFill>
                  <a:srgbClr val="3A3A3A"/>
                </a:solidFill>
                <a:latin typeface="맑은 고딕"/>
              </a:rPr>
              <a:t>200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저평가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글로벌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대비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낮은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PER·PBR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   ※ </a:t>
            </a:r>
            <a:r>
              <a:rPr sz="950" b="0" dirty="0" err="1">
                <a:solidFill>
                  <a:srgbClr val="84888B"/>
                </a:solidFill>
                <a:latin typeface="맑은 고딕"/>
              </a:rPr>
              <a:t>세부</a:t>
            </a:r>
            <a:r>
              <a:rPr sz="95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84888B"/>
                </a:solidFill>
                <a:latin typeface="맑은 고딕"/>
              </a:rPr>
              <a:t>밸류에이션</a:t>
            </a:r>
            <a:r>
              <a:rPr sz="95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84888B"/>
                </a:solidFill>
                <a:latin typeface="맑은 고딕"/>
              </a:rPr>
              <a:t>수치는</a:t>
            </a:r>
            <a:r>
              <a:rPr sz="95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84888B"/>
                </a:solidFill>
                <a:latin typeface="맑은 고딕"/>
              </a:rPr>
              <a:t>별도</a:t>
            </a:r>
            <a:r>
              <a:rPr sz="95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84888B"/>
                </a:solidFill>
                <a:latin typeface="맑은 고딕"/>
              </a:rPr>
              <a:t>보고서</a:t>
            </a:r>
            <a:r>
              <a:rPr sz="95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84888B"/>
                </a:solidFill>
                <a:latin typeface="맑은 고딕"/>
              </a:rPr>
              <a:t>반영</a:t>
            </a:r>
            <a:r>
              <a:rPr sz="95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84888B"/>
                </a:solidFill>
                <a:latin typeface="맑은 고딕"/>
              </a:rPr>
              <a:t>예정</a:t>
            </a:r>
            <a:endParaRPr sz="950" b="0" dirty="0">
              <a:solidFill>
                <a:srgbClr val="84888B"/>
              </a:solidFill>
              <a:latin typeface="맑은 고딕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85800" y="5504688"/>
            <a:ext cx="8503920" cy="64008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8"/>
            <a:ext cx="813816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상방 제한 + 하방 지지 = 좁은 등락 반복 → 방향성 베팅보다 변동성 매매가 유리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7096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</a:p>
        </p:txBody>
      </p:sp>
      <p:pic>
        <p:nvPicPr>
          <p:cNvPr id="7" name="Picture 6" descr="lev_a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160520" cy="2558699"/>
          </a:xfrm>
          <a:prstGeom prst="rect">
            <a:avLst/>
          </a:prstGeom>
        </p:spPr>
      </p:pic>
      <p:pic>
        <p:nvPicPr>
          <p:cNvPr id="8" name="Picture 7" descr="idx_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4160520" cy="25586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변동성이 변동성을 부르는 되먹임 — 두 종목이 KOSPI200의 </a:t>
            </a:r>
            <a:r>
              <a:rPr sz="1300" b="1">
                <a:solidFill>
                  <a:srgbClr val="F58220"/>
                </a:solidFill>
                <a:latin typeface="맑은 고딕"/>
              </a:rPr>
              <a:t>57.4%</a:t>
            </a:r>
            <a:r>
              <a:rPr sz="1200" b="0">
                <a:solidFill>
                  <a:srgbClr val="3A3A3A"/>
                </a:solidFill>
                <a:latin typeface="맑은 고딕"/>
              </a:rPr>
              <a:t> (6/30 추정 · 연초 38.7% → 5/13 확정 51.5%)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③ 레버리지 종가
순응매매(±10%→약 8조·글로벌)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레버리지의 '잠식'을 우리는 '수확'으로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같은 변동성, 정반대 매매 — 레버리지 ETF가 '잃는' 그 변동성을 본 펀드는 '수익'으로 전환합니다.</a:t>
            </a:r>
          </a:p>
        </p:txBody>
      </p:sp>
      <p:pic>
        <p:nvPicPr>
          <p:cNvPr id="7" name="Picture 6" descr="deca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389120" cy="26992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매일 고가매수·저가매도(추세 순응 리밸런싱)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변동성이 클수록 자산이 녹는다 (기초 제자리인데 −20%)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43B72"/>
                </a:solidFill>
                <a:latin typeface="맑은 고딕"/>
              </a:rPr>
              <a:t>주가↓ 비중↑(저가매수)·주가↑ 비중↓(고가매도)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확대된 변동성을 매매 수익으로 전환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결론 — 변동성↑ × 방향성↓ 국면의 최적해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2412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변동성은 높고 방향성은 제한적인 지금, 변동성 하베스트 펀드가 가장 잘 맞는 국면입니다.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45920"/>
            <a:ext cx="3154680" cy="18745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38528" y="1755648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변동성 하베스트 펀드 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맑은 고딕"/>
              </a:rPr>
              <a:t>← 현재 국면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8344" y="1645920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48072" y="1755648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레버리지·추세추종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확신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38528" y="3685032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현금성·채권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관망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48072" y="3685032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인덱스·방향투자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베팅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645920"/>
            <a:ext cx="10515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29783"/>
            <a:ext cx="10515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22975"/>
            <a:ext cx="6364224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← 방향성 약함           방향성 강함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806440"/>
            <a:ext cx="8503920" cy="6035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06440"/>
            <a:ext cx="813816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변동성은 '수확'하고 방향성 부재 리스크는 '회피' = 변동성 하베스트 펀드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급락 시 편입비 축소로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어떻게 운용하는가 — 저가매수·고가매도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시장이 빠지면 편입을 늘리고(저가매수), 오르면 줄인다(고가매도). 등락(변동성)을 매매로 수취합니다.</a:t>
            </a:r>
          </a:p>
        </p:txBody>
      </p:sp>
      <p:pic>
        <p:nvPicPr>
          <p:cNvPr id="7" name="Picture 6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742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성장변동성펀드 (변동성 매매 + 상승 참여)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pic>
        <p:nvPicPr>
          <p:cNvPr id="7" name="Picture 6" descr="scat_kospi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4526280" cy="3655842"/>
          </a:xfrm>
          <a:prstGeom prst="rect">
            <a:avLst/>
          </a:prstGeom>
        </p:spPr>
      </p:pic>
      <p:pic>
        <p:nvPicPr>
          <p:cNvPr id="8" name="Picture 7" descr="scat_kospi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0"/>
            <a:ext cx="4526280" cy="36558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안정변동성펀드 (안정 변동성 매매)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보합·상승 구간에서 변동성 매매 수익을 안정적으로 확보(상단 고정), 급락 시 손실이 누적됩니다.</a:t>
            </a:r>
          </a:p>
        </p:txBody>
      </p:sp>
      <p:pic>
        <p:nvPicPr>
          <p:cNvPr id="7" name="Picture 6" descr="scat_kospi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546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지수 변동·시장 위험: 시장 전반의 급락 국면에서 손실이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1356</Words>
  <Application>Microsoft Office PowerPoint</Application>
  <PresentationFormat>사용자 지정</PresentationFormat>
  <Paragraphs>148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Lee, Hyun Kyung (이현경)</cp:lastModifiedBy>
  <cp:revision>5</cp:revision>
  <dcterms:created xsi:type="dcterms:W3CDTF">2013-01-27T09:14:16Z</dcterms:created>
  <dcterms:modified xsi:type="dcterms:W3CDTF">2026-07-15T06:05:26Z</dcterms:modified>
  <cp:category/>
</cp:coreProperties>
</file>