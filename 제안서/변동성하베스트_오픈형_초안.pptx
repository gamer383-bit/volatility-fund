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8755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9875520" cy="54864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8229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A9CE"/>
                </a:solidFill>
                <a:latin typeface="맑은 고딕"/>
              </a:rPr>
              <a:t>미래에셋자산운용  AI금융공학운용부문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877824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>
                <a:solidFill>
                  <a:srgbClr val="FFFFFF"/>
                </a:solidFill>
                <a:latin typeface="맑은 고딕"/>
              </a:rPr>
              <a:t>오픈형 변동성 하베스트 레버리지</a:t>
            </a:r>
          </a:p>
          <a:p>
            <a:pPr algn="l">
              <a:lnSpc>
                <a:spcPct val="110000"/>
              </a:lnSpc>
            </a:pPr>
            <a:r>
              <a:rPr sz="2200" b="1">
                <a:solidFill>
                  <a:srgbClr val="F0B26B"/>
                </a:solidFill>
                <a:latin typeface="맑은 고딕"/>
              </a:rPr>
              <a:t>KOSPI200 · 삼성전자 · SK하이닉스 시리즈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663440"/>
            <a:ext cx="84124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C9D6E5"/>
                </a:solidFill>
                <a:latin typeface="맑은 고딕"/>
              </a:rPr>
              <a:t>BM 150% · 편입비 100~200% · 상승 시 줄이고 하락 시 늘리는 변동성 매매로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C9D6E5"/>
                </a:solidFill>
                <a:latin typeface="맑은 고딕"/>
              </a:rPr>
              <a:t>높아진 변동성을 수확하는 오픈형 레버리지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4888B"/>
                </a:solidFill>
                <a:latin typeface="맑은 고딕"/>
              </a:rPr>
              <a:t>2026.07  |  내부 검토용 초안 — 대외 배포 금지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01 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87782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43B72"/>
                </a:solidFill>
                <a:latin typeface="맑은 고딕"/>
              </a:rPr>
              <a:t>상품 개요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371600"/>
          <a:ext cx="8503920" cy="3785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6949440"/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구  분</a:t>
                      </a:r>
                    </a:p>
                  </a:txBody>
                  <a:tcPr marL="50800" marR="50800" marT="12700" marB="12700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내  용</a:t>
                      </a:r>
                    </a:p>
                  </a:txBody>
                  <a:tcPr marL="50800" marR="50800" marT="12700" marB="12700" anchor="ctr">
                    <a:solidFill>
                      <a:srgbClr val="043B7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명  칭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미래에셋 변동성 하베스트 레버리지 — 오픈형 (가칭)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구  조</a:t>
                      </a:r>
                    </a:p>
                  </a:txBody>
                  <a:tcPr marL="50800" marR="508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오픈형(설정·해지 상시) · BM = 기초자산 150%</a:t>
                      </a:r>
                    </a:p>
                  </a:txBody>
                  <a:tcPr marL="50800" marR="50800" marT="12700" marB="12700" anchor="ctr">
                    <a:solidFill>
                      <a:srgbClr val="EEF2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기초자산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KOSPI200 / 삼성전자 / SK하이닉스 (시리즈 별도 설정)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편입비</a:t>
                      </a:r>
                    </a:p>
                  </a:txBody>
                  <a:tcPr marL="50800" marR="508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100% ~ 200% (기본 150%) · 상승 시 축소, 하락 시 확대</a:t>
                      </a:r>
                    </a:p>
                  </a:txBody>
                  <a:tcPr marL="50800" marR="50800" marT="12700" marB="12700" anchor="ctr">
                    <a:solidFill>
                      <a:srgbClr val="EEF2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유  형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상품1 룰베이스(사전 확정 공식) / 상품2 옵션이론 기반 모형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리 셋</a:t>
                      </a:r>
                    </a:p>
                  </a:txBody>
                  <a:tcPr marL="50800" marR="508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분기(63영업일)마다 기준 재설정 → 편입비 150% 복귀 (주간 분할 집행)</a:t>
                      </a:r>
                    </a:p>
                  </a:txBody>
                  <a:tcPr marL="50800" marR="50800" marT="12700" marB="12700" anchor="ctr">
                    <a:solidFill>
                      <a:srgbClr val="EEF2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상품 유형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국내 주식형 파생 (공모 / 사모 · 일임)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가정 변동성</a:t>
                      </a:r>
                    </a:p>
                  </a:txBody>
                  <a:tcPr marL="50800" marR="508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KOSPI200 연 50% · 삼성전자/SK하이닉스 연 60%</a:t>
                      </a:r>
                    </a:p>
                  </a:txBody>
                  <a:tcPr marL="50800" marR="50800" marT="12700" marB="12700"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5806440"/>
            <a:ext cx="85953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4888B"/>
                </a:solidFill>
                <a:latin typeface="맑은 고딕"/>
              </a:rPr>
              <a:t>※ 레버리지 상품으로 원금 손실(0~100%)이 발생할 수 있으며 손실은 투자자에게 귀속됩니다. 예금자보호법 적용 대상이 아닙니다.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시뮬레이션·백테스트는 가정에 따른 것으로 실제와 다를 수 있습니다.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02 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87782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43B72"/>
                </a:solidFill>
                <a:latin typeface="맑은 고딕"/>
              </a:rPr>
              <a:t>왜 오픈형 변동성 하베스트인가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8503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250" b="1">
                <a:solidFill>
                  <a:srgbClr val="043B72"/>
                </a:solidFill>
                <a:latin typeface="맑은 고딕"/>
              </a:rPr>
              <a:t>① 레버리지 수요는 확인됐다 — 삼성전자·SK하이닉스 레버리지 ETF에 국내외 약 40조원(6/30). 그러나 기존 2배 ETF는 고가매수·저가매도 구조로 변동성에 '잠식'된다.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250" b="1">
                <a:solidFill>
                  <a:srgbClr val="F58220"/>
                </a:solidFill>
                <a:latin typeface="맑은 고딕"/>
              </a:rPr>
              <a:t>② 본 상품은 정반대 — 오르면 줄이고(고가매도) 빠지면 늘린다(저가매수). 높아진 변동성이 비용이 아니라 수익의 원천.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250" b="0">
                <a:solidFill>
                  <a:srgbClr val="3A3A3A"/>
                </a:solidFill>
                <a:latin typeface="맑은 고딕"/>
              </a:rPr>
              <a:t>③ 같은 10% 변동에 레버리지 ETF는 +20%p 순응매매, 본 상품은 12~16%p 역방향 매매 — 몸집이 커질수록 시장 안정화에도 기여.</a:t>
            </a:r>
          </a:p>
        </p:txBody>
      </p:sp>
      <p:pic>
        <p:nvPicPr>
          <p:cNvPr id="7" name="Picture 6" descr="open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3246120"/>
            <a:ext cx="6766560" cy="44516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시뮬레이션·백테스트는 가정에 따른 것으로 실제와 다를 수 있습니다.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03 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87782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43B72"/>
                </a:solidFill>
                <a:latin typeface="맑은 고딕"/>
              </a:rPr>
              <a:t>방법론 ① 상품1 — 룰베이스 편입비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3931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250" b="1">
                <a:solidFill>
                  <a:srgbClr val="043B72"/>
                </a:solidFill>
                <a:latin typeface="맑은 고딕"/>
              </a:rPr>
              <a:t>■ 편입비 = 150% − 1.25 × (지수 등락률)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250" b="0">
                <a:solidFill>
                  <a:srgbClr val="3A3A3A"/>
                </a:solidFill>
                <a:latin typeface="맑은 고딕"/>
              </a:rPr>
              <a:t>· 리셋일 지수=100 기준, 캡 100~200%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250" b="0">
                <a:solidFill>
                  <a:srgbClr val="3A3A3A"/>
                </a:solidFill>
                <a:latin typeface="맑은 고딕"/>
              </a:rPr>
              <a:t>· 지수 ±10% → 편입비 ∓12.5%p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250" b="0">
                <a:solidFill>
                  <a:srgbClr val="3A3A3A"/>
                </a:solidFill>
                <a:latin typeface="맑은 고딕"/>
              </a:rPr>
              <a:t>· 지수 ±40%에서 캡(100/200%) 도달 — 현 고변동 국면(±40% 등락 가정)에 맞춘 설계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250" b="1">
                <a:solidFill>
                  <a:srgbClr val="F58220"/>
                </a:solidFill>
                <a:latin typeface="맑은 고딕"/>
              </a:rPr>
              <a:t>■ 사전 확정 공식 → 투명·단순, 임의 판단 배제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250" b="0">
                <a:solidFill>
                  <a:srgbClr val="3A3A3A"/>
                </a:solidFill>
                <a:latin typeface="맑은 고딕"/>
              </a:rPr>
              <a:t>■ 레버리지 영역(150%±)에서는 지수가 오르면 편입비가 자연 하락 → 실제 매매는 공식 변화분의 약 절반 수준(시장충격 최소화)</a:t>
            </a:r>
          </a:p>
        </p:txBody>
      </p:sp>
      <p:pic>
        <p:nvPicPr>
          <p:cNvPr id="7" name="Picture 6" descr="open_w_k2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463040"/>
            <a:ext cx="4754880" cy="35035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09160" y="5943600"/>
            <a:ext cx="47548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4888B"/>
                </a:solidFill>
                <a:latin typeface="맑은 고딕"/>
              </a:rPr>
              <a:t>지수대별 편입비 곡선 (KOSPI200, ±40% 설계)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시뮬레이션·백테스트는 가정에 따른 것으로 실제와 다를 수 있습니다.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03 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87782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43B72"/>
                </a:solidFill>
                <a:latin typeface="맑은 고딕"/>
              </a:rPr>
              <a:t>방법론 ② 상품2 — 옵션이론 기반 편입비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3931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250" b="1">
                <a:solidFill>
                  <a:srgbClr val="043B72"/>
                </a:solidFill>
                <a:latin typeface="맑은 고딕"/>
              </a:rPr>
              <a:t>■ 옵션이론(만기 0.25년 고정)으로 편입비를 산출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250" b="0">
                <a:solidFill>
                  <a:srgbClr val="3A3A3A"/>
                </a:solidFill>
                <a:latin typeface="맑은 고딕"/>
              </a:rPr>
              <a:t>· 리셋일에 편입비가 정확히 150%가 되도록 기준가를 역산 (σ50% → 103.4, σ60% → 104.8)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250" b="0">
                <a:solidFill>
                  <a:srgbClr val="3A3A3A"/>
                </a:solidFill>
                <a:latin typeface="맑은 고딕"/>
              </a:rPr>
              <a:t>· 만기를 고정(rolling)해 시간이 지나도 편입비 곡선이 항상 같은 모양 유지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250" b="1">
                <a:solidFill>
                  <a:srgbClr val="F58220"/>
                </a:solidFill>
                <a:latin typeface="맑은 고딕"/>
              </a:rPr>
              <a:t>■ 곡선이 완만한 S자 — 하락 초반엔 적극 매수, 극단에선 자동 감속. 캡(100~200%)이 구조적으로 자동 충족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250" b="0">
                <a:solidFill>
                  <a:srgbClr val="3A3A3A"/>
                </a:solidFill>
                <a:latin typeface="맑은 고딕"/>
              </a:rPr>
              <a:t>■ 변동성 수준(σ)에 따라 곡선이 자동 조정 — 단위형 변동성 하베스트와 동일 계보의 모형</a:t>
            </a:r>
          </a:p>
        </p:txBody>
      </p:sp>
      <p:pic>
        <p:nvPicPr>
          <p:cNvPr id="7" name="Picture 6" descr="open_w_st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463040"/>
            <a:ext cx="4754880" cy="35035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09160" y="5943600"/>
            <a:ext cx="47548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4888B"/>
                </a:solidFill>
                <a:latin typeface="맑은 고딕"/>
              </a:rPr>
              <a:t>지수대별 편입비 곡선 (삼성전자·SK하이닉스, σ60%)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시뮬레이션·백테스트는 가정에 따른 것으로 실제와 다를 수 있습니다.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03 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87782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43B72"/>
                </a:solidFill>
                <a:latin typeface="맑은 고딕"/>
              </a:rPr>
              <a:t>방법론 ③ 오픈형 리셋과 실제 매매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3931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250" b="1">
                <a:solidFill>
                  <a:srgbClr val="043B72"/>
                </a:solidFill>
                <a:latin typeface="맑은 고딕"/>
              </a:rPr>
              <a:t>■ 분기(63영업일)마다 기준을 재설정 → 편입비 150% 복귀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250" b="0">
                <a:solidFill>
                  <a:srgbClr val="3A3A3A"/>
                </a:solidFill>
                <a:latin typeface="맑은 고딕"/>
              </a:rPr>
              <a:t>· 주간 분할(13트랜치) 집행으로 일시 매매 없이 부드럽게 복귀. 설정·해지 자금도 분할 흡수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250" b="1">
                <a:solidFill>
                  <a:srgbClr val="F58220"/>
                </a:solidFill>
                <a:latin typeface="맑은 고딕"/>
              </a:rPr>
              <a:t>■ 실제 순매수는 공식 변화분보다 작다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250" b="0">
                <a:solidFill>
                  <a:srgbClr val="3A3A3A"/>
                </a:solidFill>
                <a:latin typeface="맑은 고딕"/>
              </a:rPr>
              <a:t>· 지수 +10% 시: 목표는 −12.5%p지만 편입비가 스스로 −6.5%p 내려가 실제 매도는 약 −6%p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250" b="0">
                <a:solidFill>
                  <a:srgbClr val="3A3A3A"/>
                </a:solidFill>
                <a:latin typeface="맑은 고딕"/>
              </a:rPr>
              <a:t>· 지수 −10% 시: 실제 매수 약 +4%p — 하락 시 실탄 소모가 작음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250" b="0">
                <a:solidFill>
                  <a:srgbClr val="3A3A3A"/>
                </a:solidFill>
                <a:latin typeface="맑은 고딕"/>
              </a:rPr>
              <a:t>· 급락 극단(−30% 이하)에서는 캡 준수를 위해 오히려 매도 — '떨어지는 칼'을 무한정 잡지 않는 자기제어</a:t>
            </a:r>
          </a:p>
        </p:txBody>
      </p:sp>
      <p:pic>
        <p:nvPicPr>
          <p:cNvPr id="7" name="Picture 6" descr="open_trade_k2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463040"/>
            <a:ext cx="4754880" cy="35035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09160" y="5943600"/>
            <a:ext cx="47548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4888B"/>
                </a:solidFill>
                <a:latin typeface="맑은 고딕"/>
              </a:rPr>
              <a:t>지수 이동 시 실제 순매수 (레버리지 ETF와 비교)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시뮬레이션·백테스트는 가정에 따른 것으로 실제와 다를 수 있습니다.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04  BACKTEST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87782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43B72"/>
                </a:solidFill>
                <a:latin typeface="맑은 고딕"/>
              </a:rPr>
              <a:t>실측 백테스트 ① KOSPI200 (최근 1년)</a:t>
            </a:r>
          </a:p>
        </p:txBody>
      </p:sp>
      <p:pic>
        <p:nvPicPr>
          <p:cNvPr id="6" name="Picture 5" descr="open_bt_k2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5577840" cy="4150951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63640" y="1554480"/>
          <a:ext cx="33832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777240"/>
                <a:gridCol w="685800"/>
                <a:gridCol w="59436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구  분</a:t>
                      </a:r>
                    </a:p>
                  </a:txBody>
                  <a:tcPr marL="50800" marR="50800" marT="12700" marB="12700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수익률</a:t>
                      </a:r>
                    </a:p>
                  </a:txBody>
                  <a:tcPr marL="50800" marR="50800" marT="12700" marB="12700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연변동성</a:t>
                      </a:r>
                    </a:p>
                  </a:txBody>
                  <a:tcPr marL="50800" marR="50800" marT="12700" marB="12700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MDD</a:t>
                      </a:r>
                    </a:p>
                  </a:txBody>
                  <a:tcPr marL="50800" marR="50800" marT="12700" marB="12700" anchor="ctr">
                    <a:solidFill>
                      <a:srgbClr val="043B7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3A3A3A"/>
                          </a:solidFill>
                          <a:latin typeface="맑은 고딕"/>
                        </a:rPr>
                        <a:t>기초 1배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3A3A"/>
                          </a:solidFill>
                          <a:latin typeface="맑은 고딕"/>
                        </a:rPr>
                        <a:t>+190.0%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3A3A"/>
                          </a:solidFill>
                          <a:latin typeface="맑은 고딕"/>
                        </a:rPr>
                        <a:t>47.5%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3A3A"/>
                          </a:solidFill>
                          <a:latin typeface="맑은 고딕"/>
                        </a:rPr>
                        <a:t>−21.6%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3A3A3A"/>
                          </a:solidFill>
                          <a:latin typeface="맑은 고딕"/>
                        </a:rPr>
                        <a:t>BM 150% 고정</a:t>
                      </a:r>
                    </a:p>
                  </a:txBody>
                  <a:tcPr marL="50800" marR="508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3A3A"/>
                          </a:solidFill>
                          <a:latin typeface="맑은 고딕"/>
                        </a:rPr>
                        <a:t>+346.7%</a:t>
                      </a:r>
                    </a:p>
                  </a:txBody>
                  <a:tcPr marL="50800" marR="508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3A3A"/>
                          </a:solidFill>
                          <a:latin typeface="맑은 고딕"/>
                        </a:rPr>
                        <a:t>71.2%</a:t>
                      </a:r>
                    </a:p>
                  </a:txBody>
                  <a:tcPr marL="50800" marR="508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3A3A"/>
                          </a:solidFill>
                          <a:latin typeface="맑은 고딕"/>
                        </a:rPr>
                        <a:t>−31.7%</a:t>
                      </a:r>
                    </a:p>
                  </a:txBody>
                  <a:tcPr marL="50800" marR="50800" marT="12700" marB="12700" anchor="ctr">
                    <a:solidFill>
                      <a:srgbClr val="EEF2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3A3A3A"/>
                          </a:solidFill>
                          <a:latin typeface="맑은 고딕"/>
                        </a:rPr>
                        <a:t>상품1 룰베이스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A3A3A"/>
                          </a:solidFill>
                          <a:latin typeface="맑은 고딕"/>
                        </a:rPr>
                        <a:t>+337.2%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A3A3A"/>
                          </a:solidFill>
                          <a:latin typeface="맑은 고딕"/>
                        </a:rPr>
                        <a:t>55.0%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A3A3A"/>
                          </a:solidFill>
                          <a:latin typeface="맑은 고딕"/>
                        </a:rPr>
                        <a:t>−21.6%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3A3A3A"/>
                          </a:solidFill>
                          <a:latin typeface="맑은 고딕"/>
                        </a:rPr>
                        <a:t>상품2 옵션모형</a:t>
                      </a:r>
                    </a:p>
                  </a:txBody>
                  <a:tcPr marL="50800" marR="508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A3A3A"/>
                          </a:solidFill>
                          <a:latin typeface="맑은 고딕"/>
                        </a:rPr>
                        <a:t>+324.9%</a:t>
                      </a:r>
                    </a:p>
                  </a:txBody>
                  <a:tcPr marL="50800" marR="508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A3A3A"/>
                          </a:solidFill>
                          <a:latin typeface="맑은 고딕"/>
                        </a:rPr>
                        <a:t>55.8%</a:t>
                      </a:r>
                    </a:p>
                  </a:txBody>
                  <a:tcPr marL="50800" marR="508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A3A3A"/>
                          </a:solidFill>
                          <a:latin typeface="맑은 고딕"/>
                        </a:rPr>
                        <a:t>−22.5%</a:t>
                      </a:r>
                    </a:p>
                  </a:txBody>
                  <a:tcPr marL="50800" marR="50800" marT="12700" marB="12700"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63640" y="3520440"/>
            <a:ext cx="3383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3A3A3A"/>
                </a:solidFill>
                <a:latin typeface="맑은 고딕"/>
              </a:rPr>
              <a:t>▶ 추세 상승장이라 원수익률은 BM150이 최고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1">
                <a:solidFill>
                  <a:srgbClr val="043B72"/>
                </a:solidFill>
                <a:latin typeface="맑은 고딕"/>
              </a:rPr>
              <a:t>▶ 두 상품은 MDD가 기초 1배 수준(−21.6%)으로 BM(−31.7%) 대비 하락 방어 우수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1">
                <a:solidFill>
                  <a:srgbClr val="F58220"/>
                </a:solidFill>
                <a:latin typeface="맑은 고딕"/>
              </a:rPr>
              <a:t>▶ 변동성도 15%p 이상 낮아 위험조정 성과 우위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035040"/>
            <a:ext cx="89611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4888B"/>
                </a:solidFill>
                <a:latin typeface="맑은 고딕"/>
              </a:rPr>
              <a:t>기간 2025-06-27~2026-07-10 · 분기 리셋 · 거래비용 15bps · 금리 2.5% · 가격수익률(배당 미반영) · 데이터: 주가 시계열(실거래일)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시뮬레이션·백테스트는 가정에 따른 것으로 실제와 다를 수 있습니다.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04  BACKTEST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87782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43B72"/>
                </a:solidFill>
                <a:latin typeface="맑은 고딕"/>
              </a:rPr>
              <a:t>실측 백테스트 ② SK하이닉스 (최근 1년)</a:t>
            </a:r>
          </a:p>
        </p:txBody>
      </p:sp>
      <p:pic>
        <p:nvPicPr>
          <p:cNvPr id="6" name="Picture 5" descr="open_bt_hyn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5577840" cy="4150951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63640" y="1554480"/>
          <a:ext cx="33832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777240"/>
                <a:gridCol w="685800"/>
                <a:gridCol w="59436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구  분</a:t>
                      </a:r>
                    </a:p>
                  </a:txBody>
                  <a:tcPr marL="50800" marR="50800" marT="12700" marB="12700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수익률</a:t>
                      </a:r>
                    </a:p>
                  </a:txBody>
                  <a:tcPr marL="50800" marR="50800" marT="12700" marB="12700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연변동성</a:t>
                      </a:r>
                    </a:p>
                  </a:txBody>
                  <a:tcPr marL="50800" marR="50800" marT="12700" marB="12700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MDD</a:t>
                      </a:r>
                    </a:p>
                  </a:txBody>
                  <a:tcPr marL="50800" marR="50800" marT="12700" marB="12700" anchor="ctr">
                    <a:solidFill>
                      <a:srgbClr val="043B7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3A3A3A"/>
                          </a:solidFill>
                          <a:latin typeface="맑은 고딕"/>
                        </a:rPr>
                        <a:t>기초 1배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3A3A"/>
                          </a:solidFill>
                          <a:latin typeface="맑은 고딕"/>
                        </a:rPr>
                        <a:t>+662%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3A3A"/>
                          </a:solidFill>
                          <a:latin typeface="맑은 고딕"/>
                        </a:rPr>
                        <a:t>77.0%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3A3A"/>
                          </a:solidFill>
                          <a:latin typeface="맑은 고딕"/>
                        </a:rPr>
                        <a:t>−28.9%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3A3A3A"/>
                          </a:solidFill>
                          <a:latin typeface="맑은 고딕"/>
                        </a:rPr>
                        <a:t>BM 150% 고정</a:t>
                      </a:r>
                    </a:p>
                  </a:txBody>
                  <a:tcPr marL="50800" marR="508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3A3A"/>
                          </a:solidFill>
                          <a:latin typeface="맑은 고딕"/>
                        </a:rPr>
                        <a:t>+1,561%</a:t>
                      </a:r>
                    </a:p>
                  </a:txBody>
                  <a:tcPr marL="50800" marR="508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3A3A"/>
                          </a:solidFill>
                          <a:latin typeface="맑은 고딕"/>
                        </a:rPr>
                        <a:t>115.5%</a:t>
                      </a:r>
                    </a:p>
                  </a:txBody>
                  <a:tcPr marL="50800" marR="508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A3A3A"/>
                          </a:solidFill>
                          <a:latin typeface="맑은 고딕"/>
                        </a:rPr>
                        <a:t>−42.0%</a:t>
                      </a:r>
                    </a:p>
                  </a:txBody>
                  <a:tcPr marL="50800" marR="50800" marT="12700" marB="12700" anchor="ctr">
                    <a:solidFill>
                      <a:srgbClr val="EEF2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3A3A3A"/>
                          </a:solidFill>
                          <a:latin typeface="맑은 고딕"/>
                        </a:rPr>
                        <a:t>상품1 룰베이스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A3A3A"/>
                          </a:solidFill>
                          <a:latin typeface="맑은 고딕"/>
                        </a:rPr>
                        <a:t>+1,107%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A3A3A"/>
                          </a:solidFill>
                          <a:latin typeface="맑은 고딕"/>
                        </a:rPr>
                        <a:t>87.2%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A3A3A"/>
                          </a:solidFill>
                          <a:latin typeface="맑은 고딕"/>
                        </a:rPr>
                        <a:t>−28.9%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3A3A3A"/>
                          </a:solidFill>
                          <a:latin typeface="맑은 고딕"/>
                        </a:rPr>
                        <a:t>상품2 옵션모형</a:t>
                      </a:r>
                    </a:p>
                  </a:txBody>
                  <a:tcPr marL="50800" marR="508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A3A3A"/>
                          </a:solidFill>
                          <a:latin typeface="맑은 고딕"/>
                        </a:rPr>
                        <a:t>+1,164%</a:t>
                      </a:r>
                    </a:p>
                  </a:txBody>
                  <a:tcPr marL="50800" marR="508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A3A3A"/>
                          </a:solidFill>
                          <a:latin typeface="맑은 고딕"/>
                        </a:rPr>
                        <a:t>89.8%</a:t>
                      </a:r>
                    </a:p>
                  </a:txBody>
                  <a:tcPr marL="50800" marR="508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A3A3A"/>
                          </a:solidFill>
                          <a:latin typeface="맑은 고딕"/>
                        </a:rPr>
                        <a:t>−28.9%</a:t>
                      </a:r>
                    </a:p>
                  </a:txBody>
                  <a:tcPr marL="50800" marR="50800" marT="12700" marB="12700"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63640" y="3520440"/>
            <a:ext cx="3383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3A3A3A"/>
                </a:solidFill>
                <a:latin typeface="맑은 고딕"/>
              </a:rPr>
              <a:t>▶ 기초 +662% 대비 상품 +1,100%대 — 상승 참여 충분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1">
                <a:solidFill>
                  <a:srgbClr val="043B72"/>
                </a:solidFill>
                <a:latin typeface="맑은 고딕"/>
              </a:rPr>
              <a:t>▶ MDD −28.9% = 기초와 동일. BM150(−42.0%)의 급락 취약점을 해소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1">
                <a:solidFill>
                  <a:srgbClr val="F58220"/>
                </a:solidFill>
                <a:latin typeface="맑은 고딕"/>
              </a:rPr>
              <a:t>▶ 7월 급락 구간에서 완충 효과 실측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035040"/>
            <a:ext cx="89611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4888B"/>
                </a:solidFill>
                <a:latin typeface="맑은 고딕"/>
              </a:rPr>
              <a:t>기간 2025-06-25~2026-07-10 · 분기 리셋 · 거래비용 15bps · 금리 2.5% · 가격수익률(배당 미반영) · 데이터: 주가 시계열(실거래일)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시뮬레이션·백테스트는 가정에 따른 것으로 실제와 다를 수 있습니다.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05 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87782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43B72"/>
                </a:solidFill>
                <a:latin typeface="맑은 고딕"/>
              </a:rPr>
              <a:t>리스크 및 유의사항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8503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250" b="1">
                <a:solidFill>
                  <a:srgbClr val="043B72"/>
                </a:solidFill>
                <a:latin typeface="맑은 고딕"/>
              </a:rPr>
              <a:t>■ 레버리지 위험: 편입비 100~200%의 레버리지 상품으로, 기초자산 하락 시 손실이 1배 대비 확대될 수 있습니다.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250" b="0">
                <a:solidFill>
                  <a:srgbClr val="3A3A3A"/>
                </a:solidFill>
                <a:latin typeface="맑은 고딕"/>
              </a:rPr>
              <a:t>■ 하락 시 편입 확대 위험: 하락 구간에서 편입을 늘리는 구조 특성상, 하락이 장기화·심화되면 손실이 커질 수 있습니다(캡·자기제어로 완화하나 제거되지 않음).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250" b="0">
                <a:solidFill>
                  <a:srgbClr val="3A3A3A"/>
                </a:solidFill>
                <a:latin typeface="맑은 고딕"/>
              </a:rPr>
              <a:t>■ 추세장 상대 열위: 강한 일방향 상승장에서는 고정 150% 대비 수익률이 낮을 수 있습니다(백테스트에서 확인).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250" b="0">
                <a:solidFill>
                  <a:srgbClr val="3A3A3A"/>
                </a:solidFill>
                <a:latin typeface="맑은 고딕"/>
              </a:rPr>
              <a:t>■ 변동성 축소 위험: 시장 변동성이 낮아지면 변동성 매매 수익 기회가 줄어듭니다.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250" b="0">
                <a:solidFill>
                  <a:srgbClr val="3A3A3A"/>
                </a:solidFill>
                <a:latin typeface="맑은 고딕"/>
              </a:rPr>
              <a:t>■ 모형·운용 위험: 편입비 공식/모형의 가정(변동성 등)이 실제와 다를 경우 기대 성과와 차이가 발생할 수 있으며, 거래비용·유동성에 따라 결과가 달라질 수 있습니다.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250" b="0">
                <a:solidFill>
                  <a:srgbClr val="3A3A3A"/>
                </a:solidFill>
                <a:latin typeface="맑은 고딕"/>
              </a:rPr>
              <a:t>■ 백테스트 한계: 과거 성과는 미래 수익을 보장하지 않으며, 백테스트는 가정(비용·금리·배당 제외 등)에 따라 실제와 다를 수 있습니다.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257800"/>
            <a:ext cx="8503920" cy="86868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358384"/>
            <a:ext cx="813816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D02F00"/>
                </a:solidFill>
                <a:latin typeface="맑은 고딕"/>
              </a:rPr>
              <a:t>본 상품은 레버리지형 고위험 상품으로 원금의 전부(0~100%) 손실이 발생할 수 있으며, 그 손실은 투자자에게 귀속됩니다.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84888B"/>
                </a:solidFill>
                <a:latin typeface="맑은 고딕"/>
              </a:rPr>
              <a:t>투자 전 상품설명서·약관·계약권유문서를 반드시 확인하시기 바랍니다.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시뮬레이션·백테스트는 가정에 따른 것으로 실제와 다를 수 있습니다.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280160"/>
            <a:ext cx="128016" cy="50292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280160"/>
            <a:ext cx="8229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운용부서 및 유의사항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377440"/>
            <a:ext cx="8229600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00A9CE"/>
                </a:solidFill>
                <a:latin typeface="맑은 고딕"/>
              </a:rPr>
              <a:t>AI금융공학운용부문 전략운용본부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FFFFFF"/>
                </a:solidFill>
                <a:latin typeface="맑은 고딕"/>
              </a:rPr>
              <a:t>Mission: 투자자 입장에서 장기 플러스 수익 달성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C9D6E5"/>
                </a:solidFill>
                <a:latin typeface="맑은 고딕"/>
              </a:rPr>
              <a:t>미래에셋 QPMS Vol Trading 시스템 기반 운용 · One Team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4846320"/>
            <a:ext cx="813816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0B26B"/>
                </a:solidFill>
                <a:latin typeface="맑은 고딕"/>
              </a:rPr>
              <a:t>· 본 자료는 컴플라이언스 검토 전 내부 검토용 초안이며 대외 배포를 금합니다.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C9D6E5"/>
                </a:solidFill>
                <a:latin typeface="맑은 고딕"/>
              </a:rPr>
              <a:t>· 펀드는 예금자보호법에 따라 보호되지 않으며, 자산가격 변동에 따라 원금손실(0~100%)이 발생할 수 있습니다.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C9D6E5"/>
                </a:solidFill>
                <a:latin typeface="맑은 고딕"/>
              </a:rPr>
              <a:t>· 상기 시뮬레이션·백테스트는 가정에 의거한 예시로 수익을 보장하지 않으며 실제 결과와 다를 수 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